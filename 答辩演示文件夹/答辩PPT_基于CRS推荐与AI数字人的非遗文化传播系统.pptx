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1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371600" y="1097280"/>
            <a:ext cx="9418320" cy="18288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1280160"/>
            <a:ext cx="9418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微软雅黑"/>
              </a:defRPr>
            </a:pPr>
            <a:r>
              <a:t>基于CRS推荐与AI数字人的</a:t>
            </a:r>
            <a:br/>
            <a:r>
              <a:t>非遗文化传播系统实现</a:t>
            </a:r>
          </a:p>
        </p:txBody>
      </p:sp>
      <p:sp>
        <p:nvSpPr>
          <p:cNvPr id="6" name="Rectangle 5"/>
          <p:cNvSpPr/>
          <p:nvPr/>
        </p:nvSpPr>
        <p:spPr>
          <a:xfrm>
            <a:off x="1371600" y="2651760"/>
            <a:ext cx="9418320" cy="18288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0" y="3017520"/>
            <a:ext cx="5760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DDCCBB"/>
                </a:solidFill>
                <a:latin typeface="微软雅黑"/>
              </a:defRPr>
            </a:pPr>
            <a:r>
              <a:t>学    院：信息科学与技术学院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3474720"/>
            <a:ext cx="5760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DDCCBB"/>
                </a:solidFill>
                <a:latin typeface="微软雅黑"/>
              </a:defRPr>
            </a:pPr>
            <a:r>
              <a:t>专    业：数据科学与大数据技术222班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0" y="3931920"/>
            <a:ext cx="5760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DDCCBB"/>
                </a:solidFill>
                <a:latin typeface="微软雅黑"/>
              </a:defRPr>
            </a:pPr>
            <a:r>
              <a:t>姓    名：王子轩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0" y="4389120"/>
            <a:ext cx="5760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DDCCBB"/>
                </a:solidFill>
                <a:latin typeface="微软雅黑"/>
              </a:defRPr>
            </a:pPr>
            <a:r>
              <a:t>学    号：202210274225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0" y="4846320"/>
            <a:ext cx="5760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DDCCBB"/>
                </a:solidFill>
                <a:latin typeface="微软雅黑"/>
              </a:defRPr>
            </a:pPr>
            <a:r>
              <a:t>指导教师：徐龙琴 教授  高静 高级工程师（校外）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5669280"/>
            <a:ext cx="5760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D4A537"/>
                </a:solidFill>
                <a:latin typeface="微软雅黑"/>
              </a:defRPr>
            </a:pPr>
            <a:r>
              <a:t>仲恺农业工程学院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6035040"/>
            <a:ext cx="5760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AA9988"/>
                </a:solidFill>
                <a:latin typeface="微软雅黑"/>
              </a:defRPr>
            </a:pPr>
            <a:r>
              <a:t>2026年5月9日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65760"/>
            <a:ext cx="73152" cy="50292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8B2222"/>
                </a:solidFill>
                <a:latin typeface="微软雅黑"/>
              </a:defRPr>
            </a:pPr>
            <a:r>
              <a:t>汇报提纲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120"/>
            <a:ext cx="11247120" cy="18288"/>
          </a:xfrm>
          <a:prstGeom prst="rect">
            <a:avLst/>
          </a:prstGeom>
          <a:solidFill>
            <a:srgbClr val="E8D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99999"/>
                </a:solidFill>
                <a:latin typeface="微软雅黑"/>
              </a:defRPr>
            </a:pPr>
            <a:r>
              <a:t>2/22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1188720"/>
            <a:ext cx="10332720" cy="56692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123444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C41E3A"/>
                </a:solidFill>
                <a:latin typeface="微软雅黑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37360" y="12344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8B2222"/>
                </a:solidFill>
                <a:latin typeface="微软雅黑"/>
              </a:defRPr>
            </a:pPr>
            <a:r>
              <a:t>研究背景与意义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0" y="1261872"/>
            <a:ext cx="6217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微软雅黑"/>
              </a:defRPr>
            </a:pPr>
            <a:r>
              <a:t>非遗数字化传播的时代需求与课题定位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1847088"/>
            <a:ext cx="10332720" cy="56692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1892808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C41E3A"/>
                </a:solidFill>
                <a:latin typeface="微软雅黑"/>
              </a:defRPr>
            </a:pPr>
            <a: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37360" y="1892808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8B2222"/>
                </a:solidFill>
                <a:latin typeface="微软雅黑"/>
              </a:defRPr>
            </a:pPr>
            <a:r>
              <a:t>国内外研究现状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0" y="1920240"/>
            <a:ext cx="6217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微软雅黑"/>
              </a:defRPr>
            </a:pPr>
            <a:r>
              <a:t>推荐系统、CRS、AI数字人研究进展与不足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2505456"/>
            <a:ext cx="10332720" cy="56692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2551176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C41E3A"/>
                </a:solidFill>
                <a:latin typeface="微软雅黑"/>
              </a:defRPr>
            </a:pPr>
            <a: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37360" y="2551176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8B2222"/>
                </a:solidFill>
                <a:latin typeface="微软雅黑"/>
              </a:defRPr>
            </a:pPr>
            <a:r>
              <a:t>相关技术与理论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54880" y="2578608"/>
            <a:ext cx="6217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微软雅黑"/>
              </a:defRPr>
            </a:pPr>
            <a:r>
              <a:t>FastAPI、微信小程序、LLM、CRS理论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400" y="3163824"/>
            <a:ext cx="10332720" cy="56692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97280" y="3209544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C41E3A"/>
                </a:solidFill>
                <a:latin typeface="微软雅黑"/>
              </a:defRPr>
            </a:pPr>
            <a: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37360" y="3209544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8B2222"/>
                </a:solidFill>
                <a:latin typeface="微软雅黑"/>
              </a:defRPr>
            </a:pPr>
            <a:r>
              <a:t>系统分析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54880" y="3236976"/>
            <a:ext cx="6217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微软雅黑"/>
              </a:defRPr>
            </a:pPr>
            <a:r>
              <a:t>需求分析、可行性分析、数据流程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14400" y="3822191"/>
            <a:ext cx="10332720" cy="56692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97280" y="3867911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C41E3A"/>
                </a:solidFill>
                <a:latin typeface="微软雅黑"/>
              </a:defRPr>
            </a:pPr>
            <a: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737360" y="3867911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8B2222"/>
                </a:solidFill>
                <a:latin typeface="微软雅黑"/>
              </a:defRPr>
            </a:pPr>
            <a:r>
              <a:t>系统设计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54880" y="3895343"/>
            <a:ext cx="6217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微软雅黑"/>
              </a:defRPr>
            </a:pPr>
            <a:r>
              <a:t>架构设计、推荐模块、AI数字人、知识图谱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14400" y="4480559"/>
            <a:ext cx="10332720" cy="56692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97280" y="4526279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C41E3A"/>
                </a:solidFill>
                <a:latin typeface="微软雅黑"/>
              </a:defRPr>
            </a:pPr>
            <a:r>
              <a:t>06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737360" y="4526279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8B2222"/>
                </a:solidFill>
                <a:latin typeface="微软雅黑"/>
              </a:defRPr>
            </a:pPr>
            <a:r>
              <a:t>系统实现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54880" y="4553711"/>
            <a:ext cx="6217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微软雅黑"/>
              </a:defRPr>
            </a:pPr>
            <a:r>
              <a:t>小程序端与管理端核心功能展示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14400" y="5138928"/>
            <a:ext cx="10332720" cy="56692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97280" y="5184648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C41E3A"/>
                </a:solidFill>
                <a:latin typeface="微软雅黑"/>
              </a:defRPr>
            </a:pPr>
            <a:r>
              <a:t>07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737360" y="5184648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8B2222"/>
                </a:solidFill>
                <a:latin typeface="微软雅黑"/>
              </a:defRPr>
            </a:pPr>
            <a:r>
              <a:t>系统测试与实验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754880" y="5212080"/>
            <a:ext cx="6217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微软雅黑"/>
              </a:defRPr>
            </a:pPr>
            <a:r>
              <a:t>功能测试、性能测试、兼容性测试、实验分析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14400" y="5797296"/>
            <a:ext cx="10332720" cy="56692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97280" y="5843016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C41E3A"/>
                </a:solidFill>
                <a:latin typeface="微软雅黑"/>
              </a:defRPr>
            </a:pPr>
            <a:r>
              <a:t>08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737360" y="5843016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8B2222"/>
                </a:solidFill>
                <a:latin typeface="微软雅黑"/>
              </a:defRPr>
            </a:pPr>
            <a:r>
              <a:t>结论与展望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754880" y="5870448"/>
            <a:ext cx="6217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微软雅黑"/>
              </a:defRPr>
            </a:pPr>
            <a:r>
              <a:t>研究成果总结与未来改进方向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65760"/>
            <a:ext cx="73152" cy="50292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8B2222"/>
                </a:solidFill>
                <a:latin typeface="微软雅黑"/>
              </a:defRPr>
            </a:pPr>
            <a:r>
              <a:t>研究背景——非遗数字化传播的时代需求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120"/>
            <a:ext cx="11247120" cy="18288"/>
          </a:xfrm>
          <a:prstGeom prst="rect">
            <a:avLst/>
          </a:prstGeom>
          <a:solidFill>
            <a:srgbClr val="E8D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99999"/>
                </a:solidFill>
                <a:latin typeface="微软雅黑"/>
              </a:defRPr>
            </a:pPr>
            <a:r>
              <a:t>3/22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5486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0">
                <a:solidFill>
                  <a:srgbClr val="333333"/>
                </a:solidFill>
                <a:latin typeface="微软雅黑"/>
              </a:rPr>
              <a:t>● 国家级非遗代表性项目1000+，联合国非遗名录数量世界第一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333333"/>
                </a:solidFill>
                <a:latin typeface="微软雅黑"/>
              </a:rPr>
              <a:t>● 短视频化趋势：抖音非遗视频超2.2亿条，累计138亿次点赞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333333"/>
                </a:solidFill>
                <a:latin typeface="微软雅黑"/>
              </a:rPr>
              <a:t>● 资源数字化：动画、游戏、产品设计吸收中国元素需数字化非遗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333333"/>
                </a:solidFill>
                <a:latin typeface="微软雅黑"/>
              </a:rPr>
              <a:t>● 体验化转型：非遗体验从博物馆附属走向独立活动产品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1887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C41E3A"/>
                </a:solidFill>
                <a:latin typeface="微软雅黑"/>
              </a:defRPr>
            </a:pPr>
            <a:r>
              <a:t>现有平台不足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645920"/>
            <a:ext cx="53035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1">
                <a:solidFill>
                  <a:srgbClr val="C41E3A"/>
                </a:solidFill>
                <a:latin typeface="微软雅黑"/>
              </a:rPr>
              <a:t>推荐能力弱——</a:t>
            </a:r>
            <a:r>
              <a:rPr sz="1400" b="0">
                <a:solidFill>
                  <a:srgbClr val="333333"/>
                </a:solidFill>
                <a:latin typeface="微软雅黑"/>
              </a:rPr>
              <a:t>大多采用热门排序，无个性化推荐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C41E3A"/>
                </a:solidFill>
                <a:latin typeface="微软雅黑"/>
              </a:rPr>
              <a:t>交互方式单一——</a:t>
            </a:r>
            <a:r>
              <a:rPr sz="1400" b="0">
                <a:solidFill>
                  <a:srgbClr val="333333"/>
                </a:solidFill>
                <a:latin typeface="微软雅黑"/>
              </a:rPr>
              <a:t>以图文展示为主，缺少语音、对话交互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C41E3A"/>
                </a:solidFill>
                <a:latin typeface="微软雅黑"/>
              </a:rPr>
              <a:t>场景感知缺失——</a:t>
            </a:r>
            <a:r>
              <a:rPr sz="1400" b="0">
                <a:solidFill>
                  <a:srgbClr val="333333"/>
                </a:solidFill>
                <a:latin typeface="微软雅黑"/>
              </a:rPr>
              <a:t>不能捕捉时间、地点、文化情境信号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C41E3A"/>
                </a:solidFill>
                <a:latin typeface="微软雅黑"/>
              </a:rPr>
              <a:t>冷启动问题严重——</a:t>
            </a:r>
            <a:r>
              <a:rPr sz="1400" b="0">
                <a:solidFill>
                  <a:srgbClr val="333333"/>
                </a:solidFill>
                <a:latin typeface="微软雅黑"/>
              </a:rPr>
              <a:t>用户行为数据稀疏，新用户流失率高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C41E3A"/>
                </a:solidFill>
                <a:latin typeface="微软雅黑"/>
              </a:rPr>
              <a:t>推荐结果不可解释——</a:t>
            </a:r>
            <a:r>
              <a:rPr sz="1400" b="0">
                <a:solidFill>
                  <a:srgbClr val="333333"/>
                </a:solidFill>
                <a:latin typeface="微软雅黑"/>
              </a:rPr>
              <a:t>不给出推荐理由，影响用户信任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0" y="1188720"/>
            <a:ext cx="18288" cy="4114800"/>
          </a:xfrm>
          <a:prstGeom prst="rect">
            <a:avLst/>
          </a:prstGeom>
          <a:solidFill>
            <a:srgbClr val="E8D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65760"/>
            <a:ext cx="73152" cy="50292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8B2222"/>
                </a:solidFill>
                <a:latin typeface="微软雅黑"/>
              </a:defRPr>
            </a:pPr>
            <a:r>
              <a:t>研究意义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120"/>
            <a:ext cx="11247120" cy="18288"/>
          </a:xfrm>
          <a:prstGeom prst="rect">
            <a:avLst/>
          </a:prstGeom>
          <a:solidFill>
            <a:srgbClr val="E8D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99999"/>
                </a:solidFill>
                <a:latin typeface="微软雅黑"/>
              </a:defRPr>
            </a:pPr>
            <a:r>
              <a:t>4/22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188720"/>
            <a:ext cx="5303520" cy="4754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37160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C41E3A"/>
                </a:solidFill>
                <a:latin typeface="微软雅黑"/>
              </a:defRPr>
            </a:pPr>
            <a:r>
              <a:t>理论意义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920240"/>
            <a:ext cx="4754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0">
                <a:solidFill>
                  <a:srgbClr val="333333"/>
                </a:solidFill>
                <a:latin typeface="微软雅黑"/>
              </a:rPr>
              <a:t>● 将CRS对话推荐思想引入非遗文化传播场景，探索SAUR交互模式在文化领域的适用性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333333"/>
                </a:solidFill>
                <a:latin typeface="微软雅黑"/>
              </a:rPr>
              <a:t>● 提出以CRS为引导、知识图谱为增强、AI数字人为载体的智能化服务框架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333333"/>
                </a:solidFill>
                <a:latin typeface="微软雅黑"/>
              </a:rPr>
              <a:t>● 构建三维置信度评估模型（显式偏好+隐式行为+对话语义），实现冷启动到精准推荐的渐进收敛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333333"/>
                </a:solidFill>
                <a:latin typeface="微软雅黑"/>
              </a:rPr>
              <a:t>● 为非遗推荐领域提供可解释的推荐机制设计参考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188720"/>
            <a:ext cx="5303520" cy="4754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0" y="137160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C41E3A"/>
                </a:solidFill>
                <a:latin typeface="微软雅黑"/>
              </a:defRPr>
            </a:pPr>
            <a:r>
              <a:t>实践意义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1920240"/>
            <a:ext cx="4754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0">
                <a:solidFill>
                  <a:srgbClr val="333333"/>
                </a:solidFill>
                <a:latin typeface="微软雅黑"/>
              </a:rPr>
              <a:t>● 开发完整的非遗文化传播微信小程序，覆盖浏览、问答、推荐、活动、社区全链路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333333"/>
                </a:solidFill>
                <a:latin typeface="微软雅黑"/>
              </a:rPr>
              <a:t>● AI数字人"黑塔"实现多轮问答、语音播报、CRS状态显示、延伸推荐、行动清单生成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333333"/>
                </a:solidFill>
                <a:latin typeface="微软雅黑"/>
              </a:rPr>
              <a:t>● 本地知识库优先+大模型回退策略，兼顾知识准确性与语义理解能力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333333"/>
                </a:solidFill>
                <a:latin typeface="微软雅黑"/>
              </a:rPr>
              <a:t>● 为非遗数字化传播与个性化服务提供可落地的实践参考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65760"/>
            <a:ext cx="73152" cy="50292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8B2222"/>
                </a:solidFill>
                <a:latin typeface="微软雅黑"/>
              </a:defRPr>
            </a:pPr>
            <a:r>
              <a:t>国内外研究现状——推荐系统与CRS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120"/>
            <a:ext cx="11247120" cy="18288"/>
          </a:xfrm>
          <a:prstGeom prst="rect">
            <a:avLst/>
          </a:prstGeom>
          <a:solidFill>
            <a:srgbClr val="E8D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99999"/>
                </a:solidFill>
                <a:latin typeface="微软雅黑"/>
              </a:defRPr>
            </a:pPr>
            <a:r>
              <a:t>5/22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188720"/>
            <a:ext cx="3566160" cy="4754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C41E3A"/>
                </a:solidFill>
                <a:latin typeface="微软雅黑"/>
              </a:defRPr>
            </a:pPr>
            <a:r>
              <a:t>推荐系统研究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011680"/>
            <a:ext cx="3200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300" b="0">
                <a:solidFill>
                  <a:srgbClr val="333333"/>
                </a:solidFill>
                <a:latin typeface="微软雅黑"/>
              </a:rPr>
              <a:t>● 协同过滤：依赖历史行为，冷启动问题突出</a:t>
            </a:r>
          </a:p>
          <a:p>
            <a:pPr>
              <a:spcAft>
                <a:spcPts val="1200"/>
              </a:spcAft>
            </a:pPr>
            <a:r>
              <a:rPr sz="1300" b="0">
                <a:solidFill>
                  <a:srgbClr val="333333"/>
                </a:solidFill>
                <a:latin typeface="微软雅黑"/>
              </a:rPr>
              <a:t>● 内容推荐：特征匹配，但多样性不足</a:t>
            </a:r>
          </a:p>
          <a:p>
            <a:pPr>
              <a:spcAft>
                <a:spcPts val="1200"/>
              </a:spcAft>
            </a:pPr>
            <a:r>
              <a:rPr sz="1300" b="0">
                <a:solidFill>
                  <a:srgbClr val="333333"/>
                </a:solidFill>
                <a:latin typeface="微软雅黑"/>
              </a:rPr>
              <a:t>● 混合推荐：融合多源信号，适合数据稀疏场景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1188720"/>
            <a:ext cx="3566160" cy="4754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80560" y="13716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C41E3A"/>
                </a:solidFill>
                <a:latin typeface="微软雅黑"/>
              </a:defRPr>
            </a:pPr>
            <a:r>
              <a:t>对话推荐系统（CRS）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2011680"/>
            <a:ext cx="3200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300" b="0">
                <a:solidFill>
                  <a:srgbClr val="333333"/>
                </a:solidFill>
                <a:latin typeface="微软雅黑"/>
              </a:rPr>
              <a:t>● Jannach等综述：CRS通过多轮交互获取用户反馈</a:t>
            </a:r>
          </a:p>
          <a:p>
            <a:pPr>
              <a:spcAft>
                <a:spcPts val="1200"/>
              </a:spcAft>
            </a:pPr>
            <a:r>
              <a:rPr sz="1300" b="0">
                <a:solidFill>
                  <a:srgbClr val="333333"/>
                </a:solidFill>
                <a:latin typeface="微软雅黑"/>
              </a:rPr>
              <a:t>● 赵梦媛等：传统推荐三大缺陷——稀疏数据、忽略上下文、假设用户已知偏好</a:t>
            </a:r>
          </a:p>
          <a:p>
            <a:pPr>
              <a:spcAft>
                <a:spcPts val="1200"/>
              </a:spcAft>
            </a:pPr>
            <a:r>
              <a:rPr sz="1300" b="0">
                <a:solidFill>
                  <a:srgbClr val="333333"/>
                </a:solidFill>
                <a:latin typeface="微软雅黑"/>
              </a:rPr>
              <a:t>● Wang等：知识增强提示学习统一CRS框架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1188720"/>
            <a:ext cx="3566160" cy="4754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21040" y="13716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C41E3A"/>
                </a:solidFill>
                <a:latin typeface="微软雅黑"/>
              </a:defRPr>
            </a:pPr>
            <a:r>
              <a:t>大语言模型与推荐融合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2011680"/>
            <a:ext cx="3200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300" b="0">
                <a:solidFill>
                  <a:srgbClr val="333333"/>
                </a:solidFill>
                <a:latin typeface="微软雅黑"/>
              </a:rPr>
              <a:t>● 谢广明等：LLM在推荐中的判别式与生成式范式</a:t>
            </a:r>
          </a:p>
          <a:p>
            <a:pPr>
              <a:spcAft>
                <a:spcPts val="1200"/>
              </a:spcAft>
            </a:pPr>
            <a:r>
              <a:rPr sz="1300" b="0">
                <a:solidFill>
                  <a:srgbClr val="333333"/>
                </a:solidFill>
                <a:latin typeface="微软雅黑"/>
              </a:rPr>
              <a:t>● Wu等：LLM for Recommendation综述</a:t>
            </a:r>
          </a:p>
          <a:p>
            <a:pPr>
              <a:spcAft>
                <a:spcPts val="1200"/>
              </a:spcAft>
            </a:pPr>
            <a:r>
              <a:rPr sz="1300" b="0">
                <a:solidFill>
                  <a:srgbClr val="333333"/>
                </a:solidFill>
                <a:latin typeface="微软雅黑"/>
              </a:rPr>
              <a:t>● 趋势：从独立推荐模型走向LLM驱动的交互式推荐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65760"/>
            <a:ext cx="73152" cy="50292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8B2222"/>
                </a:solidFill>
                <a:latin typeface="微软雅黑"/>
              </a:defRPr>
            </a:pPr>
            <a:r>
              <a:t>国内外研究现状——AI数字人与现有不足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120"/>
            <a:ext cx="11247120" cy="18288"/>
          </a:xfrm>
          <a:prstGeom prst="rect">
            <a:avLst/>
          </a:prstGeom>
          <a:solidFill>
            <a:srgbClr val="E8D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99999"/>
                </a:solidFill>
                <a:latin typeface="微软雅黑"/>
              </a:defRPr>
            </a:pPr>
            <a:r>
              <a:t>6/22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188720"/>
            <a:ext cx="5303520" cy="2286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37160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C41E3A"/>
                </a:solidFill>
                <a:latin typeface="微软雅黑"/>
              </a:defRPr>
            </a:pPr>
            <a:r>
              <a:t>AI数字人与文化导览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920240"/>
            <a:ext cx="4754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0">
                <a:solidFill>
                  <a:srgbClr val="333333"/>
                </a:solidFill>
                <a:latin typeface="微软雅黑"/>
              </a:rPr>
              <a:t>● 康宁等"辽小博"：知识图谱+大模型融合微调的AI智慧导览系统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333333"/>
                </a:solidFill>
                <a:latin typeface="微软雅黑"/>
              </a:rPr>
              <a:t>● Carreiro等InHeritage：游戏化+AR的文化遗产传播移动应用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333333"/>
                </a:solidFill>
                <a:latin typeface="微软雅黑"/>
              </a:rPr>
              <a:t>● 趋势：从静态展示走向AI驱动的智能导览与个性化交互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188720"/>
            <a:ext cx="5303520" cy="2286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0" y="137160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C41E3A"/>
                </a:solidFill>
                <a:latin typeface="微软雅黑"/>
              </a:defRPr>
            </a:pPr>
            <a:r>
              <a:t>知识图谱增强推荐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1920240"/>
            <a:ext cx="4754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0">
                <a:solidFill>
                  <a:srgbClr val="333333"/>
                </a:solidFill>
                <a:latin typeface="微软雅黑"/>
              </a:rPr>
              <a:t>● Guo等综述：知识图谱通过实体关系扩展推荐候选集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333333"/>
                </a:solidFill>
                <a:latin typeface="微软雅黑"/>
              </a:rPr>
              <a:t>● 王敏等：KG+LLM增强推荐系统研究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333333"/>
                </a:solidFill>
                <a:latin typeface="微软雅黑"/>
              </a:rPr>
              <a:t>● 汪天雄等：非遗数字化发展中知识图谱视角的前景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3840480"/>
            <a:ext cx="11155680" cy="2560320"/>
          </a:xfrm>
          <a:prstGeom prst="roundRect">
            <a:avLst/>
          </a:prstGeom>
          <a:solidFill>
            <a:srgbClr val="FD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4023360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C41E3A"/>
                </a:solidFill>
                <a:latin typeface="微软雅黑"/>
              </a:defRPr>
            </a:pPr>
            <a:r>
              <a:t>现有研究不足与本课题定位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572000"/>
            <a:ext cx="106070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0">
                <a:solidFill>
                  <a:srgbClr val="333333"/>
                </a:solidFill>
                <a:latin typeface="微软雅黑"/>
              </a:rPr>
              <a:t>1. 现有非遗平台缺少CRS对话推荐能力，无法在交互中主动发现用户偏好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333333"/>
                </a:solidFill>
                <a:latin typeface="微软雅黑"/>
              </a:rPr>
              <a:t>2. AI导览系统多侧重知识问答，缺少推荐引导与偏好采集的闭环设计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333333"/>
                </a:solidFill>
                <a:latin typeface="微软雅黑"/>
              </a:rPr>
              <a:t>3. 知识图谱在非遗推荐中的应用尚处起步阶段，推荐解释性不足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333333"/>
                </a:solidFill>
                <a:latin typeface="微软雅黑"/>
              </a:rPr>
              <a:t>4. 缺少面向非遗场景的完整系统实践，将CRS、AI数字人、知识图谱三者协同的方案尚未见报道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333333"/>
                </a:solidFill>
                <a:latin typeface="微软雅黑"/>
              </a:rPr>
              <a:t>→ 本课题定位：以CRS为引导、知识图谱为增强、AI数字人为载体，构建非遗文化传播的智能化服务框架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65760"/>
            <a:ext cx="73152" cy="50292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8B2222"/>
                </a:solidFill>
                <a:latin typeface="微软雅黑"/>
              </a:defRPr>
            </a:pPr>
            <a:r>
              <a:t>相关技术与理论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120"/>
            <a:ext cx="11247120" cy="18288"/>
          </a:xfrm>
          <a:prstGeom prst="rect">
            <a:avLst/>
          </a:prstGeom>
          <a:solidFill>
            <a:srgbClr val="E8D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99999"/>
                </a:solidFill>
                <a:latin typeface="微软雅黑"/>
              </a:defRPr>
            </a:pPr>
            <a:r>
              <a:t>7/22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188720"/>
            <a:ext cx="2148840" cy="5029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188720"/>
            <a:ext cx="2148840" cy="45720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234440"/>
            <a:ext cx="1965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t>前端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828800"/>
            <a:ext cx="187451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8B2222"/>
                </a:solidFill>
                <a:latin typeface="微软雅黑"/>
              </a:defRPr>
            </a:pPr>
            <a:r>
              <a:t>微信小程序</a:t>
            </a:r>
            <a:br/>
            <a:r>
              <a:t>WXML/WXSS/JS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743200"/>
            <a:ext cx="1874519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33333"/>
                </a:solidFill>
                <a:latin typeface="微软雅黑"/>
              </a:defRPr>
            </a:pPr>
            <a:r>
              <a:t>原生开发，无需第三方UI库</a:t>
            </a:r>
            <a:br/>
            <a:r>
              <a:t>微信登录、分享、定位直接调用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697479" y="1188720"/>
            <a:ext cx="2148840" cy="5029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697479" y="1188720"/>
            <a:ext cx="2148840" cy="45720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88919" y="1234440"/>
            <a:ext cx="1965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t>后端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34639" y="1828800"/>
            <a:ext cx="187451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8B2222"/>
                </a:solidFill>
                <a:latin typeface="微软雅黑"/>
              </a:defRPr>
            </a:pPr>
            <a:r>
              <a:t>FastAPI + SQLAlchemy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34639" y="2743200"/>
            <a:ext cx="1874519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33333"/>
                </a:solidFill>
                <a:latin typeface="微软雅黑"/>
              </a:defRPr>
            </a:pPr>
            <a:r>
              <a:t>高性能异步Web框架</a:t>
            </a:r>
            <a:br/>
            <a:r>
              <a:t>ORM框架，支持SQLite/MySQL切换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0" y="1188720"/>
            <a:ext cx="2148840" cy="5029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029200" y="1188720"/>
            <a:ext cx="2148840" cy="45720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120640" y="1234440"/>
            <a:ext cx="1965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t>数据库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66360" y="1828800"/>
            <a:ext cx="187451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8B2222"/>
                </a:solidFill>
                <a:latin typeface="微软雅黑"/>
              </a:defRPr>
            </a:pPr>
            <a:r>
              <a:t>SQLite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66360" y="2743200"/>
            <a:ext cx="1874519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33333"/>
                </a:solidFill>
                <a:latin typeface="微软雅黑"/>
              </a:defRPr>
            </a:pPr>
            <a:r>
              <a:t>轻量级关系型数据库</a:t>
            </a:r>
            <a:br/>
            <a:r>
              <a:t>适合开发和小规模部署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60919" y="1188720"/>
            <a:ext cx="2148840" cy="5029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360919" y="1188720"/>
            <a:ext cx="2148840" cy="45720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52359" y="1234440"/>
            <a:ext cx="1965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t>AI引擎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98079" y="1828800"/>
            <a:ext cx="187451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8B2222"/>
                </a:solidFill>
                <a:latin typeface="微软雅黑"/>
              </a:defRPr>
            </a:pPr>
            <a:r>
              <a:t>豆包大模型 + 本地知识库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98079" y="2743200"/>
            <a:ext cx="1874519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33333"/>
                </a:solidFill>
                <a:latin typeface="微软雅黑"/>
              </a:defRPr>
            </a:pPr>
            <a:r>
              <a:t>三级回退：知识库→联网搜索→大模型</a:t>
            </a:r>
            <a:br/>
            <a:r>
              <a:t>TTS双引擎：豆包TTS + Edge-TTS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692640" y="1188720"/>
            <a:ext cx="2148840" cy="5029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692640" y="1188720"/>
            <a:ext cx="2148840" cy="45720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784080" y="1234440"/>
            <a:ext cx="1965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t>推荐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829800" y="1828800"/>
            <a:ext cx="187451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8B2222"/>
                </a:solidFill>
                <a:latin typeface="微软雅黑"/>
              </a:defRPr>
            </a:pPr>
            <a:r>
              <a:t>CRS对话推荐 + 知识图谱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829800" y="2743200"/>
            <a:ext cx="1874519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33333"/>
                </a:solidFill>
                <a:latin typeface="微软雅黑"/>
              </a:defRPr>
            </a:pPr>
            <a:r>
              <a:t>ASK-REC状态机驱动</a:t>
            </a:r>
            <a:br/>
            <a:r>
              <a:t>规则加权混合推荐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65760"/>
            <a:ext cx="73152" cy="50292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8B2222"/>
                </a:solidFill>
                <a:latin typeface="微软雅黑"/>
              </a:defRPr>
            </a:pPr>
            <a:r>
              <a:t>系统分析——功能需求分析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120"/>
            <a:ext cx="11247120" cy="18288"/>
          </a:xfrm>
          <a:prstGeom prst="rect">
            <a:avLst/>
          </a:prstGeom>
          <a:solidFill>
            <a:srgbClr val="E8D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99999"/>
                </a:solidFill>
                <a:latin typeface="微软雅黑"/>
              </a:defRPr>
            </a:pPr>
            <a:r>
              <a:t>8/22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188720"/>
            <a:ext cx="3566160" cy="1645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188720"/>
            <a:ext cx="3566160" cy="41148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23444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t>普通用户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691640"/>
            <a:ext cx="3200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333333"/>
                </a:solidFill>
                <a:latin typeface="微软雅黑"/>
              </a:defRPr>
            </a:pPr>
            <a:r>
              <a:t>浏览非遗内容、AI对话问答</a:t>
            </a:r>
            <a:br/>
            <a:r>
              <a:t>个性化推荐、活动报名</a:t>
            </a:r>
            <a:br/>
            <a:r>
              <a:t>社区讨论、偏好管理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0" y="1188720"/>
            <a:ext cx="3566160" cy="1645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97680" y="1188720"/>
            <a:ext cx="3566160" cy="41148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80560" y="123444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t>内容管理员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1691640"/>
            <a:ext cx="3200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333333"/>
                </a:solidFill>
                <a:latin typeface="微软雅黑"/>
              </a:defRPr>
            </a:pPr>
            <a:r>
              <a:t>内容审核发布</a:t>
            </a:r>
            <a:br/>
            <a:r>
              <a:t>质量评定、数据收集</a:t>
            </a:r>
            <a:br/>
            <a:r>
              <a:t>基本用户管理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1188720"/>
            <a:ext cx="3566160" cy="1645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38160" y="1188720"/>
            <a:ext cx="3566160" cy="41148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21040" y="123444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t>系统管理员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1691640"/>
            <a:ext cx="3200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333333"/>
                </a:solidFill>
                <a:latin typeface="微软雅黑"/>
              </a:defRPr>
            </a:pPr>
            <a:r>
              <a:t>系统运维配置</a:t>
            </a:r>
            <a:br/>
            <a:r>
              <a:t>运行监控、权限控制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3200400"/>
            <a:ext cx="3566160" cy="13716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32918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C41E3A"/>
                </a:solidFill>
                <a:latin typeface="微软雅黑"/>
              </a:defRPr>
            </a:pPr>
            <a:r>
              <a:t>非遗内容展示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3657600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微软雅黑"/>
              </a:defRPr>
            </a:pPr>
            <a:r>
              <a:t>浏览列表、详情</a:t>
            </a:r>
            <a:br/>
            <a:r>
              <a:t>分类导航、搜索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97680" y="3200400"/>
            <a:ext cx="3566160" cy="13716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80560" y="32918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C41E3A"/>
                </a:solidFill>
                <a:latin typeface="微软雅黑"/>
              </a:defRPr>
            </a:pPr>
            <a:r>
              <a:t>个性化推荐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80560" y="3657600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微软雅黑"/>
              </a:defRPr>
            </a:pPr>
            <a:r>
              <a:t>首页推荐、冷启动引导</a:t>
            </a:r>
            <a:br/>
            <a:r>
              <a:t>动态调整、推荐解释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38160" y="3200400"/>
            <a:ext cx="3566160" cy="13716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21040" y="32918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C41E3A"/>
                </a:solidFill>
                <a:latin typeface="微软雅黑"/>
              </a:defRPr>
            </a:pPr>
            <a:r>
              <a:t>AI数字人对话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21040" y="3657600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微软雅黑"/>
              </a:defRPr>
            </a:pPr>
            <a:r>
              <a:t>知识问答、多轮会话</a:t>
            </a:r>
            <a:br/>
            <a:r>
              <a:t>ASK追问、推荐触发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4846320"/>
            <a:ext cx="3566160" cy="13716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" y="49377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C41E3A"/>
                </a:solidFill>
                <a:latin typeface="微软雅黑"/>
              </a:defRPr>
            </a:pPr>
            <a:r>
              <a:t>活动报名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5303520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微软雅黑"/>
              </a:defRPr>
            </a:pPr>
            <a:r>
              <a:t>活动浏览、详情</a:t>
            </a:r>
            <a:br/>
            <a:r>
              <a:t>在线报名、记录管理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297680" y="4846320"/>
            <a:ext cx="3566160" cy="13716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480560" y="49377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C41E3A"/>
                </a:solidFill>
                <a:latin typeface="微软雅黑"/>
              </a:defRPr>
            </a:pPr>
            <a:r>
              <a:t>社区互动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80560" y="5303520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微软雅黑"/>
              </a:defRPr>
            </a:pPr>
            <a:r>
              <a:t>帖子浏览、发帖</a:t>
            </a:r>
            <a:br/>
            <a:r>
              <a:t>评论、点赞、话题标签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138160" y="4846320"/>
            <a:ext cx="3566160" cy="13716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321040" y="49377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C41E3A"/>
                </a:solidFill>
                <a:latin typeface="微软雅黑"/>
              </a:defRPr>
            </a:pPr>
            <a:r>
              <a:t>用户中心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21040" y="5303520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微软雅黑"/>
              </a:defRPr>
            </a:pPr>
            <a:r>
              <a:t>微信登录、偏好设置</a:t>
            </a:r>
            <a:br/>
            <a:r>
              <a:t>收藏管理、行为信息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65760"/>
            <a:ext cx="73152" cy="50292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8B2222"/>
                </a:solidFill>
                <a:latin typeface="微软雅黑"/>
              </a:defRPr>
            </a:pPr>
            <a:r>
              <a:t>系统分析——可行性分析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120"/>
            <a:ext cx="11247120" cy="18288"/>
          </a:xfrm>
          <a:prstGeom prst="rect">
            <a:avLst/>
          </a:prstGeom>
          <a:solidFill>
            <a:srgbClr val="E8D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99999"/>
                </a:solidFill>
                <a:latin typeface="微软雅黑"/>
              </a:defRPr>
            </a:pPr>
            <a:r>
              <a:t>9/22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188720"/>
            <a:ext cx="5486400" cy="2286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32588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C41E3A"/>
                </a:solidFill>
                <a:latin typeface="微软雅黑"/>
              </a:defRPr>
            </a:pPr>
            <a:r>
              <a:t>技术可行性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783080"/>
            <a:ext cx="49377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微软雅黑"/>
              </a:defRPr>
            </a:pPr>
            <a:r>
              <a:t>✓ 微信小程序成熟框架，原生开发</a:t>
            </a:r>
            <a:br/>
            <a:r>
              <a:t>✓ FastAPI高性能异步框架+SQLAlchemy ORM</a:t>
            </a:r>
            <a:br/>
            <a:r>
              <a:t>✓ 本地知识库-联网搜索-大模型三级回退</a:t>
            </a:r>
            <a:br/>
            <a:r>
              <a:t>✓ 规则加权混合推荐，适合数据稀疏场景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188720"/>
            <a:ext cx="5486400" cy="2286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32588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C41E3A"/>
                </a:solidFill>
                <a:latin typeface="微软雅黑"/>
              </a:defRPr>
            </a:pPr>
            <a:r>
              <a:t>经济可行性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1783080"/>
            <a:ext cx="49377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微软雅黑"/>
              </a:defRPr>
            </a:pPr>
            <a:r>
              <a:t>✓ SQLite本地数据库，零成本</a:t>
            </a:r>
            <a:br/>
            <a:r>
              <a:t>✓ 云服务器月费用百元以内</a:t>
            </a:r>
            <a:br/>
            <a:r>
              <a:t>✓ 豆包大模型提供免费额度</a:t>
            </a:r>
            <a:br/>
            <a:r>
              <a:t>✓ 微信小程序注册发布平价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3840480"/>
            <a:ext cx="5486400" cy="2286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397764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C41E3A"/>
                </a:solidFill>
                <a:latin typeface="微软雅黑"/>
              </a:defRPr>
            </a:pPr>
            <a:r>
              <a:t>操作可行性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434840"/>
            <a:ext cx="49377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微软雅黑"/>
              </a:defRPr>
            </a:pPr>
            <a:r>
              <a:t>✓ 小程序免安装，扫码即用</a:t>
            </a:r>
            <a:br/>
            <a:r>
              <a:t>✓ AI数字人自然语言交互，零学习成本</a:t>
            </a:r>
            <a:br/>
            <a:r>
              <a:t>✓ 管理端Web界面，表单图表操作直观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3840480"/>
            <a:ext cx="5486400" cy="2286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397764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C41E3A"/>
                </a:solidFill>
                <a:latin typeface="微软雅黑"/>
              </a:defRPr>
            </a:pPr>
            <a:r>
              <a:t>社会与法律可行性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4434840"/>
            <a:ext cx="49377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微软雅黑"/>
              </a:defRPr>
            </a:pPr>
            <a:r>
              <a:t>✓ 本地知识库降低AI幻觉</a:t>
            </a:r>
            <a:br/>
            <a:r>
              <a:t>✓ 符合《个人信息保护法》</a:t>
            </a:r>
            <a:br/>
            <a:r>
              <a:t>✓ 传播非遗文化有积极社会意义</a:t>
            </a:r>
            <a:br/>
            <a:r>
              <a:t>✓ 符合《非物质文化遗产法》第三条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65760"/>
            <a:ext cx="73152" cy="50292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8B2222"/>
                </a:solidFill>
                <a:latin typeface="微软雅黑"/>
              </a:defRPr>
            </a:pPr>
            <a:r>
              <a:t>系统设计——整体架构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120"/>
            <a:ext cx="11247120" cy="18288"/>
          </a:xfrm>
          <a:prstGeom prst="rect">
            <a:avLst/>
          </a:prstGeom>
          <a:solidFill>
            <a:srgbClr val="E8D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99999"/>
                </a:solidFill>
                <a:latin typeface="微软雅黑"/>
              </a:defRPr>
            </a:pPr>
            <a:r>
              <a:t>10/22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71600" y="1188720"/>
            <a:ext cx="9418320" cy="1097280"/>
          </a:xfrm>
          <a:prstGeom prst="roundRect">
            <a:avLst/>
          </a:prstGeom>
          <a:solidFill>
            <a:srgbClr val="E8D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45920" y="12801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C1A12"/>
                </a:solidFill>
                <a:latin typeface="微软雅黑"/>
              </a:defRPr>
            </a:pPr>
            <a:r>
              <a:t>前端交互层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1691640"/>
            <a:ext cx="8869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1A12"/>
                </a:solidFill>
                <a:latin typeface="微软雅黑"/>
              </a:defRPr>
            </a:pPr>
            <a:r>
              <a:t>微信小程序用户端 | Web管理端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371600" y="2514600"/>
            <a:ext cx="9418320" cy="1097280"/>
          </a:xfrm>
          <a:prstGeom prst="roundRect">
            <a:avLst/>
          </a:prstGeom>
          <a:solidFill>
            <a:srgbClr val="D4C0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45920" y="26060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C1A12"/>
                </a:solidFill>
                <a:latin typeface="微软雅黑"/>
              </a:defRPr>
            </a:pPr>
            <a:r>
              <a:t>接口服务层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3017520"/>
            <a:ext cx="8869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1A12"/>
                </a:solidFill>
                <a:latin typeface="微软雅黑"/>
              </a:defRPr>
            </a:pPr>
            <a:r>
              <a:t>AI问答接口 | CRS状态接口 | 用户画像接口 | 内容与活动接口 | 讨论区接口 | 登录接口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371600" y="3840480"/>
            <a:ext cx="9418320" cy="1097280"/>
          </a:xfrm>
          <a:prstGeom prst="round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45920" y="39319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微软雅黑"/>
              </a:defRPr>
            </a:pPr>
            <a:r>
              <a:t>核心能力层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45920" y="4343400"/>
            <a:ext cx="8869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微软雅黑"/>
              </a:defRPr>
            </a:pPr>
            <a:r>
              <a:t>AI服务 | 推荐服务 | 本地知识检索 | 知识图谱增强 | 联网补充 | TTS语音播报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371600" y="5166359"/>
            <a:ext cx="9418320" cy="1097280"/>
          </a:xfrm>
          <a:prstGeom prst="roundRect">
            <a:avLst/>
          </a:prstGeom>
          <a:solidFill>
            <a:srgbClr val="8B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45920" y="525779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微软雅黑"/>
              </a:defRPr>
            </a:pPr>
            <a:r>
              <a:t>数据与外部服务层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45920" y="5669279"/>
            <a:ext cx="8869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微软雅黑"/>
              </a:defRPr>
            </a:pPr>
            <a:r>
              <a:t>SQLite数据库 | 本地知识数据 | 推荐日志 | CRS会话数据 | 豆包API | 联网搜索 | 微信登录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" y="1188720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41E3A"/>
                </a:solidFill>
                <a:latin typeface="微软雅黑"/>
              </a:defRPr>
            </a:pPr>
            <a:r>
              <a:t>设计原则：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" y="1554480"/>
            <a:ext cx="10058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微软雅黑"/>
              </a:defRPr>
            </a:pPr>
            <a:r>
              <a:t>前后端分离</a:t>
            </a:r>
            <a:br/>
            <a:r>
              <a:t>主线趋同</a:t>
            </a:r>
            <a:br/>
            <a:r>
              <a:t>轻量优先</a:t>
            </a:r>
            <a:br/>
            <a:r>
              <a:t>可扩展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65760"/>
            <a:ext cx="73152" cy="50292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8B2222"/>
                </a:solidFill>
                <a:latin typeface="微软雅黑"/>
              </a:defRPr>
            </a:pPr>
            <a:r>
              <a:t>系统设计——CRS对话推荐机制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120"/>
            <a:ext cx="11247120" cy="18288"/>
          </a:xfrm>
          <a:prstGeom prst="rect">
            <a:avLst/>
          </a:prstGeom>
          <a:solidFill>
            <a:srgbClr val="E8D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99999"/>
                </a:solidFill>
                <a:latin typeface="微软雅黑"/>
              </a:defRPr>
            </a:pPr>
            <a:r>
              <a:t>11/22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972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5C3A21"/>
                </a:solidFill>
                <a:latin typeface="微软雅黑"/>
              </a:defRPr>
            </a:pPr>
            <a:r>
              <a:t>核心问题：现在应该继续提问，还是应该直接回答？——效率与精度的平衡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737360"/>
            <a:ext cx="5303520" cy="4572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82880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C41E3A"/>
                </a:solidFill>
                <a:latin typeface="微软雅黑"/>
              </a:defRPr>
            </a:pPr>
            <a:r>
              <a:t>三维置信度评估模型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286000"/>
            <a:ext cx="4754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0">
                <a:solidFill>
                  <a:srgbClr val="333333"/>
                </a:solidFill>
                <a:latin typeface="微软雅黑"/>
              </a:rPr>
              <a:t>C = 0.40×Se + 0.35×Si + 0.25×Sd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333333"/>
                </a:solidFill>
                <a:latin typeface="微软雅黑"/>
              </a:rPr>
              <a:t/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333333"/>
                </a:solidFill>
                <a:latin typeface="微软雅黑"/>
              </a:rPr>
              <a:t>Se（显式偏好）：用户偏好设置、ASK选项回答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333333"/>
                </a:solidFill>
                <a:latin typeface="微软雅黑"/>
              </a:rPr>
              <a:t>Si（隐式行为）：曝光、点击、浏览、活动报名、讨论互动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333333"/>
                </a:solidFill>
                <a:latin typeface="微软雅黑"/>
              </a:rPr>
              <a:t>Sd（对话语义）：AI提问中的非遗关键词、地区特征、场景偏好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737360"/>
            <a:ext cx="5303520" cy="4572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82880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C41E3A"/>
                </a:solidFill>
                <a:latin typeface="微软雅黑"/>
              </a:defRPr>
            </a:pPr>
            <a:r>
              <a:t>ASK-REC状态机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0" y="2377440"/>
            <a:ext cx="1645920" cy="365760"/>
          </a:xfrm>
          <a:prstGeom prst="roundRect">
            <a:avLst/>
          </a:prstGeom>
          <a:solidFill>
            <a:srgbClr val="6699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0" y="2395728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微软雅黑"/>
              </a:defRPr>
            </a:pPr>
            <a:r>
              <a:t>cold_start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0" y="237744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33333"/>
                </a:solidFill>
                <a:latin typeface="微软雅黑"/>
              </a:defRPr>
            </a:pPr>
            <a:r>
              <a:t>C &lt; 28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2788920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微软雅黑"/>
              </a:defRPr>
            </a:pPr>
            <a:r>
              <a:t>优先ASK，采集高价值偏好信息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0" y="3566160"/>
            <a:ext cx="1645920" cy="365760"/>
          </a:xfrm>
          <a:prstGeom prst="roundRect">
            <a:avLst/>
          </a:prstGeom>
          <a:solidFill>
            <a:srgbClr val="DDA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3584448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微软雅黑"/>
              </a:defRPr>
            </a:pPr>
            <a:r>
              <a:t>mixed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0" y="356616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33333"/>
                </a:solidFill>
                <a:latin typeface="微软雅黑"/>
              </a:defRPr>
            </a:pPr>
            <a:r>
              <a:t>28 ≤ C &lt; 62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3977640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微软雅黑"/>
              </a:defRPr>
            </a:pPr>
            <a:r>
              <a:t>边推荐边追问，补充画像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0" y="4754880"/>
            <a:ext cx="1645920" cy="365760"/>
          </a:xfrm>
          <a:prstGeom prst="roundRect">
            <a:avLst/>
          </a:prstGeom>
          <a:solidFill>
            <a:srgbClr val="66B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0" y="4773168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微软雅黑"/>
              </a:defRPr>
            </a:pPr>
            <a:r>
              <a:t>precision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80" y="475488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33333"/>
                </a:solidFill>
                <a:latin typeface="微软雅黑"/>
              </a:defRPr>
            </a:pPr>
            <a:r>
              <a:t>C ≥ 62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5166360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微软雅黑"/>
              </a:defRPr>
            </a:pPr>
            <a:r>
              <a:t>以REC为主，精准推荐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0" y="5303520"/>
            <a:ext cx="4754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  <a:latin typeface="微软雅黑"/>
              </a:defRPr>
            </a:pPr>
            <a:r>
              <a:t>特殊策略：</a:t>
            </a:r>
            <a:br/>
            <a:r>
              <a:t>意图驱动推荐（用户主动要求）</a:t>
            </a:r>
            <a:br/>
            <a:r>
              <a:t>恢复式提问（多轮无有效偏好时触发）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65760"/>
            <a:ext cx="73152" cy="50292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8B2222"/>
                </a:solidFill>
                <a:latin typeface="微软雅黑"/>
              </a:defRPr>
            </a:pPr>
            <a:r>
              <a:t>系统设计——AI数字人"黑塔"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120"/>
            <a:ext cx="11247120" cy="18288"/>
          </a:xfrm>
          <a:prstGeom prst="rect">
            <a:avLst/>
          </a:prstGeom>
          <a:solidFill>
            <a:srgbClr val="E8D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99999"/>
                </a:solidFill>
                <a:latin typeface="微软雅黑"/>
              </a:defRPr>
            </a:pPr>
            <a:r>
              <a:t>12/22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188720"/>
            <a:ext cx="2651760" cy="1645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188720"/>
            <a:ext cx="2651760" cy="36576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216152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微软雅黑"/>
              </a:defRPr>
            </a:pPr>
            <a:r>
              <a:t>知识传授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645920"/>
            <a:ext cx="23774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333333"/>
                </a:solidFill>
                <a:latin typeface="微软雅黑"/>
              </a:defRPr>
            </a:pPr>
            <a:r>
              <a:t>围绕非遗问题解释说明</a:t>
            </a:r>
            <a:br/>
            <a:r>
              <a:t>承担导览入口作用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37560" y="1188720"/>
            <a:ext cx="2651760" cy="1645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337560" y="1188720"/>
            <a:ext cx="2651760" cy="36576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29000" y="1216152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微软雅黑"/>
              </a:defRPr>
            </a:pPr>
            <a:r>
              <a:t>推荐引导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0" y="1645920"/>
            <a:ext cx="23774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333333"/>
                </a:solidFill>
                <a:latin typeface="微软雅黑"/>
              </a:defRPr>
            </a:pPr>
            <a:r>
              <a:t>将提问自然引向</a:t>
            </a:r>
            <a:br/>
            <a:r>
              <a:t>内容/活动/讨论推荐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1188720"/>
            <a:ext cx="2651760" cy="1645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0" y="1188720"/>
            <a:ext cx="2651760" cy="36576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9360" y="1216152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微软雅黑"/>
              </a:defRPr>
            </a:pPr>
            <a:r>
              <a:t>采集偏好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5080" y="1645920"/>
            <a:ext cx="23774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333333"/>
                </a:solidFill>
                <a:latin typeface="微软雅黑"/>
              </a:defRPr>
            </a:pPr>
            <a:r>
              <a:t>多轮对话+ASK模板</a:t>
            </a:r>
            <a:br/>
            <a:r>
              <a:t>收集类别/地区/体验偏好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98280" y="1188720"/>
            <a:ext cx="2651760" cy="1645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098280" y="1188720"/>
            <a:ext cx="2651760" cy="36576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89720" y="1216152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微软雅黑"/>
              </a:defRPr>
            </a:pPr>
            <a:r>
              <a:t>闭环触发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35440" y="1645920"/>
            <a:ext cx="23774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333333"/>
                </a:solidFill>
                <a:latin typeface="微软雅黑"/>
              </a:defRPr>
            </a:pPr>
            <a:r>
              <a:t>行为反馈输入画像</a:t>
            </a:r>
            <a:br/>
            <a:r>
              <a:t>CRS状态持续深化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3108960"/>
            <a:ext cx="11155680" cy="1463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32004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C41E3A"/>
                </a:solidFill>
                <a:latin typeface="微软雅黑"/>
              </a:defRPr>
            </a:pPr>
            <a:r>
              <a:t>AI回答链路（本地知识优先）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3657600"/>
            <a:ext cx="10607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微软雅黑"/>
              </a:defRPr>
            </a:pPr>
            <a:r>
              <a:t>接收问题+上下文 → 检索本地知识库 → 读取CRS会话状态 → 生成推荐载荷 → ASK-REC决策 → 调用豆包API生成/润色 → 返回回答+推荐卡+ASK选项+策略说明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4846320"/>
            <a:ext cx="11155680" cy="1645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20" y="49377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C41E3A"/>
                </a:solidFill>
                <a:latin typeface="微软雅黑"/>
              </a:defRPr>
            </a:pPr>
            <a:r>
              <a:t>三层提示词约束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5394960"/>
            <a:ext cx="10607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333333"/>
                </a:solidFill>
                <a:latin typeface="微软雅黑"/>
              </a:rPr>
              <a:t>第一层：全局角色提示——确定黑塔身份、语气、服务范围和知识边界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333333"/>
                </a:solidFill>
                <a:latin typeface="微软雅黑"/>
              </a:rPr>
              <a:t>第二层：任务型提示——知识命中时润色简化，未命中时限定输出范围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333333"/>
                </a:solidFill>
                <a:latin typeface="微软雅黑"/>
              </a:rPr>
              <a:t>第三层：CRS感知提示——根据cold_start/mixed/precision动态调整语气深度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65760"/>
            <a:ext cx="73152" cy="50292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8B2222"/>
                </a:solidFill>
                <a:latin typeface="微软雅黑"/>
              </a:defRPr>
            </a:pPr>
            <a:r>
              <a:t>系统设计——知识图谱与内容治理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120"/>
            <a:ext cx="11247120" cy="18288"/>
          </a:xfrm>
          <a:prstGeom prst="rect">
            <a:avLst/>
          </a:prstGeom>
          <a:solidFill>
            <a:srgbClr val="E8D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99999"/>
                </a:solidFill>
                <a:latin typeface="微软雅黑"/>
              </a:defRPr>
            </a:pPr>
            <a:r>
              <a:t>13/22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188720"/>
            <a:ext cx="5303520" cy="5029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37160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C41E3A"/>
                </a:solidFill>
                <a:latin typeface="微软雅黑"/>
              </a:defRPr>
            </a:pPr>
            <a:r>
              <a:t>知识图谱设计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92024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300" b="0">
                <a:solidFill>
                  <a:srgbClr val="333333"/>
                </a:solidFill>
                <a:latin typeface="微软雅黑"/>
              </a:rPr>
              <a:t>定位：推荐和AI对话的加强器，非主排序器</a:t>
            </a:r>
          </a:p>
          <a:p>
            <a:pPr>
              <a:spcAft>
                <a:spcPts val="300"/>
              </a:spcAft>
            </a:pPr>
            <a:r>
              <a:rPr sz="1300" b="0">
                <a:solidFill>
                  <a:srgbClr val="333333"/>
                </a:solidFill>
                <a:latin typeface="微软雅黑"/>
              </a:rPr>
              <a:t/>
            </a:r>
          </a:p>
          <a:p>
            <a:pPr>
              <a:spcAft>
                <a:spcPts val="300"/>
              </a:spcAft>
            </a:pPr>
            <a:r>
              <a:rPr sz="1300" b="0">
                <a:solidFill>
                  <a:srgbClr val="333333"/>
                </a:solidFill>
                <a:latin typeface="微软雅黑"/>
              </a:rPr>
              <a:t>图谱增强方式：</a:t>
            </a:r>
          </a:p>
          <a:p>
            <a:pPr>
              <a:spcAft>
                <a:spcPts val="300"/>
              </a:spcAft>
            </a:pPr>
            <a:r>
              <a:rPr sz="1300" b="0">
                <a:solidFill>
                  <a:srgbClr val="333333"/>
                </a:solidFill>
                <a:latin typeface="微软雅黑"/>
              </a:rPr>
              <a:t>● 扩大推荐候选人范围——相近实体、类别关系、路径关系</a:t>
            </a:r>
          </a:p>
          <a:p>
            <a:pPr>
              <a:spcAft>
                <a:spcPts val="300"/>
              </a:spcAft>
            </a:pPr>
            <a:r>
              <a:rPr sz="1300" b="0">
                <a:solidFill>
                  <a:srgbClr val="333333"/>
                </a:solidFill>
                <a:latin typeface="微软雅黑"/>
              </a:rPr>
              <a:t>● 加强推荐理由解释——路径关系→自然语言推荐理由</a:t>
            </a:r>
          </a:p>
          <a:p>
            <a:pPr>
              <a:spcAft>
                <a:spcPts val="300"/>
              </a:spcAft>
            </a:pPr>
            <a:r>
              <a:rPr sz="1300" b="0">
                <a:solidFill>
                  <a:srgbClr val="333333"/>
                </a:solidFill>
                <a:latin typeface="微软雅黑"/>
              </a:rPr>
              <a:t>● 以用户已知实体为起点，向丰富但不脱离主题方向延伸</a:t>
            </a:r>
          </a:p>
          <a:p>
            <a:pPr>
              <a:spcAft>
                <a:spcPts val="300"/>
              </a:spcAft>
            </a:pPr>
            <a:r>
              <a:rPr sz="1300" b="0">
                <a:solidFill>
                  <a:srgbClr val="333333"/>
                </a:solidFill>
                <a:latin typeface="微软雅黑"/>
              </a:rPr>
              <a:t/>
            </a:r>
          </a:p>
          <a:p>
            <a:pPr>
              <a:spcAft>
                <a:spcPts val="300"/>
              </a:spcAft>
            </a:pPr>
            <a:r>
              <a:rPr sz="1300" b="0">
                <a:solidFill>
                  <a:srgbClr val="333333"/>
                </a:solidFill>
                <a:latin typeface="微软雅黑"/>
              </a:rPr>
              <a:t>CRS与图谱联动：</a:t>
            </a:r>
          </a:p>
          <a:p>
            <a:pPr>
              <a:spcAft>
                <a:spcPts val="300"/>
              </a:spcAft>
            </a:pPr>
            <a:r>
              <a:rPr sz="1300" b="0">
                <a:solidFill>
                  <a:srgbClr val="333333"/>
                </a:solidFill>
                <a:latin typeface="微软雅黑"/>
              </a:rPr>
              <a:t>● 识别用户提及的具体实体→映射到画像特征</a:t>
            </a:r>
          </a:p>
          <a:p>
            <a:pPr>
              <a:spcAft>
                <a:spcPts val="300"/>
              </a:spcAft>
            </a:pPr>
            <a:r>
              <a:rPr sz="1300" b="0">
                <a:solidFill>
                  <a:srgbClr val="333333"/>
                </a:solidFill>
                <a:latin typeface="微软雅黑"/>
              </a:rPr>
              <a:t>● 推荐卡附加图谱理由和路径说明</a:t>
            </a:r>
          </a:p>
          <a:p>
            <a:pPr>
              <a:spcAft>
                <a:spcPts val="300"/>
              </a:spcAft>
            </a:pPr>
            <a:r>
              <a:rPr sz="1300" b="0">
                <a:solidFill>
                  <a:srgbClr val="333333"/>
                </a:solidFill>
                <a:latin typeface="微软雅黑"/>
              </a:rPr>
              <a:t>● 一石二鸟：增强解释+参与兴趣建模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188720"/>
            <a:ext cx="5303520" cy="5029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0" y="137160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C41E3A"/>
                </a:solidFill>
                <a:latin typeface="微软雅黑"/>
              </a:defRPr>
            </a:pPr>
            <a:r>
              <a:t>内容治理体系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192024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300" b="0">
                <a:solidFill>
                  <a:srgbClr val="333333"/>
                </a:solidFill>
                <a:latin typeface="微软雅黑"/>
              </a:rPr>
              <a:t>质量评分机制（三维度量化）：</a:t>
            </a:r>
          </a:p>
          <a:p>
            <a:pPr>
              <a:spcAft>
                <a:spcPts val="300"/>
              </a:spcAft>
            </a:pPr>
            <a:r>
              <a:rPr sz="1300" b="0">
                <a:solidFill>
                  <a:srgbClr val="333333"/>
                </a:solidFill>
                <a:latin typeface="微软雅黑"/>
              </a:rPr>
              <a:t>● 内容完整度：正文字数、封面图、摘要</a:t>
            </a:r>
          </a:p>
          <a:p>
            <a:pPr>
              <a:spcAft>
                <a:spcPts val="300"/>
              </a:spcAft>
            </a:pPr>
            <a:r>
              <a:rPr sz="1300" b="0">
                <a:solidFill>
                  <a:srgbClr val="333333"/>
                </a:solidFill>
                <a:latin typeface="微软雅黑"/>
              </a:rPr>
              <a:t>● 信息丰富度：章节归属、标签覆盖</a:t>
            </a:r>
          </a:p>
          <a:p>
            <a:pPr>
              <a:spcAft>
                <a:spcPts val="300"/>
              </a:spcAft>
            </a:pPr>
            <a:r>
              <a:rPr sz="1300" b="0">
                <a:solidFill>
                  <a:srgbClr val="333333"/>
                </a:solidFill>
                <a:latin typeface="微软雅黑"/>
              </a:rPr>
              <a:t>● 原创质量：来源可信度、内容哈希去重</a:t>
            </a:r>
          </a:p>
          <a:p>
            <a:pPr>
              <a:spcAft>
                <a:spcPts val="300"/>
              </a:spcAft>
            </a:pPr>
            <a:r>
              <a:rPr sz="1300" b="0">
                <a:solidFill>
                  <a:srgbClr val="333333"/>
                </a:solidFill>
                <a:latin typeface="微软雅黑"/>
              </a:rPr>
              <a:t/>
            </a:r>
          </a:p>
          <a:p>
            <a:pPr>
              <a:spcAft>
                <a:spcPts val="300"/>
              </a:spcAft>
            </a:pPr>
            <a:r>
              <a:rPr sz="1300" b="0">
                <a:solidFill>
                  <a:srgbClr val="333333"/>
                </a:solidFill>
                <a:latin typeface="微软雅黑"/>
              </a:rPr>
              <a:t>审核发布机制：</a:t>
            </a:r>
          </a:p>
          <a:p>
            <a:pPr>
              <a:spcAft>
                <a:spcPts val="300"/>
              </a:spcAft>
            </a:pPr>
            <a:r>
              <a:rPr sz="1300" b="0">
                <a:solidFill>
                  <a:srgbClr val="333333"/>
                </a:solidFill>
                <a:latin typeface="微软雅黑"/>
              </a:rPr>
              <a:t>● 质量分≥阈值 → 自动进入推荐池</a:t>
            </a:r>
          </a:p>
          <a:p>
            <a:pPr>
              <a:spcAft>
                <a:spcPts val="300"/>
              </a:spcAft>
            </a:pPr>
            <a:r>
              <a:rPr sz="1300" b="0">
                <a:solidFill>
                  <a:srgbClr val="333333"/>
                </a:solidFill>
                <a:latin typeface="微软雅黑"/>
              </a:rPr>
              <a:t>● 人工审核 → 精选标记/退回修改</a:t>
            </a:r>
          </a:p>
          <a:p>
            <a:pPr>
              <a:spcAft>
                <a:spcPts val="300"/>
              </a:spcAft>
            </a:pPr>
            <a:r>
              <a:rPr sz="1300" b="0">
                <a:solidFill>
                  <a:srgbClr val="333333"/>
                </a:solidFill>
                <a:latin typeface="微软雅黑"/>
              </a:rPr>
              <a:t/>
            </a:r>
          </a:p>
          <a:p>
            <a:pPr>
              <a:spcAft>
                <a:spcPts val="300"/>
              </a:spcAft>
            </a:pPr>
            <a:r>
              <a:rPr sz="1300" b="0">
                <a:solidFill>
                  <a:srgbClr val="333333"/>
                </a:solidFill>
                <a:latin typeface="微软雅黑"/>
              </a:rPr>
              <a:t>白名单回补机制：</a:t>
            </a:r>
          </a:p>
          <a:p>
            <a:pPr>
              <a:spcAft>
                <a:spcPts val="300"/>
              </a:spcAft>
            </a:pPr>
            <a:r>
              <a:rPr sz="1300" b="0">
                <a:solidFill>
                  <a:srgbClr val="333333"/>
                </a:solidFill>
                <a:latin typeface="微软雅黑"/>
              </a:rPr>
              <a:t>● 定期从达标内容中重新选拔精选</a:t>
            </a:r>
          </a:p>
          <a:p>
            <a:pPr>
              <a:spcAft>
                <a:spcPts val="300"/>
              </a:spcAft>
            </a:pPr>
            <a:r>
              <a:rPr sz="1300" b="0">
                <a:solidFill>
                  <a:srgbClr val="333333"/>
                </a:solidFill>
                <a:latin typeface="微软雅黑"/>
              </a:rPr>
              <a:t>● 保证推荐池的新鲜度和质量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65760"/>
            <a:ext cx="73152" cy="50292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8B2222"/>
                </a:solidFill>
                <a:latin typeface="微软雅黑"/>
              </a:defRPr>
            </a:pPr>
            <a:r>
              <a:t>系统实现——首页与个性化推荐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120"/>
            <a:ext cx="11247120" cy="18288"/>
          </a:xfrm>
          <a:prstGeom prst="rect">
            <a:avLst/>
          </a:prstGeom>
          <a:solidFill>
            <a:srgbClr val="E8D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99999"/>
                </a:solidFill>
                <a:latin typeface="微软雅黑"/>
              </a:defRPr>
            </a:pPr>
            <a:r>
              <a:t>14/22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188720"/>
            <a:ext cx="3566160" cy="5029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188720"/>
            <a:ext cx="3566160" cy="41148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23444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t>AI导览横幅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737360"/>
            <a:ext cx="32004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微软雅黑"/>
              </a:defRPr>
            </a:pPr>
            <a:r>
              <a:t>● 数字导览中枢徽章</a:t>
            </a:r>
            <a:br/>
            <a:r>
              <a:t>● 动态标题和描述文案</a:t>
            </a:r>
            <a:br/>
            <a:r>
              <a:t>● CRS模式进度胶囊</a:t>
            </a:r>
            <a:br/>
            <a:r>
              <a:t>  （想认识你→正在了解你→已懂你）</a:t>
            </a:r>
            <a:br/>
            <a:r>
              <a:t>● 黑塔数字人组件</a:t>
            </a:r>
            <a:br/>
            <a:r>
              <a:t>  （表情随CRS模式变化）</a:t>
            </a:r>
            <a:br/>
            <a:r>
              <a:t>● 立即开始按钮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0" y="1188720"/>
            <a:ext cx="3566160" cy="5029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97680" y="1188720"/>
            <a:ext cx="3566160" cy="41148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80560" y="123444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t>精选推荐区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1737360"/>
            <a:ext cx="32004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微软雅黑"/>
              </a:defRPr>
            </a:pPr>
            <a:r>
              <a:t>● 第一条推荐大卡片展示</a:t>
            </a:r>
            <a:br/>
            <a:r>
              <a:t>● 今日推荐区：内容/活动/讨论</a:t>
            </a:r>
            <a:br/>
            <a:r>
              <a:t>● 推荐理由标签+新鲜度标签</a:t>
            </a:r>
            <a:br/>
            <a:r>
              <a:t>● 点击行为即时回流画像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1188720"/>
            <a:ext cx="3566160" cy="5029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38160" y="1188720"/>
            <a:ext cx="3566160" cy="41148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21040" y="123444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t>快速入口+TabBar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1737360"/>
            <a:ext cx="32004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微软雅黑"/>
              </a:defRPr>
            </a:pPr>
            <a:r>
              <a:t>● 非遗发展史/非遗地点快捷入口</a:t>
            </a:r>
            <a:br/>
            <a:r>
              <a:t>● 自定义TabBar：</a:t>
            </a:r>
            <a:br/>
            <a:r>
              <a:t>  主页/文化/活动/讨论/我的</a:t>
            </a:r>
            <a:br/>
            <a:r>
              <a:t>● 胶囊圆角设计</a:t>
            </a:r>
            <a:br/>
            <a:r>
              <a:t>● 选中态朱红渐变背景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65760"/>
            <a:ext cx="73152" cy="50292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8B2222"/>
                </a:solidFill>
                <a:latin typeface="微软雅黑"/>
              </a:defRPr>
            </a:pPr>
            <a:r>
              <a:t>系统实现——非遗内容与活动报名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120"/>
            <a:ext cx="11247120" cy="18288"/>
          </a:xfrm>
          <a:prstGeom prst="rect">
            <a:avLst/>
          </a:prstGeom>
          <a:solidFill>
            <a:srgbClr val="E8D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99999"/>
                </a:solidFill>
                <a:latin typeface="微软雅黑"/>
              </a:defRPr>
            </a:pPr>
            <a:r>
              <a:t>15/22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188720"/>
            <a:ext cx="5303520" cy="5029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37160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C41E3A"/>
                </a:solidFill>
                <a:latin typeface="微软雅黑"/>
              </a:defRPr>
            </a:pPr>
            <a:r>
              <a:t>非遗内容模块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92024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  <a:latin typeface="微软雅黑"/>
              </a:rPr>
              <a:t>内容列表页：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  <a:latin typeface="微软雅黑"/>
              </a:rPr>
              <a:t>● 瀑布流双列布局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  <a:latin typeface="微软雅黑"/>
              </a:rPr>
              <a:t>● 策展精选显眼位置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  <a:latin typeface="微软雅黑"/>
              </a:rPr>
              <a:t>● 按子章节和类型打标签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  <a:latin typeface="微软雅黑"/>
              </a:rPr>
              <a:t>● 个性化内容推荐混合展示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  <a:latin typeface="微软雅黑"/>
              </a:rPr>
              <a:t/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  <a:latin typeface="微软雅黑"/>
              </a:rPr>
              <a:t>内容详情页：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  <a:latin typeface="微软雅黑"/>
              </a:rPr>
              <a:t>● 封面图展示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  <a:latin typeface="微软雅黑"/>
              </a:rPr>
              <a:t>● 三分钟看点摘要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  <a:latin typeface="微软雅黑"/>
              </a:rPr>
              <a:t>● 延伸讲解内容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  <a:latin typeface="微软雅黑"/>
              </a:rPr>
              <a:t>● AI浮窗入口（场景化问答）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188720"/>
            <a:ext cx="5303520" cy="5029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0" y="137160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C41E3A"/>
                </a:solidFill>
                <a:latin typeface="微软雅黑"/>
              </a:defRPr>
            </a:pPr>
            <a:r>
              <a:t>活动报名模块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192024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  <a:latin typeface="微软雅黑"/>
              </a:rPr>
              <a:t>活动列表页：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  <a:latin typeface="微软雅黑"/>
              </a:rPr>
              <a:t>● 按月份筛选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  <a:latin typeface="微软雅黑"/>
              </a:rPr>
              <a:t>● 前两条标记"本月主推"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  <a:latin typeface="微软雅黑"/>
              </a:rPr>
              <a:t>● 个性化活动推荐混合展示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  <a:latin typeface="微软雅黑"/>
              </a:rPr>
              <a:t/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  <a:latin typeface="微软雅黑"/>
              </a:rPr>
              <a:t>活动详情页：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  <a:latin typeface="微软雅黑"/>
              </a:rPr>
              <a:t>● 封面、时间地点、组织者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  <a:latin typeface="微软雅黑"/>
              </a:rPr>
              <a:t>● 展示块（亮点/议程/提示）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  <a:latin typeface="微软雅黑"/>
              </a:rPr>
              <a:t>● 在线报名/取消报名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  <a:latin typeface="微软雅黑"/>
              </a:rPr>
              <a:t>● 报名备注+报名须知确认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  <a:latin typeface="微软雅黑"/>
              </a:rPr>
              <a:t>● AI浮窗入口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65760"/>
            <a:ext cx="73152" cy="50292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8B2222"/>
                </a:solidFill>
                <a:latin typeface="微软雅黑"/>
              </a:defRPr>
            </a:pPr>
            <a:r>
              <a:t>系统实现——社区讨论与用户中心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120"/>
            <a:ext cx="11247120" cy="18288"/>
          </a:xfrm>
          <a:prstGeom prst="rect">
            <a:avLst/>
          </a:prstGeom>
          <a:solidFill>
            <a:srgbClr val="E8D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99999"/>
                </a:solidFill>
                <a:latin typeface="微软雅黑"/>
              </a:defRPr>
            </a:pPr>
            <a:r>
              <a:t>16/22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188720"/>
            <a:ext cx="5303520" cy="5029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37160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C41E3A"/>
                </a:solidFill>
                <a:latin typeface="微软雅黑"/>
              </a:defRPr>
            </a:pPr>
            <a:r>
              <a:t>社区讨论模块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92024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  <a:latin typeface="微软雅黑"/>
              </a:rPr>
              <a:t>讨论列表页：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  <a:latin typeface="微软雅黑"/>
              </a:rPr>
              <a:t>● 关键词搜索、标签筛选（10个标签）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  <a:latin typeface="微软雅黑"/>
              </a:rPr>
              <a:t>● 排序切换（热门/最新）、只看收藏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  <a:latin typeface="微软雅黑"/>
              </a:rPr>
              <a:t>● 热门话题TOP3展示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  <a:latin typeface="微软雅黑"/>
              </a:rPr>
              <a:t/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  <a:latin typeface="微软雅黑"/>
              </a:rPr>
              <a:t>发帖功能：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  <a:latin typeface="微软雅黑"/>
              </a:rPr>
              <a:t>● 三种模板：提问型/体验分享型/活动反馈型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  <a:latin typeface="微软雅黑"/>
              </a:rPr>
              <a:t>● 可选标签、上传封面图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  <a:latin typeface="微软雅黑"/>
              </a:rPr>
              <a:t/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  <a:latin typeface="微软雅黑"/>
              </a:rPr>
              <a:t>话题详情页：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  <a:latin typeface="微软雅黑"/>
              </a:rPr>
              <a:t>● 帖子正文+评论列表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  <a:latin typeface="微软雅黑"/>
              </a:rPr>
              <a:t>● 发表评论、点赞、收藏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188720"/>
            <a:ext cx="5303520" cy="5029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0" y="137160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C41E3A"/>
                </a:solidFill>
                <a:latin typeface="微软雅黑"/>
              </a:defRPr>
            </a:pPr>
            <a:r>
              <a:t>用户中心模块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192024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  <a:latin typeface="微软雅黑"/>
              </a:rPr>
              <a:t>用户画像卡片：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  <a:latin typeface="微软雅黑"/>
              </a:rPr>
              <a:t>● 偏好关键词展示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  <a:latin typeface="微软雅黑"/>
              </a:rPr>
              <a:t>● 活跃场景展示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  <a:latin typeface="微软雅黑"/>
              </a:rPr>
              <a:t>● 关注地区展示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  <a:latin typeface="微软雅黑"/>
              </a:rPr>
              <a:t/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  <a:latin typeface="微软雅黑"/>
              </a:rPr>
              <a:t>统计卡片：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  <a:latin typeface="微软雅黑"/>
              </a:rPr>
              <a:t>● 发帖数、活动记录、已选偏好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  <a:latin typeface="微软雅黑"/>
              </a:rPr>
              <a:t/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  <a:latin typeface="微软雅黑"/>
              </a:rPr>
              <a:t>偏好设置页：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  <a:latin typeface="微软雅黑"/>
              </a:rPr>
              <a:t>● 非遗类别（工艺/戏曲/民俗/医药）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  <a:latin typeface="微软雅黑"/>
              </a:rPr>
              <a:t>● 场景类型（知识阅读/活动体验/论坛交流）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  <a:latin typeface="微软雅黑"/>
              </a:rPr>
              <a:t>● 地区（华东/华南/西南/华北/西北/东北）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  <a:latin typeface="微软雅黑"/>
              </a:rPr>
              <a:t>● 保存后作为显式信号纳入画像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65760"/>
            <a:ext cx="73152" cy="50292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8B2222"/>
                </a:solidFill>
                <a:latin typeface="微软雅黑"/>
              </a:defRPr>
            </a:pPr>
            <a:r>
              <a:t>系统实现——AI数字人"黑塔"核心交互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120"/>
            <a:ext cx="11247120" cy="18288"/>
          </a:xfrm>
          <a:prstGeom prst="rect">
            <a:avLst/>
          </a:prstGeom>
          <a:solidFill>
            <a:srgbClr val="E8D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99999"/>
                </a:solidFill>
                <a:latin typeface="微软雅黑"/>
              </a:defRPr>
            </a:pPr>
            <a:r>
              <a:t>17/22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188720"/>
            <a:ext cx="3566160" cy="5029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14400" y="1371600"/>
            <a:ext cx="2651760" cy="822960"/>
          </a:xfrm>
          <a:prstGeom prst="roundRect">
            <a:avLst/>
          </a:prstGeom>
          <a:solidFill>
            <a:srgbClr val="6699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371600"/>
            <a:ext cx="2651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微软雅黑"/>
              </a:defRPr>
            </a:pPr>
            <a:r>
              <a:t>cold_start</a:t>
            </a:r>
            <a:br/>
            <a:r>
              <a:t>冷启动模式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28600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333333"/>
                </a:solidFill>
                <a:latin typeface="微软雅黑"/>
              </a:defRPr>
            </a:pPr>
            <a:r>
              <a:t>C &lt; 28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743200"/>
            <a:ext cx="30175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333333"/>
                </a:solidFill>
                <a:latin typeface="微软雅黑"/>
              </a:rPr>
              <a:t>● 主动提问为主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333333"/>
                </a:solidFill>
                <a:latin typeface="微软雅黑"/>
              </a:rPr>
              <a:t>● ASK卡片收集偏好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333333"/>
                </a:solidFill>
                <a:latin typeface="微软雅黑"/>
              </a:rPr>
              <a:t>● 类目→地区→场景→程度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333333"/>
                </a:solidFill>
                <a:latin typeface="微软雅黑"/>
              </a:rPr>
              <a:t>● 不直接给出推荐结果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333333"/>
                </a:solidFill>
                <a:latin typeface="微软雅黑"/>
              </a:rPr>
              <a:t>● 数字人好奇张望表情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0" y="1188720"/>
            <a:ext cx="3566160" cy="5029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0" y="1371600"/>
            <a:ext cx="2651760" cy="822960"/>
          </a:xfrm>
          <a:prstGeom prst="roundRect">
            <a:avLst/>
          </a:prstGeom>
          <a:solidFill>
            <a:srgbClr val="DDA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54880" y="1371600"/>
            <a:ext cx="2651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微软雅黑"/>
              </a:defRPr>
            </a:pPr>
            <a:r>
              <a:t>mixed</a:t>
            </a:r>
            <a:br/>
            <a:r>
              <a:t>混合模式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0" y="228600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333333"/>
                </a:solidFill>
                <a:latin typeface="微软雅黑"/>
              </a:defRPr>
            </a:pPr>
            <a:r>
              <a:t>28 ≤ C &lt; 62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2743200"/>
            <a:ext cx="30175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333333"/>
                </a:solidFill>
                <a:latin typeface="微软雅黑"/>
              </a:rPr>
              <a:t>● 边推荐边追问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333333"/>
                </a:solidFill>
                <a:latin typeface="微软雅黑"/>
              </a:rPr>
              <a:t>● 1-2张AI推荐卡+B组追问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333333"/>
                </a:solidFill>
                <a:latin typeface="微软雅黑"/>
              </a:rPr>
              <a:t>● 上方推荐+下方ASK选项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333333"/>
                </a:solidFill>
                <a:latin typeface="微软雅黑"/>
              </a:rPr>
              <a:t>● 推荐理由贴合当前选择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333333"/>
                </a:solidFill>
                <a:latin typeface="微软雅黑"/>
              </a:rPr>
              <a:t>● 数字人托腮思考表情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38160" y="1188720"/>
            <a:ext cx="3566160" cy="5029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595360" y="1371600"/>
            <a:ext cx="2651760" cy="822960"/>
          </a:xfrm>
          <a:prstGeom prst="roundRect">
            <a:avLst/>
          </a:prstGeom>
          <a:solidFill>
            <a:srgbClr val="66B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95360" y="1371600"/>
            <a:ext cx="2651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微软雅黑"/>
              </a:defRPr>
            </a:pPr>
            <a:r>
              <a:t>precision</a:t>
            </a:r>
            <a:br/>
            <a:r>
              <a:t>精准模式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95360" y="228600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333333"/>
                </a:solidFill>
                <a:latin typeface="微软雅黑"/>
              </a:defRPr>
            </a:pPr>
            <a:r>
              <a:t>C ≥ 62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0" y="2743200"/>
            <a:ext cx="30175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333333"/>
                </a:solidFill>
                <a:latin typeface="微软雅黑"/>
              </a:rPr>
              <a:t>● 停止追问，直接输出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333333"/>
                </a:solidFill>
                <a:latin typeface="微软雅黑"/>
              </a:rPr>
              <a:t>● 高度匹配推荐结果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333333"/>
                </a:solidFill>
                <a:latin typeface="微软雅黑"/>
              </a:rPr>
              <a:t>● 精准匹配偏好表达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333333"/>
                </a:solidFill>
                <a:latin typeface="微软雅黑"/>
              </a:rPr>
              <a:t>● 推荐卡占主要区域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333333"/>
                </a:solidFill>
                <a:latin typeface="微软雅黑"/>
              </a:rPr>
              <a:t>● 数字人自信微笑表情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65760"/>
            <a:ext cx="73152" cy="50292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8B2222"/>
                </a:solidFill>
                <a:latin typeface="微软雅黑"/>
              </a:defRPr>
            </a:pPr>
            <a:r>
              <a:t>系统实现——AI对话功能与信息层次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120"/>
            <a:ext cx="11247120" cy="18288"/>
          </a:xfrm>
          <a:prstGeom prst="rect">
            <a:avLst/>
          </a:prstGeom>
          <a:solidFill>
            <a:srgbClr val="E8D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99999"/>
                </a:solidFill>
                <a:latin typeface="微软雅黑"/>
              </a:defRPr>
            </a:pPr>
            <a:r>
              <a:t>18/22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188720"/>
            <a:ext cx="2651760" cy="2011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188720"/>
            <a:ext cx="2651760" cy="36576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216152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微软雅黑"/>
              </a:defRPr>
            </a:pPr>
            <a:r>
              <a:t>语音播报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645920"/>
            <a:ext cx="2377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333333"/>
                </a:solidFill>
                <a:latin typeface="微软雅黑"/>
              </a:defRPr>
            </a:pPr>
            <a:r>
              <a:t>豆包TTS优先</a:t>
            </a:r>
            <a:br/>
            <a:r>
              <a:t>Edge-TTS降级</a:t>
            </a:r>
            <a:br/>
            <a:r>
              <a:t>双引擎架构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37560" y="1188720"/>
            <a:ext cx="2651760" cy="2011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337560" y="1188720"/>
            <a:ext cx="2651760" cy="36576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29000" y="1216152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微软雅黑"/>
              </a:defRPr>
            </a:pPr>
            <a:r>
              <a:t>延伸推荐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0" y="1645920"/>
            <a:ext cx="2377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333333"/>
                </a:solidFill>
                <a:latin typeface="微软雅黑"/>
              </a:defRPr>
            </a:pPr>
            <a:r>
              <a:t>回答下方展示</a:t>
            </a:r>
            <a:br/>
            <a:r>
              <a:t>相关内容/活动/讨论</a:t>
            </a:r>
            <a:br/>
            <a:r>
              <a:t>推荐卡片即时刷新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1188720"/>
            <a:ext cx="2651760" cy="2011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0" y="1188720"/>
            <a:ext cx="2651760" cy="36576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9360" y="1216152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微软雅黑"/>
              </a:defRPr>
            </a:pPr>
            <a:r>
              <a:t>行动清单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5080" y="1645920"/>
            <a:ext cx="2377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333333"/>
                </a:solidFill>
                <a:latin typeface="微软雅黑"/>
              </a:defRPr>
            </a:pPr>
            <a:r>
              <a:t>浏览、报名、讨论</a:t>
            </a:r>
            <a:br/>
            <a:r>
              <a:t>下一步行动建议</a:t>
            </a:r>
            <a:br/>
            <a:r>
              <a:t>闭环触发机制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98280" y="1188720"/>
            <a:ext cx="2651760" cy="2011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098280" y="1188720"/>
            <a:ext cx="2651760" cy="36576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89720" y="1216152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微软雅黑"/>
              </a:defRPr>
            </a:pPr>
            <a:r>
              <a:t>AI浮窗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35440" y="1645920"/>
            <a:ext cx="2377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333333"/>
                </a:solidFill>
                <a:latin typeface="微软雅黑"/>
              </a:defRPr>
            </a:pPr>
            <a:r>
              <a:t>内容页/活动页嵌入</a:t>
            </a:r>
            <a:br/>
            <a:r>
              <a:t>场景化问答</a:t>
            </a:r>
            <a:br/>
            <a:r>
              <a:t>随时发起对话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3474720"/>
            <a:ext cx="11155680" cy="2926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35661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C41E3A"/>
                </a:solidFill>
                <a:latin typeface="微软雅黑"/>
              </a:defRPr>
            </a:pPr>
            <a:r>
              <a:t>AI对话页三层信息结构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411480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41E3A"/>
                </a:solidFill>
                <a:latin typeface="微软雅黑"/>
              </a:defRPr>
            </a:pPr>
            <a:r>
              <a:t>第一层：任务主线层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474720" y="4114800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微软雅黑"/>
              </a:defRPr>
            </a:pPr>
            <a:r>
              <a:t>黑塔数字人形象 | 对话消息区 | 输入框 | 当前模式提示 | ASK提问卡片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484632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41E3A"/>
                </a:solidFill>
                <a:latin typeface="微软雅黑"/>
              </a:defRPr>
            </a:pPr>
            <a:r>
              <a:t>第二层：推荐结果层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474720" y="4846320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微软雅黑"/>
              </a:defRPr>
            </a:pPr>
            <a:r>
              <a:t>AI推荐卡 | 推荐理由 | 下一步建议（浏览/报名/讨论）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557784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41E3A"/>
                </a:solidFill>
                <a:latin typeface="微软雅黑"/>
              </a:defRPr>
            </a:pPr>
            <a:r>
              <a:t>第三层：解释层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74720" y="5577840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微软雅黑"/>
              </a:defRPr>
            </a:pPr>
            <a:r>
              <a:t>置信度详细部分 | 策略解释 | 图谱依据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65760"/>
            <a:ext cx="73152" cy="50292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8B2222"/>
                </a:solidFill>
                <a:latin typeface="微软雅黑"/>
              </a:defRPr>
            </a:pPr>
            <a:r>
              <a:t>系统实现——Web管理端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120"/>
            <a:ext cx="11247120" cy="18288"/>
          </a:xfrm>
          <a:prstGeom prst="rect">
            <a:avLst/>
          </a:prstGeom>
          <a:solidFill>
            <a:srgbClr val="E8D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99999"/>
                </a:solidFill>
                <a:latin typeface="微软雅黑"/>
              </a:defRPr>
            </a:pPr>
            <a:r>
              <a:t>19/22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188720"/>
            <a:ext cx="2743200" cy="2286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188720"/>
            <a:ext cx="2743200" cy="36576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216152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微软雅黑"/>
              </a:defRPr>
            </a:pPr>
            <a:r>
              <a:t>内容管理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645920"/>
            <a:ext cx="2468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微软雅黑"/>
              </a:defRPr>
            </a:pPr>
            <a:r>
              <a:t>卡片网格展示</a:t>
            </a:r>
            <a:br/>
            <a:r>
              <a:t>封面/标题/状态/精选/质量分</a:t>
            </a:r>
            <a:br/>
            <a:r>
              <a:t>关键词搜索+状态筛选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91840" y="1188720"/>
            <a:ext cx="2743200" cy="2286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91840" y="1188720"/>
            <a:ext cx="2743200" cy="36576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83280" y="1216152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微软雅黑"/>
              </a:defRPr>
            </a:pPr>
            <a:r>
              <a:t>质量检查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29000" y="1645920"/>
            <a:ext cx="2468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微软雅黑"/>
              </a:defRPr>
            </a:pPr>
            <a:r>
              <a:t>四项统计指标</a:t>
            </a:r>
            <a:br/>
            <a:r>
              <a:t>五档质量分布柱状图</a:t>
            </a:r>
            <a:br/>
            <a:r>
              <a:t>质量诊断弹窗+改进建议</a:t>
            </a:r>
            <a:br/>
            <a:r>
              <a:t>重建推荐池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1188720"/>
            <a:ext cx="2743200" cy="2286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0" y="1188720"/>
            <a:ext cx="2743200" cy="36576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9360" y="1216152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微软雅黑"/>
              </a:defRPr>
            </a:pPr>
            <a:r>
              <a:t>活动管理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5080" y="1645920"/>
            <a:ext cx="2468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微软雅黑"/>
              </a:defRPr>
            </a:pPr>
            <a:r>
              <a:t>卡片形式展示</a:t>
            </a:r>
            <a:br/>
            <a:r>
              <a:t>封面/标题/地点/时间/人数</a:t>
            </a:r>
            <a:br/>
            <a:r>
              <a:t>上架下架管理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4000" y="1188720"/>
            <a:ext cx="2743200" cy="2286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144000" y="1188720"/>
            <a:ext cx="2743200" cy="36576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35440" y="1216152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微软雅黑"/>
              </a:defRPr>
            </a:pPr>
            <a:r>
              <a:t>帖子管理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81160" y="1645920"/>
            <a:ext cx="2468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微软雅黑"/>
              </a:defRPr>
            </a:pPr>
            <a:r>
              <a:t>帖子列表展示</a:t>
            </a:r>
            <a:br/>
            <a:r>
              <a:t>封面/标题/作者/点赞/评论</a:t>
            </a:r>
            <a:br/>
            <a:r>
              <a:t>编辑/精选/删除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65760" y="3840480"/>
            <a:ext cx="2743200" cy="2286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65760" y="3840480"/>
            <a:ext cx="2743200" cy="36576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3867912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微软雅黑"/>
              </a:defRPr>
            </a:pPr>
            <a:r>
              <a:t>用户管理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4297680"/>
            <a:ext cx="2468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微软雅黑"/>
              </a:defRPr>
            </a:pPr>
            <a:r>
              <a:t>表格形式展示</a:t>
            </a:r>
            <a:br/>
            <a:r>
              <a:t>昵称/OpenID/手机/角色/状态</a:t>
            </a:r>
            <a:br/>
            <a:r>
              <a:t>行为统计查看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291840" y="3840480"/>
            <a:ext cx="2743200" cy="2286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291840" y="3840480"/>
            <a:ext cx="2743200" cy="36576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383280" y="3867912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微软雅黑"/>
              </a:defRPr>
            </a:pPr>
            <a:r>
              <a:t>统计导出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29000" y="4297680"/>
            <a:ext cx="2468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微软雅黑"/>
              </a:defRPr>
            </a:pPr>
            <a:r>
              <a:t>四项平台指标</a:t>
            </a:r>
            <a:br/>
            <a:r>
              <a:t>行为日志筛选</a:t>
            </a:r>
            <a:br/>
            <a:r>
              <a:t>CSV导出功能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17920" y="3840480"/>
            <a:ext cx="2743200" cy="2286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217920" y="3840480"/>
            <a:ext cx="2743200" cy="36576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09360" y="3867912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微软雅黑"/>
              </a:defRPr>
            </a:pPr>
            <a:r>
              <a:t>知识库管理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55080" y="4297680"/>
            <a:ext cx="2468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微软雅黑"/>
              </a:defRPr>
            </a:pPr>
            <a:r>
              <a:t>表格形式展示</a:t>
            </a:r>
            <a:br/>
            <a:r>
              <a:t>问题/章节/关键词/状态</a:t>
            </a:r>
            <a:br/>
            <a:r>
              <a:t>新增/编辑/启禁用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65760"/>
            <a:ext cx="73152" cy="50292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8B2222"/>
                </a:solidFill>
                <a:latin typeface="微软雅黑"/>
              </a:defRPr>
            </a:pPr>
            <a:r>
              <a:t>系统测试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120"/>
            <a:ext cx="11247120" cy="18288"/>
          </a:xfrm>
          <a:prstGeom prst="rect">
            <a:avLst/>
          </a:prstGeom>
          <a:solidFill>
            <a:srgbClr val="E8D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99999"/>
                </a:solidFill>
                <a:latin typeface="微软雅黑"/>
              </a:defRPr>
            </a:pPr>
            <a:r>
              <a:t>20/22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188720"/>
            <a:ext cx="3566160" cy="5029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188720"/>
            <a:ext cx="3566160" cy="41148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23444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t>功能测试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737360"/>
            <a:ext cx="3200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300" b="0">
                <a:solidFill>
                  <a:srgbClr val="333333"/>
                </a:solidFill>
                <a:latin typeface="微软雅黑"/>
              </a:rPr>
              <a:t>黑盒测试：10条用例，通过10条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333333"/>
                </a:solidFill>
                <a:latin typeface="微软雅黑"/>
              </a:rPr>
              <a:t>  覆盖认证/内容/活动/讨论/推荐/AI/图谱/管理8模块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333333"/>
                </a:solidFill>
                <a:latin typeface="微软雅黑"/>
              </a:rPr>
              <a:t>白盒测试：7条用例，通过7条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333333"/>
                </a:solidFill>
                <a:latin typeface="微软雅黑"/>
              </a:rPr>
              <a:t>  CRS决策引擎/ASK模板/知识图谱/数据模型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0" y="1188720"/>
            <a:ext cx="3566160" cy="5029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97680" y="1188720"/>
            <a:ext cx="3566160" cy="41148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80560" y="123444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t>性能测试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1737360"/>
            <a:ext cx="3200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300" b="0">
                <a:solidFill>
                  <a:srgbClr val="333333"/>
                </a:solidFill>
                <a:latin typeface="微软雅黑"/>
              </a:rPr>
              <a:t>API平均响应时间：43.16ms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333333"/>
                </a:solidFill>
                <a:latin typeface="微软雅黑"/>
              </a:rPr>
              <a:t>最大响应时间：51.33ms（均&lt;100ms）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333333"/>
                </a:solidFill>
                <a:latin typeface="微软雅黑"/>
              </a:rPr>
              <a:t>并发测试：10用户50请求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333333"/>
                </a:solidFill>
                <a:latin typeface="微软雅黑"/>
              </a:rPr>
              <a:t>  成功率100%，吞吐225.5请求/秒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333333"/>
                </a:solidFill>
                <a:latin typeface="微软雅黑"/>
              </a:rPr>
              <a:t>AI对话平均响应：7.9秒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333333"/>
                </a:solidFill>
                <a:latin typeface="微软雅黑"/>
              </a:rPr>
              <a:t>  P50=2.6s，P90=4.3s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1188720"/>
            <a:ext cx="3566160" cy="5029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38160" y="1188720"/>
            <a:ext cx="3566160" cy="41148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21040" y="123444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t>兼容性测试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1737360"/>
            <a:ext cx="3200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300" b="0">
                <a:solidFill>
                  <a:srgbClr val="333333"/>
                </a:solidFill>
                <a:latin typeface="微软雅黑"/>
              </a:rPr>
              <a:t>浏览器：Chrome/Firefox/Safari/Edge ✓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333333"/>
                </a:solidFill>
                <a:latin typeface="微软雅黑"/>
              </a:rPr>
              <a:t>微信基础库：≥2.20.0 ✓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333333"/>
                </a:solidFill>
                <a:latin typeface="微软雅黑"/>
              </a:rPr>
              <a:t>设备：iOS + Android ✓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333333"/>
                </a:solidFill>
                <a:latin typeface="微软雅黑"/>
              </a:rPr>
              <a:t>数据库：SQLite/MySQL/PostgreSQL ✓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65760"/>
            <a:ext cx="73152" cy="50292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8B2222"/>
                </a:solidFill>
                <a:latin typeface="微软雅黑"/>
              </a:defRPr>
            </a:pPr>
            <a:r>
              <a:t>实验与分析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120"/>
            <a:ext cx="11247120" cy="18288"/>
          </a:xfrm>
          <a:prstGeom prst="rect">
            <a:avLst/>
          </a:prstGeom>
          <a:solidFill>
            <a:srgbClr val="E8D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99999"/>
                </a:solidFill>
                <a:latin typeface="微软雅黑"/>
              </a:defRPr>
            </a:pPr>
            <a:r>
              <a:t>21/22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188720"/>
            <a:ext cx="5303520" cy="5029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37160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C41E3A"/>
                </a:solidFill>
                <a:latin typeface="微软雅黑"/>
              </a:defRPr>
            </a:pPr>
            <a:r>
              <a:t>AI对话质量评估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92024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300" b="0">
                <a:solidFill>
                  <a:srgbClr val="333333"/>
                </a:solidFill>
                <a:latin typeface="微软雅黑"/>
              </a:rPr>
              <a:t>知识库命中率：90.0%</a:t>
            </a:r>
          </a:p>
          <a:p>
            <a:pPr>
              <a:spcAft>
                <a:spcPts val="300"/>
              </a:spcAft>
            </a:pPr>
            <a:r>
              <a:rPr sz="1300" b="0">
                <a:solidFill>
                  <a:srgbClr val="333333"/>
                </a:solidFill>
                <a:latin typeface="微软雅黑"/>
              </a:rPr>
              <a:t>● 20个测试问题，15个预期命中全部命中</a:t>
            </a:r>
          </a:p>
          <a:p>
            <a:pPr>
              <a:spcAft>
                <a:spcPts val="300"/>
              </a:spcAft>
            </a:pPr>
            <a:r>
              <a:rPr sz="1300" b="0">
                <a:solidFill>
                  <a:srgbClr val="333333"/>
                </a:solidFill>
                <a:latin typeface="微软雅黑"/>
              </a:rPr>
              <a:t>● 5个冷门问题中3个未命中→回退豆包直答/联网搜索</a:t>
            </a:r>
          </a:p>
          <a:p>
            <a:pPr>
              <a:spcAft>
                <a:spcPts val="300"/>
              </a:spcAft>
            </a:pPr>
            <a:r>
              <a:rPr sz="1300" b="0">
                <a:solidFill>
                  <a:srgbClr val="333333"/>
                </a:solidFill>
                <a:latin typeface="微软雅黑"/>
              </a:rPr>
              <a:t>● 命中项置信度集中在0.80-0.85区间</a:t>
            </a:r>
          </a:p>
          <a:p>
            <a:pPr>
              <a:spcAft>
                <a:spcPts val="300"/>
              </a:spcAft>
            </a:pPr>
            <a:r>
              <a:rPr sz="1300" b="0">
                <a:solidFill>
                  <a:srgbClr val="333333"/>
                </a:solidFill>
                <a:latin typeface="微软雅黑"/>
              </a:rPr>
              <a:t/>
            </a:r>
          </a:p>
          <a:p>
            <a:pPr>
              <a:spcAft>
                <a:spcPts val="300"/>
              </a:spcAft>
            </a:pPr>
            <a:r>
              <a:rPr sz="1300" b="0">
                <a:solidFill>
                  <a:srgbClr val="333333"/>
                </a:solidFill>
                <a:latin typeface="微软雅黑"/>
              </a:rPr>
              <a:t>AI回答响应时间：</a:t>
            </a:r>
          </a:p>
          <a:p>
            <a:pPr>
              <a:spcAft>
                <a:spcPts val="300"/>
              </a:spcAft>
            </a:pPr>
            <a:r>
              <a:rPr sz="1300" b="0">
                <a:solidFill>
                  <a:srgbClr val="333333"/>
                </a:solidFill>
                <a:latin typeface="微软雅黑"/>
              </a:rPr>
              <a:t>● P50 = 2.6秒，P90 = 4.3秒</a:t>
            </a:r>
          </a:p>
          <a:p>
            <a:pPr>
              <a:spcAft>
                <a:spcPts val="300"/>
              </a:spcAft>
            </a:pPr>
            <a:r>
              <a:rPr sz="1300" b="0">
                <a:solidFill>
                  <a:srgbClr val="333333"/>
                </a:solidFill>
                <a:latin typeface="微软雅黑"/>
              </a:rPr>
              <a:t>● 流式输出机制下3秒内可见首个回答片段</a:t>
            </a:r>
          </a:p>
          <a:p>
            <a:pPr>
              <a:spcAft>
                <a:spcPts val="300"/>
              </a:spcAft>
            </a:pPr>
            <a:r>
              <a:rPr sz="1300" b="0">
                <a:solidFill>
                  <a:srgbClr val="333333"/>
                </a:solidFill>
                <a:latin typeface="微软雅黑"/>
              </a:rPr>
              <a:t/>
            </a:r>
          </a:p>
          <a:p>
            <a:pPr>
              <a:spcAft>
                <a:spcPts val="300"/>
              </a:spcAft>
            </a:pPr>
            <a:r>
              <a:rPr sz="1300" b="0">
                <a:solidFill>
                  <a:srgbClr val="333333"/>
                </a:solidFill>
                <a:latin typeface="微软雅黑"/>
              </a:rPr>
              <a:t>回答来源分布：</a:t>
            </a:r>
          </a:p>
          <a:p>
            <a:pPr>
              <a:spcAft>
                <a:spcPts val="300"/>
              </a:spcAft>
            </a:pPr>
            <a:r>
              <a:rPr sz="1300" b="0">
                <a:solidFill>
                  <a:srgbClr val="333333"/>
                </a:solidFill>
                <a:latin typeface="微软雅黑"/>
              </a:rPr>
              <a:t>● KB命中+润色 占比最大（本地知识优先链路有效）</a:t>
            </a:r>
          </a:p>
          <a:p>
            <a:pPr>
              <a:spcAft>
                <a:spcPts val="300"/>
              </a:spcAft>
            </a:pPr>
            <a:r>
              <a:rPr sz="1300" b="0">
                <a:solidFill>
                  <a:srgbClr val="333333"/>
                </a:solidFill>
                <a:latin typeface="微软雅黑"/>
              </a:rPr>
              <a:t>● 豆包直答+豆包组合 占比较大（大模型能力体现）</a:t>
            </a:r>
          </a:p>
          <a:p>
            <a:pPr>
              <a:spcAft>
                <a:spcPts val="300"/>
              </a:spcAft>
            </a:pPr>
            <a:r>
              <a:rPr sz="1300" b="0">
                <a:solidFill>
                  <a:srgbClr val="333333"/>
                </a:solidFill>
                <a:latin typeface="微软雅黑"/>
              </a:rPr>
              <a:t>● 联网搜索+兜底回答 属补充手段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188720"/>
            <a:ext cx="5303520" cy="5029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0" y="137160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C41E3A"/>
                </a:solidFill>
                <a:latin typeface="微软雅黑"/>
              </a:defRPr>
            </a:pPr>
            <a:r>
              <a:t>推荐评价指标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0" y="2011680"/>
            <a:ext cx="2011680" cy="320040"/>
          </a:xfrm>
          <a:prstGeom prst="round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0" y="2029968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微软雅黑"/>
              </a:defRPr>
            </a:pPr>
            <a:r>
              <a:t>Precision@5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78240" y="2011680"/>
            <a:ext cx="2743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微软雅黑"/>
              </a:defRPr>
            </a:pPr>
            <a:r>
              <a:t>推荐列表前5项中与用户偏好相关的比例</a:t>
            </a:r>
            <a:br/>
            <a:r>
              <a:t>→ 反映推荐准确性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0" y="3063240"/>
            <a:ext cx="2011680" cy="320040"/>
          </a:xfrm>
          <a:prstGeom prst="round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0" y="3081528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微软雅黑"/>
              </a:defRPr>
            </a:pPr>
            <a:r>
              <a:t>Diversity@5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78240" y="3063240"/>
            <a:ext cx="2743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微软雅黑"/>
              </a:defRPr>
            </a:pPr>
            <a:r>
              <a:t>推荐列表覆盖的非遗类别数/列表长度</a:t>
            </a:r>
            <a:br/>
            <a:r>
              <a:t>→ 反映推荐多样性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0" y="4114800"/>
            <a:ext cx="2011680" cy="320040"/>
          </a:xfrm>
          <a:prstGeom prst="round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0" y="4133088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微软雅黑"/>
              </a:defRPr>
            </a:pPr>
            <a:r>
              <a:t>Coverage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78240" y="4114800"/>
            <a:ext cx="2743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微软雅黑"/>
              </a:defRPr>
            </a:pPr>
            <a:r>
              <a:t>推荐结果覆盖内容占全部已发布内容的比例</a:t>
            </a:r>
            <a:br/>
            <a:r>
              <a:t>→ 反映推荐覆盖广度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0" y="5166360"/>
            <a:ext cx="2011680" cy="320040"/>
          </a:xfrm>
          <a:prstGeom prst="round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0" y="5184648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微软雅黑"/>
              </a:defRPr>
            </a:pPr>
            <a:r>
              <a:t>NDCG@5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78240" y="5166360"/>
            <a:ext cx="2743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微软雅黑"/>
              </a:defRPr>
            </a:pPr>
            <a:r>
              <a:t>考虑位置权重的排序质量</a:t>
            </a:r>
            <a:br/>
            <a:r>
              <a:t>→ 反映推荐排序质量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65760"/>
            <a:ext cx="73152" cy="50292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8B2222"/>
                </a:solidFill>
                <a:latin typeface="微软雅黑"/>
              </a:defRPr>
            </a:pPr>
            <a:r>
              <a:t>结论与展望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120"/>
            <a:ext cx="11247120" cy="18288"/>
          </a:xfrm>
          <a:prstGeom prst="rect">
            <a:avLst/>
          </a:prstGeom>
          <a:solidFill>
            <a:srgbClr val="E8D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99999"/>
                </a:solidFill>
                <a:latin typeface="微软雅黑"/>
              </a:defRPr>
            </a:pPr>
            <a:r>
              <a:t>22/22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188720"/>
            <a:ext cx="6858000" cy="5029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37160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C41E3A"/>
                </a:solidFill>
                <a:latin typeface="微软雅黑"/>
              </a:defRPr>
            </a:pPr>
            <a:r>
              <a:t>研究结论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920240"/>
            <a:ext cx="6400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0">
                <a:solidFill>
                  <a:srgbClr val="333333"/>
                </a:solidFill>
                <a:latin typeface="微软雅黑"/>
              </a:rPr>
              <a:t>● 构建了基于CRS推荐与AI数字人的非遗文化传播微信小程序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333333"/>
                </a:solidFill>
                <a:latin typeface="微软雅黑"/>
              </a:rPr>
              <a:t>● AI数字人"黑塔"通过ASK追问逐步构建用户偏好画像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333333"/>
                </a:solidFill>
                <a:latin typeface="微软雅黑"/>
              </a:rPr>
              <a:t>● 从冷启动到精准推荐只需3-4轮交互即可收敛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333333"/>
                </a:solidFill>
                <a:latin typeface="微软雅黑"/>
              </a:rPr>
              <a:t>● 本地知识优先+大模型回退策略兼顾知识准确性与语义理解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333333"/>
                </a:solidFill>
                <a:latin typeface="微软雅黑"/>
              </a:rPr>
              <a:t>● ASK-REC决策引擎执行三阶段置信度收敛机制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333333"/>
                </a:solidFill>
                <a:latin typeface="微软雅黑"/>
              </a:rPr>
              <a:t>● 知识图谱实现实体偏好映射和推荐解释生成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333333"/>
                </a:solidFill>
                <a:latin typeface="微软雅黑"/>
              </a:rPr>
              <a:t>● 系统性能满足中小规模使用场景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0" y="1188720"/>
            <a:ext cx="3931920" cy="5029200"/>
          </a:xfrm>
          <a:prstGeom prst="roundRect">
            <a:avLst/>
          </a:prstGeom>
          <a:solidFill>
            <a:srgbClr val="FD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0" y="137160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C41E3A"/>
                </a:solidFill>
                <a:latin typeface="微软雅黑"/>
              </a:defRPr>
            </a:pPr>
            <a:r>
              <a:t>未来展望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0" y="1920240"/>
            <a:ext cx="33832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300" b="0">
                <a:solidFill>
                  <a:srgbClr val="333333"/>
                </a:solidFill>
                <a:latin typeface="微软雅黑"/>
              </a:rPr>
              <a:t>◆ 加入更细致的知识图谱推理能力，提高个性化与智能化程度</a:t>
            </a:r>
          </a:p>
          <a:p>
            <a:pPr>
              <a:spcAft>
                <a:spcPts val="1000"/>
              </a:spcAft>
            </a:pPr>
            <a:r>
              <a:rPr sz="1300" b="0">
                <a:solidFill>
                  <a:srgbClr val="333333"/>
                </a:solidFill>
                <a:latin typeface="微软雅黑"/>
              </a:rPr>
              <a:t>◆ 同线下非遗场馆深度对接，达成预约体验、位置推荐</a:t>
            </a:r>
          </a:p>
          <a:p>
            <a:pPr>
              <a:spcAft>
                <a:spcPts val="1000"/>
              </a:spcAft>
            </a:pPr>
            <a:r>
              <a:rPr sz="1300" b="0">
                <a:solidFill>
                  <a:srgbClr val="333333"/>
                </a:solidFill>
                <a:latin typeface="微软雅黑"/>
              </a:rPr>
              <a:t>◆ 支持多模态交互，使AI数字人引导更具拟人性</a:t>
            </a:r>
          </a:p>
          <a:p>
            <a:pPr>
              <a:spcAft>
                <a:spcPts val="1000"/>
              </a:spcAft>
            </a:pPr>
            <a:r>
              <a:rPr sz="1300" b="0">
                <a:solidFill>
                  <a:srgbClr val="333333"/>
                </a:solidFill>
                <a:latin typeface="微软雅黑"/>
              </a:rPr>
              <a:t>◆ 伴随大语言模型技术发展，对话方式更加自然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1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200" y="2011680"/>
            <a:ext cx="6675120" cy="18288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0" y="2286000"/>
            <a:ext cx="8503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微软雅黑"/>
              </a:defRPr>
            </a:pPr>
            <a:r>
              <a:t>感谢各位老师的指导与评审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0" y="3474720"/>
            <a:ext cx="6675120" cy="18288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0" y="3931920"/>
            <a:ext cx="8503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D4A537"/>
                </a:solidFill>
                <a:latin typeface="微软雅黑"/>
              </a:defRPr>
            </a:pPr>
            <a:r>
              <a:t>恳请各位老师批评指正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502920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BBAA99"/>
                </a:solidFill>
                <a:latin typeface="微软雅黑"/>
              </a:defRPr>
            </a:pPr>
            <a:r>
              <a:t>答辩人：王子轩    指导教师：徐龙琴 教授  高静 高级工程师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548640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98877"/>
                </a:solidFill>
                <a:latin typeface="微软雅黑"/>
              </a:defRPr>
            </a:pPr>
            <a:r>
              <a:t>仲恺农业工程学院  信息科学与技术学院  2026年5月9日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