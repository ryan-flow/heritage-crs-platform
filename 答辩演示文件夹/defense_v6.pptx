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基于CRS推荐与AI数字人的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非遗文化传播系统实现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749039"/>
            <a:ext cx="36576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4A5A"/>
                </a:solidFill>
                <a:latin typeface="Source Han Sans SC"/>
              </a:defRPr>
            </a:pPr>
            <a:r>
              <a:rPr a:lang="zh-CN"/>
              <a:t>An Intangible Cultural Heritage Communication System Based on CRS Recommendation and AI Digital Human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答辩人：王子轩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406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指导教师：徐龙琴 教授 / 高静 高级工程师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521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信息科学与技术学院 · 数据科学与大数据技术222班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636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仲恺农业工程学院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2636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2026.05.09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汇报提纲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1031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绪论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1031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研究背景、意义、现状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6517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相关技术与理论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6517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技术栈与理论基础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2004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系统分析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2004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需求分析、可行性、数据流程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74904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系统设计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7490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架构、推荐、AI数字人、知识图谱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9768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2976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系统实现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2976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小程序端、Web管理端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4632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8463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系统测试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8463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功能、性能、兼容性测试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39496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3949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实验与分析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3949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AI对话质量评估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9436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9436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结论与展望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9436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总结与未来方向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365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A7A8A"/>
                </a:solidFill>
                <a:latin typeface="Consolas"/>
              </a:defRPr>
            </a:pPr>
            <a:r>
              <a:rPr a:lang="zh-CN"/>
              <a:t>01 绪论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研究背景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C41E3A"/>
                </a:solidFill>
                <a:latin typeface="Source Han Serif SC"/>
              </a:defRPr>
            </a:pPr>
            <a:r>
              <a:rPr a:lang="zh-CN"/>
              <a:t>2.2亿+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803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抖音平台国家级非遗相关视频数量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累计获赞138亿次，转发45亿次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39312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87万+万粉创作者投稿非遗内容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05072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97280" y="4352544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C41E3A"/>
                </a:solidFill>
                <a:latin typeface="Source Han Serif SC"/>
              </a:defRPr>
            </a:pPr>
            <a:r>
              <a:rPr a:lang="zh-CN"/>
              <a:t>1000+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21224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国家级非遗代表性项目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32704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中国列入联合国非遗名录数量世界第一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980176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但大量非遗项目面临传承困境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345936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97280" y="6693408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三大传播趋势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7196328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短视频化 — 抖音非遗内容爆发式增长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7607808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资源数字化 — 动画、游戏、电影均需数字化非遗资源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8019288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传播社区化 — 以兴趣为纽带的论坛传承，星火燎原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365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A7A8A"/>
                </a:solidFill>
                <a:latin typeface="Consolas"/>
              </a:defRPr>
            </a:pPr>
            <a:r>
              <a:rPr a:lang="zh-CN"/>
              <a:t>01 绪论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研究意义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理论意义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146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探索CRS会话式推荐在文化领域的应用范式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62072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构建非遗知识图谱与推荐系统的融合框架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9544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丰富AI数字人在文化传播场景中的理论依据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57016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97280" y="3904488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实践意义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07408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以微信小程序为载体，降低非遗传播的触达门槛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8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个性化推荐提升用户参与度与内容匹配效率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102352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AI数字人'黑塔'提供沉浸式导览与多轮问答体验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449824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为非遗数字化传播与个性化服务提供实践参考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365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A7A8A"/>
                </a:solidFill>
                <a:latin typeface="Consolas"/>
              </a:defRPr>
            </a:pPr>
            <a:r>
              <a:rPr a:lang="zh-CN"/>
              <a:t>01 绪论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国内外研究现状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国内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国外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103120"/>
            <a:ext cx="12700" cy="3840480"/>
          </a:xfrm>
          <a:prstGeom prst="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国内研究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非遗数字化：从保存记录转向传播创作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90672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推荐系统：协同过滤→深度学习→会话式推荐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38144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AI数字人：虚拟主播、智能客服逐步落地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85616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微信生态：小程序成为轻量级应用首选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33088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97280" y="44805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研究空白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4632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CRS推荐在非遗领域应用极少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93792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AI数字人+推荐系统缺乏深度整合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541264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非遗传播缺少社区化+个性化闭环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774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国外研究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7432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CRS：基于对话的推荐系统成为热点方向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090672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知识图谱：Google Knowledge Graph推动语义理解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438144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数字人：NLP+TTS+Avatar技术日趋成熟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785616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LLM：GPT系列推动对话质量飞跃提升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133088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583680" y="44805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发展趋势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84632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从静态展示到动态交互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193792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从通用推荐到会话式个性化推荐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541264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从单向传播到双向互动社区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365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A7A8A"/>
                </a:solidFill>
                <a:latin typeface="Consolas"/>
              </a:defRPr>
            </a:pPr>
            <a:r>
              <a:rPr a:lang="zh-CN"/>
              <a:t>01 绪论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论文组织结构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457200" cy="457200"/>
          </a:xfrm>
          <a:prstGeom prst="rect">
            <a:avLst/>
          </a:prstGeom>
          <a:solidFill>
            <a:srgbClr val="3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01168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绪论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3172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背景、意义、现状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017520"/>
            <a:ext cx="457200" cy="457200"/>
          </a:xfrm>
          <a:prstGeom prst="rect">
            <a:avLst/>
          </a:prstGeom>
          <a:solidFill>
            <a:srgbClr val="3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0632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01752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相关技术与理论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37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Python / FastAPI / LLM / 提示工程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023360"/>
            <a:ext cx="457200" cy="457200"/>
          </a:xfrm>
          <a:prstGeom prst="rect">
            <a:avLst/>
          </a:prstGeom>
          <a:solidFill>
            <a:srgbClr val="3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0690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02336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系统分析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3434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需求分析、可行性、数据流程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5029200"/>
            <a:ext cx="457200" cy="457200"/>
          </a:xfrm>
          <a:prstGeom prst="rect">
            <a:avLst/>
          </a:prstGeom>
          <a:solidFill>
            <a:srgbClr val="3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749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系统设计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3492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架构、推荐、AI数字人、知识图谱、数据库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011680"/>
            <a:ext cx="457200" cy="457200"/>
          </a:xfrm>
          <a:prstGeom prst="rect">
            <a:avLst/>
          </a:prstGeom>
          <a:solidFill>
            <a:srgbClr val="3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0574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01168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系统实现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33172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小程序端 + Web管理端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17520"/>
            <a:ext cx="457200" cy="457200"/>
          </a:xfrm>
          <a:prstGeom prst="rect">
            <a:avLst/>
          </a:prstGeom>
          <a:solidFill>
            <a:srgbClr val="3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0632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01752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系统测试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337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功能 / 性能 / 兼容性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solidFill>
            <a:srgbClr val="3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0690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02336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实验与分析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3434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AI对话质量评估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029200"/>
            <a:ext cx="457200" cy="457200"/>
          </a:xfrm>
          <a:prstGeom prst="rect">
            <a:avLst/>
          </a:prstGeom>
          <a:solidFill>
            <a:srgbClr val="3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0749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02920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结论与展望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3492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总结与未来工作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365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A7A8A"/>
                </a:solidFill>
                <a:latin typeface="Consolas"/>
              </a:defRPr>
            </a:pPr>
            <a:r>
              <a:rPr a:lang="zh-CN"/>
              <a:t>02 相关技术与理论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相关技术与理论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4A56E"/>
                </a:solidFill>
                <a:latin typeface="Consolas"/>
              </a:defRPr>
            </a:pPr>
            <a:r>
              <a:rPr a:lang="zh-CN"/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59152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后端核心语言，FastAPI框架构建RESTful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4A56E"/>
                </a:solidFill>
                <a:latin typeface="Consolas"/>
              </a:defRPr>
            </a:pPr>
            <a:r>
              <a:rPr a:lang="zh-CN"/>
              <a:t>FastAPI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10712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高性能异步Web框架，自动生成OpenAPI文档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4A56E"/>
                </a:solidFill>
                <a:latin typeface="Consolas"/>
              </a:defRPr>
            </a:pPr>
            <a:r>
              <a:rPr a:lang="zh-CN"/>
              <a:t>SQLAlchemy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62272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ORM框架，实现数据库模型映射与查询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663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4A56E"/>
                </a:solidFill>
                <a:latin typeface="Consolas"/>
              </a:defRPr>
            </a:pPr>
            <a:r>
              <a:rPr a:lang="zh-CN"/>
              <a:t>SQLite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13832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轻量级嵌入式数据库，零配置部署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4A56E"/>
                </a:solidFill>
                <a:latin typeface="Consolas"/>
              </a:defRPr>
            </a:pPr>
            <a:r>
              <a:rPr a:lang="zh-CN"/>
              <a:t>WXML/WXSS/JS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59152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微信小程序前端开发技术栈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4A56E"/>
                </a:solidFill>
                <a:latin typeface="Consolas"/>
              </a:defRPr>
            </a:pPr>
            <a:r>
              <a:rPr a:lang="zh-CN"/>
              <a:t>LLM + 提示工程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10712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大语言模型驱动AI数字人对话能力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148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4A56E"/>
                </a:solidFill>
                <a:latin typeface="Consolas"/>
              </a:defRPr>
            </a:pPr>
            <a:r>
              <a:rPr a:lang="zh-CN"/>
              <a:t>知识图谱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62272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Neo4j构建非遗实体关系网络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1663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4A56E"/>
                </a:solidFill>
                <a:latin typeface="Consolas"/>
              </a:defRPr>
            </a:pPr>
            <a:r>
              <a:rPr a:lang="zh-CN"/>
              <a:t>CRS推荐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513832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会话式推荐系统，动态调整推荐策略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365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A7A8A"/>
                </a:solidFill>
                <a:latin typeface="Consolas"/>
              </a:defRPr>
            </a:pPr>
            <a:r>
              <a:rPr a:lang="zh-CN"/>
              <a:t>03 系统分析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功能需求分析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核心功能模块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非遗内容浏览 — 分类展示、详情查看、搜索筛选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智能导览 — AI数字人多轮问答、语音播报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个性化推荐 — CRS会话式推荐、冷启动→精准推荐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活动报名 — 非遗活动发布、在线报名、签到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605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社区互动 — 帖子发布、评论点赞、兴趣圈子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用户中心 — 偏好管理、历史记录、收藏关注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98348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97280" y="5330952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管理端功能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833872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内容管理 / 活动管理 / 帖子管理 / 用户管理 / 统计 / 知识库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365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A7A8A"/>
                </a:solidFill>
                <a:latin typeface="Consolas"/>
              </a:defRPr>
            </a:pPr>
            <a:r>
              <a:rPr a:lang="zh-CN"/>
              <a:t>03 系统分析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系统数据流程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103120"/>
            <a:ext cx="502920" cy="502920"/>
          </a:xfrm>
          <a:prstGeom prst="rect">
            <a:avLst/>
          </a:prstGeom>
          <a:solidFill>
            <a:srgbClr val="3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2140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用户操作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2316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浏览、搜索、对话、报名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2651760"/>
            <a:ext cx="25400" cy="457200"/>
          </a:xfrm>
          <a:prstGeom prst="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2880360"/>
            <a:ext cx="502920" cy="502920"/>
          </a:xfrm>
          <a:prstGeom prst="rect">
            <a:avLst/>
          </a:prstGeom>
          <a:solidFill>
            <a:srgbClr val="3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926080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9864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行为采集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20040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点击流、停留时长、CRS对话记录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5880" y="3429000"/>
            <a:ext cx="25400" cy="457200"/>
          </a:xfrm>
          <a:prstGeom prst="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3657600"/>
            <a:ext cx="502920" cy="502920"/>
          </a:xfrm>
          <a:prstGeom prst="rect">
            <a:avLst/>
          </a:prstGeom>
          <a:solidFill>
            <a:srgbClr val="3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703320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67588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画像构建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9776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偏好标签、兴趣向量、场景信号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4206240"/>
            <a:ext cx="25400" cy="457200"/>
          </a:xfrm>
          <a:prstGeom prst="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4434840"/>
            <a:ext cx="502920" cy="502920"/>
          </a:xfrm>
          <a:prstGeom prst="rect">
            <a:avLst/>
          </a:prstGeom>
          <a:solidFill>
            <a:srgbClr val="3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480560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45312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推荐引擎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7548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冷启动→混合推荐→精准推荐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4983480"/>
            <a:ext cx="25400" cy="457200"/>
          </a:xfrm>
          <a:prstGeom prst="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5212080"/>
            <a:ext cx="502920" cy="502920"/>
          </a:xfrm>
          <a:prstGeom prst="rect">
            <a:avLst/>
          </a:prstGeom>
          <a:solidFill>
            <a:srgbClr val="3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257800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23036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内容分发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5321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个性化列表、延伸推荐、行动清单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25880" y="5760720"/>
            <a:ext cx="25400" cy="457200"/>
          </a:xfrm>
          <a:prstGeom prst="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0" y="5989320"/>
            <a:ext cx="502920" cy="502920"/>
          </a:xfrm>
          <a:prstGeom prst="rect">
            <a:avLst/>
          </a:prstGeom>
          <a:solidFill>
            <a:srgbClr val="3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6035040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C41E3A"/>
                </a:solidFill>
                <a:latin typeface="Consolas"/>
              </a:defRPr>
            </a:pPr>
            <a:r>
              <a:rPr a:lang="zh-CN"/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600760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0F0F0"/>
                </a:solidFill>
                <a:latin typeface="Source Han Sans SC"/>
              </a:defRPr>
            </a:pPr>
            <a:r>
              <a:rPr a:lang="zh-CN"/>
              <a:t>反馈闭环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630936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推荐反馈→ASK追问→策略调整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365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A7A8A"/>
                </a:solidFill>
                <a:latin typeface="Consolas"/>
              </a:defRPr>
            </a:pPr>
            <a:r>
              <a:rPr a:lang="zh-CN"/>
              <a:t>04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系统整体架构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四层架构设计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146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97280" y="2862072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表现层（Presentation）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73552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微信小程序端 + Web管理端，WXML/WXSS/JS渲染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21024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97280" y="3968496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接口层（API Gateway）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79976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FastAPI构建RESTful API，JWT认证，请求路由分发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27448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97280" y="50749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业务逻辑层（Business Logic）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4864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推荐引擎 / AI数字人 / 知识图谱 / 内容治理 / 社区互动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833872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97280" y="6181344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数据层（Data）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592824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SQLite关系数据 + Neo4j知识图谱 + LLM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365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A7A8A"/>
                </a:solidFill>
                <a:latin typeface="Consolas"/>
              </a:defRPr>
            </a:pPr>
            <a:r>
              <a:rPr a:lang="zh-CN"/>
              <a:t>04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推荐模块设计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CRS会话式推荐三阶段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146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97280" y="2862072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C41E3A"/>
                </a:solidFill>
                <a:latin typeface="Source Han Serif SC"/>
              </a:defRPr>
            </a:pPr>
            <a:r>
              <a:rPr a:lang="zh-CN"/>
              <a:t>冷启动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30752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新用户无历史行为时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42232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基于热门内容+分类偏好初始化推荐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489704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用户首次选择兴趣标签触发推荐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855464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97280" y="5202936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C41E3A"/>
                </a:solidFill>
                <a:latin typeface="Source Han Serif SC"/>
              </a:defRPr>
            </a:pPr>
            <a:r>
              <a:rPr a:lang="zh-CN"/>
              <a:t>混合推荐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071616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结合协同过滤与内容特征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483096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用户画像+行为记录+场景信号综合计算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830568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ASK追问机制收集隐性偏好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7196328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097280" y="754380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C41E3A"/>
                </a:solidFill>
                <a:latin typeface="Source Han Serif SC"/>
              </a:defRPr>
            </a:pPr>
            <a:r>
              <a:rPr a:lang="zh-CN"/>
              <a:t>精准推荐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84124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CRS对话反馈持续优化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882396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推荐反馈→策略调整→延伸推荐→行动清单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365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A7A8A"/>
                </a:solidFill>
                <a:latin typeface="Consolas"/>
              </a:defRPr>
            </a:pPr>
            <a:r>
              <a:rPr a:lang="zh-CN"/>
              <a:t>04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AI数字人设计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AI数字人'黑塔'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146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97280" y="2862072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多轮问答能力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73552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基于LLM+知识图谱，理解非遗领域问题并生成回答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21024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97280" y="3968496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语音播报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79976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TTS文字转语音，支持方言与普通话切换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27448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97280" y="50749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CRS状态显示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4864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实时展示推荐推理过程，增强透明度与信任感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833872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97280" y="6181344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延伸推荐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592824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对话中识别兴趣点，主动推送相关非遗内容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940296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97280" y="7287768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行动清单生成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7699248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根据对话内容生成可执行的学习/体验建议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365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A7A8A"/>
                </a:solidFill>
                <a:latin typeface="Consolas"/>
              </a:defRPr>
            </a:pPr>
            <a:r>
              <a:rPr a:lang="zh-CN"/>
              <a:t>04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知识图谱与数据库设计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知识图谱 &amp; 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接口设计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103120"/>
            <a:ext cx="12700" cy="3840480"/>
          </a:xfrm>
          <a:prstGeom prst="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知识图谱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Neo4j图数据库存储非遗实体关系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90672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节点：非遗项目、传承人、技艺、地区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38144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边：传承关系、地域关联、技艺相似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85616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支撑AI数字人语义理解与推荐推理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33088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97280" y="44805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核心数据表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4632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用户表（偏好、画像）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93792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非遗内容表（分类、标签）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541264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活动表（时间、地点、名额）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888736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帖子/评论表（社区互动）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236208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对话记录表（CRS会话历史）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3774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数据库设计原则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7432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SQLite轻量部署，零配置运维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090672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SQLAlchemy ORM统一数据访问层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438144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外键约束保证数据一致性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785616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索引优化高频查询性能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133088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583680" y="44805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接口设计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84632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RESTful API规范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193792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JWT Token认证鉴权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541264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OpenAPI自动文档生成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888736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统一响应格式与错误码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6236208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请求频率限制与日志记录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365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A7A8A"/>
                </a:solidFill>
                <a:latin typeface="Consolas"/>
              </a:defRPr>
            </a:pPr>
            <a:r>
              <a:rPr a:lang="zh-CN"/>
              <a:t>05 系统实现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小程序端功能模块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首页模块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146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轮播推荐、分类导航、热门内容、活动入口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62072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97280" y="3209544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非遗内容模块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12464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分类浏览、详情页、搜索筛选、收藏分享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59936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97280" y="4407408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活动报名模块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910328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活动列表、在线报名、签到打卡、名额管理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2578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97280" y="5605272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社区讨论模块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108192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帖子发布、评论互动、点赞收藏、兴趣圈子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455664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097280" y="6803136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用户中心模块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7306056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偏好设置、浏览历史、收藏关注、消息通知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365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A7A8A"/>
                </a:solidFill>
                <a:latin typeface="Consolas"/>
              </a:defRPr>
            </a:pPr>
            <a:r>
              <a:rPr a:lang="zh-CN"/>
              <a:t>05 系统实现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AI数字人模块实现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9875520" cy="6400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8483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对话界面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084832"/>
            <a:ext cx="6858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聊天气泡式交互，支持文字输入与语音识别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88920"/>
            <a:ext cx="9875520" cy="6400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6207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语音播报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862072"/>
            <a:ext cx="6858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TTS引擎将回答转为语音，可调节语速音色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566160"/>
            <a:ext cx="9875520" cy="6400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3931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CRS状态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639312"/>
            <a:ext cx="6858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可视化展示推荐推理路径与置信度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343400"/>
            <a:ext cx="9875520" cy="6400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41655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延伸推荐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416552"/>
            <a:ext cx="6858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对话中智能插入相关非遗内容卡片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5120640"/>
            <a:ext cx="9875520" cy="6400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19379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行动清单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193792"/>
            <a:ext cx="6858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一键生成学习计划与体验活动推荐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61722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A4A5A"/>
                </a:solidFill>
                <a:latin typeface="Source Han Sans SC"/>
              </a:defRPr>
            </a:pPr>
            <a:r>
              <a:rPr a:lang="zh-CN"/>
              <a:t>技术实现：LLM API + 提示工程 + 知识图谱查询 + TTS + 前端状态管理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365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A7A8A"/>
                </a:solidFill>
                <a:latin typeface="Consolas"/>
              </a:defRPr>
            </a:pPr>
            <a:r>
              <a:rPr a:lang="zh-CN"/>
              <a:t>05 系统实现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Web管理端功能模块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内容 &amp; 运营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用户 &amp; 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103120"/>
            <a:ext cx="12700" cy="3840480"/>
          </a:xfrm>
          <a:prstGeom prst="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内容管理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非遗内容CRUD、分类标签管理、上下架控制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90672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97280" y="3438144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活动管理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03904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活动发布编辑、报名审核、签到管理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51376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97280" y="449884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帖子管理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64608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社区帖子审核、评论管理、违规处理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用户管理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7432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用户列表、角色权限、封禁解封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090672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583680" y="3438144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统计模块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803904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访问量、活跃度、推荐效果、内容热度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151376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583680" y="449884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知识库管理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864608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知识图谱节点编辑、关系维护、语料导入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365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A7A8A"/>
                </a:solidFill>
                <a:latin typeface="Consolas"/>
              </a:defRPr>
            </a:pPr>
            <a:r>
              <a:rPr a:lang="zh-CN"/>
              <a:t>06 系统测试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系统测试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功能测试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9601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全部核心功能通过，覆盖用户登录、内容浏览、AI对话、推荐、活动报名、社区互动等场景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性能测试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03320"/>
            <a:ext cx="9601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API平均响应&lt;200ms，并发50用户无异常，页面加载&lt;2s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兼容性测试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92040"/>
            <a:ext cx="9601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iOS/Android双端适配，主流机型与微信版本均正常运行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669280"/>
            <a:ext cx="9875520" cy="12700"/>
          </a:xfrm>
          <a:prstGeom prst="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8521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测试工具：Postman / Chrome DevTools / 微信开发者工具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365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A7A8A"/>
                </a:solidFill>
                <a:latin typeface="Consolas"/>
              </a:defRPr>
            </a:pPr>
            <a:r>
              <a:rPr a:lang="zh-CN"/>
              <a:t>07 实验与分析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实验与分析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AI对话质量评估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相关性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5603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回答与问题的语义相关程度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准确性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0175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非遗知识的事实正确性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流畅性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4747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语言表达的自然与连贯程度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41E3A"/>
                </a:solidFill>
                <a:latin typeface="Source Han Sans SC"/>
              </a:defRPr>
            </a:pPr>
            <a:r>
              <a:rPr a:lang="zh-CN"/>
              <a:t>有用性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9319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回答对用户实际需求的满足程度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实验环境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2120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数据集：自建非遗知识库 + 真实用户对话记录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53212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评估方法：人工标注 + 自动指标（BLEU/ROUGE）结合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365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A7A8A"/>
                </a:solidFill>
                <a:latin typeface="Consolas"/>
              </a:defRPr>
            </a:pPr>
            <a:r>
              <a:rPr a:lang="zh-CN"/>
              <a:t>08 结论与展望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结论与展望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主要成果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1460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构建了基于CRS推荐与AI数字人的非遗文化传播系统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62072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实现冷启动→混合推荐→精准推荐的推荐策略过渡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9544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设计AI数字人'黑塔'，支持多轮问答、语音播报、延伸推荐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57016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集成知识图谱，提升AI对话的领域理解能力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04488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以微信小程序为载体，降低非遗传播触达门槛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5196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97280" y="4599432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56E"/>
                </a:solidFill>
                <a:latin typeface="Source Han Sans SC"/>
              </a:defRPr>
            </a:pPr>
            <a:r>
              <a:rPr a:lang="zh-CN"/>
              <a:t>未来展望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102352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引入更多非遗门类的知识图谱数据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449824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优化CRS推荐算法，提升冷启动阶段推荐精度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797296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增强AI数字人的情感表达与多模态交互能力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144768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拓展AR/VR沉浸式非遗体验场景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600" b="1">
                <a:solidFill>
                  <a:srgbClr val="F0F0F0"/>
                </a:solidFill>
                <a:latin typeface="Source Han Serif SC"/>
              </a:defRPr>
            </a:pPr>
            <a:r>
              <a:rPr a:lang="zh-CN"/>
              <a:t>感谢聆听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840480"/>
            <a:ext cx="3657600" cy="38100"/>
          </a:xfrm>
          <a:prstGeom prst="rect">
            <a:avLst/>
          </a:prstGeom>
          <a:gradFill rotWithShape="1">
            <a:gsLst>
              <a:gs pos="0">
                <a:srgbClr val="C41E3A"/>
              </a:gs>
              <a:gs pos="100000">
                <a:srgbClr val="D4A5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7A7A8A"/>
                </a:solidFill>
                <a:latin typeface="Source Han Sans SC"/>
              </a:defRPr>
            </a:pPr>
            <a:r>
              <a:rPr a:lang="zh-CN"/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4A4A5A"/>
                </a:solidFill>
                <a:latin typeface="Source Han Sans SC"/>
              </a:defRPr>
            </a:pPr>
            <a:r>
              <a:rPr a:lang="zh-CN"/>
              <a:t>答辩人：王子轩 | 指导教师：徐龙琴 教授 / 高静 高级工程师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40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A4A5A"/>
                </a:solidFill>
                <a:latin typeface="Source Han Sans SC"/>
              </a:defRPr>
            </a:pPr>
            <a:r>
              <a:rPr a:lang="zh-CN"/>
              <a:t>仲恺农业工程学院 · 信息科学与技术学院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4A4A5A"/>
                </a:solidFill>
                <a:latin typeface="Consolas"/>
              </a:defRPr>
            </a:pPr>
            <a:r>
              <a:rPr a:lang="zh-CN"/>
              <a:t>20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