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4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9728" y="0"/>
            <a:ext cx="36576" cy="6858000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97280" y="1371600"/>
            <a:ext cx="36576" cy="4114800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645920" y="13716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D4A537"/>
                </a:solidFill>
                <a:latin typeface="Source Han Serif SC"/>
              </a:defRPr>
            </a:pPr>
            <a:r>
              <a:t>毕业设计答辩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45920" y="192024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FFFFFF"/>
                </a:solidFill>
                <a:latin typeface="Source Han Serif SC"/>
              </a:defRPr>
            </a:pPr>
            <a:r>
              <a:t>基于CRS推荐与AI数字人的</a:t>
            </a:r>
            <a:br/>
            <a:r>
              <a:t>非遗文化传播系统实现</a:t>
            </a:r>
          </a:p>
        </p:txBody>
      </p:sp>
      <p:sp>
        <p:nvSpPr>
          <p:cNvPr id="7" name="Rectangle 6"/>
          <p:cNvSpPr/>
          <p:nvPr/>
        </p:nvSpPr>
        <p:spPr>
          <a:xfrm>
            <a:off x="1645920" y="3566160"/>
            <a:ext cx="2743200" cy="18288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45920" y="38404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0">
                <a:solidFill>
                  <a:srgbClr val="9A8C7E"/>
                </a:solidFill>
                <a:latin typeface="Source Han Sans SC"/>
              </a:rPr>
              <a:t>答辩人  </a:t>
            </a:r>
            <a:r>
              <a:rPr sz="1400" b="1">
                <a:solidFill>
                  <a:srgbClr val="FFFFFF"/>
                </a:solidFill>
                <a:latin typeface="Source Han Sans SC"/>
              </a:rPr>
              <a:t>王子轩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4224528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0">
                <a:solidFill>
                  <a:srgbClr val="9A8C7E"/>
                </a:solidFill>
                <a:latin typeface="Source Han Sans SC"/>
              </a:rPr>
              <a:t>学    号  </a:t>
            </a:r>
            <a:r>
              <a:rPr sz="1400" b="1">
                <a:solidFill>
                  <a:srgbClr val="FFFFFF"/>
                </a:solidFill>
                <a:latin typeface="Source Han Sans SC"/>
              </a:rPr>
              <a:t>202210274225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4608576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0">
                <a:solidFill>
                  <a:srgbClr val="9A8C7E"/>
                </a:solidFill>
                <a:latin typeface="Source Han Sans SC"/>
              </a:rPr>
              <a:t>专    业  </a:t>
            </a:r>
            <a:r>
              <a:rPr sz="1400" b="1">
                <a:solidFill>
                  <a:srgbClr val="FFFFFF"/>
                </a:solidFill>
                <a:latin typeface="Source Han Sans SC"/>
              </a:rPr>
              <a:t>数据科学与大数据技术222班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20" y="4992624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0">
                <a:solidFill>
                  <a:srgbClr val="9A8C7E"/>
                </a:solidFill>
                <a:latin typeface="Source Han Sans SC"/>
              </a:rPr>
              <a:t>学    院  </a:t>
            </a:r>
            <a:r>
              <a:rPr sz="1400" b="1">
                <a:solidFill>
                  <a:srgbClr val="FFFFFF"/>
                </a:solidFill>
                <a:latin typeface="Source Han Sans SC"/>
              </a:rPr>
              <a:t>信息科学与技术学院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5920" y="5376672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0">
                <a:solidFill>
                  <a:srgbClr val="9A8C7E"/>
                </a:solidFill>
                <a:latin typeface="Source Han Sans SC"/>
              </a:rPr>
              <a:t>指导教师  </a:t>
            </a:r>
            <a:r>
              <a:rPr sz="1400" b="1">
                <a:solidFill>
                  <a:srgbClr val="FFFFFF"/>
                </a:solidFill>
                <a:latin typeface="Source Han Sans SC"/>
              </a:rPr>
              <a:t>徐龙琴 教授  高静 高级工程师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45920" y="59436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D4A537"/>
                </a:solidFill>
                <a:latin typeface="Source Han Serif SC"/>
              </a:defRPr>
            </a:pPr>
            <a:r>
              <a:t>仲恺农业工程学院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45920" y="63093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A8C7E"/>
                </a:solidFill>
                <a:latin typeface="Source Han Serif SC"/>
              </a:defRPr>
            </a:pPr>
            <a:r>
              <a:t>2026.05.09</a:t>
            </a:r>
          </a:p>
        </p:txBody>
      </p:sp>
      <p:sp>
        <p:nvSpPr>
          <p:cNvPr id="15" name="Diamond 14"/>
          <p:cNvSpPr/>
          <p:nvPr/>
        </p:nvSpPr>
        <p:spPr>
          <a:xfrm>
            <a:off x="10515600" y="914400"/>
            <a:ext cx="274320" cy="274320"/>
          </a:xfrm>
          <a:prstGeom prst="diamond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Diamond 15"/>
          <p:cNvSpPr/>
          <p:nvPr/>
        </p:nvSpPr>
        <p:spPr>
          <a:xfrm>
            <a:off x="9326880" y="5303520"/>
            <a:ext cx="182880" cy="182880"/>
          </a:xfrm>
          <a:prstGeom prst="diamond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Diamond 16"/>
          <p:cNvSpPr/>
          <p:nvPr/>
        </p:nvSpPr>
        <p:spPr>
          <a:xfrm>
            <a:off x="10972800" y="4114800"/>
            <a:ext cx="137160" cy="137160"/>
          </a:xfrm>
          <a:prstGeom prst="diamond">
            <a:avLst/>
          </a:prstGeom>
          <a:solidFill>
            <a:srgbClr val="5544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 rot="900000">
            <a:off x="8686800" y="1828800"/>
            <a:ext cx="3200400" cy="3200400"/>
          </a:xfrm>
          <a:prstGeom prst="ellipse">
            <a:avLst/>
          </a:prstGeom>
          <a:solidFill>
            <a:srgbClr val="E8E0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430000" y="0"/>
            <a:ext cx="761695" cy="36576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2155119" y="0"/>
            <a:ext cx="36576" cy="73152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36576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C41E3A"/>
                </a:solidFill>
                <a:latin typeface="Source Han Serif SC"/>
              </a:defRPr>
            </a:pPr>
            <a:r>
              <a:t>CONTENTS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8580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A1410"/>
                </a:solidFill>
                <a:latin typeface="Source Han Serif SC"/>
              </a:defRPr>
            </a:pPr>
            <a:r>
              <a:t>汇报提纲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188720"/>
            <a:ext cx="1828800" cy="18288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A8C7E"/>
                </a:solidFill>
                <a:latin typeface="Source Han Serif SC"/>
              </a:defRPr>
            </a:pPr>
            <a:r>
              <a:t>2 / 22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1463040"/>
            <a:ext cx="457200" cy="45720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50876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ource Han Serif SC"/>
              </a:defRPr>
            </a:pPr>
            <a: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1481328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1A1410"/>
                </a:solidFill>
                <a:latin typeface="Source Han Serif SC"/>
              </a:defRPr>
            </a:pPr>
            <a:r>
              <a:t>研究背景与意义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175564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A8C7E"/>
                </a:solidFill>
                <a:latin typeface="Source Han Sans SC"/>
              </a:defRPr>
            </a:pPr>
            <a:r>
              <a:t>非遗数字化传播的时代需求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2103120"/>
            <a:ext cx="457200" cy="457200"/>
          </a:xfrm>
          <a:prstGeom prst="rect">
            <a:avLst/>
          </a:prstGeom>
          <a:solidFill>
            <a:srgbClr val="2C2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214884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ource Han Serif SC"/>
              </a:defRPr>
            </a:pPr>
            <a: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2121408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1A1410"/>
                </a:solidFill>
                <a:latin typeface="Source Han Serif SC"/>
              </a:defRPr>
            </a:pPr>
            <a:r>
              <a:t>国内外研究现状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239572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A8C7E"/>
                </a:solidFill>
                <a:latin typeface="Source Han Sans SC"/>
              </a:defRPr>
            </a:pPr>
            <a:r>
              <a:t>CRS、AI数字人研究进展与不足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2743200"/>
            <a:ext cx="457200" cy="45720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278892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ource Han Serif SC"/>
              </a:defRPr>
            </a:pPr>
            <a: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2761488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1A1410"/>
                </a:solidFill>
                <a:latin typeface="Source Han Serif SC"/>
              </a:defRPr>
            </a:pPr>
            <a:r>
              <a:t>相关技术与理论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0358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A8C7E"/>
                </a:solidFill>
                <a:latin typeface="Source Han Sans SC"/>
              </a:defRPr>
            </a:pPr>
            <a:r>
              <a:t>FastAPI、LLM、CRS核心理论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1520" y="3383279"/>
            <a:ext cx="457200" cy="457200"/>
          </a:xfrm>
          <a:prstGeom prst="rect">
            <a:avLst/>
          </a:prstGeom>
          <a:solidFill>
            <a:srgbClr val="2C2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3428999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ource Han Serif SC"/>
              </a:defRPr>
            </a:pPr>
            <a: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71600" y="3401567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1A1410"/>
                </a:solidFill>
                <a:latin typeface="Source Han Serif SC"/>
              </a:defRPr>
            </a:pPr>
            <a:r>
              <a:t>系统分析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3675887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A8C7E"/>
                </a:solidFill>
                <a:latin typeface="Source Han Sans SC"/>
              </a:defRPr>
            </a:pPr>
            <a:r>
              <a:t>需求分析、可行性、数据流程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1520" y="4023360"/>
            <a:ext cx="457200" cy="45720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1520" y="406908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ource Han Serif SC"/>
              </a:defRPr>
            </a:pPr>
            <a:r>
              <a:t>05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71600" y="4041648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1A1410"/>
                </a:solidFill>
                <a:latin typeface="Source Han Serif SC"/>
              </a:defRPr>
            </a:pPr>
            <a:r>
              <a:t>系统设计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431596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A8C7E"/>
                </a:solidFill>
                <a:latin typeface="Source Han Sans SC"/>
              </a:defRPr>
            </a:pPr>
            <a:r>
              <a:t>架构、推荐模块、AI数字人、知识图谱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31520" y="4663440"/>
            <a:ext cx="457200" cy="457200"/>
          </a:xfrm>
          <a:prstGeom prst="rect">
            <a:avLst/>
          </a:prstGeom>
          <a:solidFill>
            <a:srgbClr val="2C2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31520" y="470916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ource Han Serif SC"/>
              </a:defRPr>
            </a:pPr>
            <a:r>
              <a:t>06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71600" y="4681728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1A1410"/>
                </a:solidFill>
                <a:latin typeface="Source Han Serif SC"/>
              </a:defRPr>
            </a:pPr>
            <a:r>
              <a:t>系统实现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371600" y="495604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A8C7E"/>
                </a:solidFill>
                <a:latin typeface="Source Han Sans SC"/>
              </a:defRPr>
            </a:pPr>
            <a:r>
              <a:t>小程序端与管理端功能展示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31520" y="5303519"/>
            <a:ext cx="457200" cy="45720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31520" y="5349239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ource Han Serif SC"/>
              </a:defRPr>
            </a:pPr>
            <a:r>
              <a:t>07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71600" y="5321807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1A1410"/>
                </a:solidFill>
                <a:latin typeface="Source Han Serif SC"/>
              </a:defRPr>
            </a:pPr>
            <a:r>
              <a:t>系统测试与实验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371600" y="5596127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A8C7E"/>
                </a:solidFill>
                <a:latin typeface="Source Han Sans SC"/>
              </a:defRPr>
            </a:pPr>
            <a:r>
              <a:t>功能/性能/兼容性测试与实验分析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31520" y="5943600"/>
            <a:ext cx="457200" cy="457200"/>
          </a:xfrm>
          <a:prstGeom prst="rect">
            <a:avLst/>
          </a:prstGeom>
          <a:solidFill>
            <a:srgbClr val="2C2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31520" y="598932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ource Han Serif SC"/>
              </a:defRPr>
            </a:pPr>
            <a:r>
              <a:t>08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371600" y="5961888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1A1410"/>
                </a:solidFill>
                <a:latin typeface="Source Han Serif SC"/>
              </a:defRPr>
            </a:pPr>
            <a:r>
              <a:t>结论与展望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371600" y="62362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A8C7E"/>
                </a:solidFill>
                <a:latin typeface="Source Han Sans SC"/>
              </a:defRPr>
            </a:pPr>
            <a:r>
              <a:t>研究成果总结与未来方向</a:t>
            </a:r>
          </a:p>
        </p:txBody>
      </p:sp>
      <p:sp>
        <p:nvSpPr>
          <p:cNvPr id="41" name="Oval 40"/>
          <p:cNvSpPr/>
          <p:nvPr/>
        </p:nvSpPr>
        <p:spPr>
          <a:xfrm rot="900000">
            <a:off x="7772400" y="914400"/>
            <a:ext cx="4572000" cy="4572000"/>
          </a:xfrm>
          <a:prstGeom prst="ellipse">
            <a:avLst/>
          </a:prstGeom>
          <a:solidFill>
            <a:srgbClr val="E8E0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20040"/>
            <a:ext cx="54864" cy="64008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2743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C41E3A"/>
                </a:solidFill>
                <a:latin typeface="Source Han Serif SC"/>
              </a:defRPr>
            </a:pPr>
            <a: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54864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A1410"/>
                </a:solidFill>
                <a:latin typeface="Source Han Serif SC"/>
              </a:defRPr>
            </a:pPr>
            <a:r>
              <a:t>研究背景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9601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A8C7E"/>
                </a:solidFill>
                <a:latin typeface="Source Han Sans SC"/>
              </a:defRPr>
            </a:pPr>
            <a:r>
              <a:t>非遗数字化传播的时代需求与现有平台不足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234440"/>
            <a:ext cx="11247120" cy="7315"/>
          </a:xfrm>
          <a:prstGeom prst="rect">
            <a:avLst/>
          </a:prstGeom>
          <a:solidFill>
            <a:srgbClr val="F0E4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0" y="0"/>
            <a:ext cx="761695" cy="36576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2155119" y="0"/>
            <a:ext cx="36576" cy="73152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A8C7E"/>
                </a:solidFill>
                <a:latin typeface="Source Han Serif SC"/>
              </a:defRPr>
            </a:pPr>
            <a:r>
              <a:t>3 / 22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1371600"/>
            <a:ext cx="5486400" cy="48463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F0E4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150876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C41E3A"/>
                </a:solidFill>
                <a:latin typeface="Source Han Serif SC"/>
              </a:defRPr>
            </a:pPr>
            <a:r>
              <a:t>时代需求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011680"/>
            <a:ext cx="49377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100" b="0">
                <a:solidFill>
                  <a:srgbClr val="C41E3A"/>
                </a:solidFill>
                <a:latin typeface="Source Han Sans SC"/>
              </a:rPr>
              <a:t>◆ </a:t>
            </a:r>
            <a:r>
              <a:rPr sz="1300" b="0">
                <a:solidFill>
                  <a:srgbClr val="1A1410"/>
                </a:solidFill>
                <a:latin typeface="Source Han Sans SC"/>
              </a:rPr>
              <a:t>国家级非遗代表性项目1000+，联合国非遗名录数量世界第一</a:t>
            </a:r>
          </a:p>
          <a:p>
            <a:pPr>
              <a:spcAft>
                <a:spcPts val="800"/>
              </a:spcAft>
            </a:pPr>
            <a:r>
              <a:rPr sz="1100" b="0">
                <a:solidFill>
                  <a:srgbClr val="C41E3A"/>
                </a:solidFill>
                <a:latin typeface="Source Han Sans SC"/>
              </a:rPr>
              <a:t>◆ </a:t>
            </a:r>
            <a:r>
              <a:rPr sz="1300" b="0">
                <a:solidFill>
                  <a:srgbClr val="1A1410"/>
                </a:solidFill>
                <a:latin typeface="Source Han Sans SC"/>
              </a:rPr>
              <a:t>短视频化：抖音非遗视频超2.2亿条，138亿次点赞</a:t>
            </a:r>
          </a:p>
          <a:p>
            <a:pPr>
              <a:spcAft>
                <a:spcPts val="800"/>
              </a:spcAft>
            </a:pPr>
            <a:r>
              <a:rPr sz="1100" b="0">
                <a:solidFill>
                  <a:srgbClr val="C41E3A"/>
                </a:solidFill>
                <a:latin typeface="Source Han Sans SC"/>
              </a:rPr>
              <a:t>◆ </a:t>
            </a:r>
            <a:r>
              <a:rPr sz="1300" b="0">
                <a:solidFill>
                  <a:srgbClr val="1A1410"/>
                </a:solidFill>
                <a:latin typeface="Source Han Sans SC"/>
              </a:rPr>
              <a:t>资源数字化：动画、游戏、产品设计需数字化非遗素材</a:t>
            </a:r>
          </a:p>
          <a:p>
            <a:pPr>
              <a:spcAft>
                <a:spcPts val="800"/>
              </a:spcAft>
            </a:pPr>
            <a:r>
              <a:rPr sz="1100" b="0">
                <a:solidFill>
                  <a:srgbClr val="C41E3A"/>
                </a:solidFill>
                <a:latin typeface="Source Han Sans SC"/>
              </a:rPr>
              <a:t>◆ </a:t>
            </a:r>
            <a:r>
              <a:rPr sz="1300" b="0">
                <a:solidFill>
                  <a:srgbClr val="1A1410"/>
                </a:solidFill>
                <a:latin typeface="Source Han Sans SC"/>
              </a:rPr>
              <a:t>体验化转型：非遗从博物馆附属走向独立活动产品</a:t>
            </a:r>
          </a:p>
          <a:p>
            <a:pPr>
              <a:spcAft>
                <a:spcPts val="800"/>
              </a:spcAft>
            </a:pPr>
            <a:r>
              <a:rPr sz="1100" b="0">
                <a:solidFill>
                  <a:srgbClr val="C41E3A"/>
                </a:solidFill>
                <a:latin typeface="Source Han Sans SC"/>
              </a:rPr>
              <a:t>◆ </a:t>
            </a:r>
            <a:r>
              <a:rPr sz="1300" b="0">
                <a:solidFill>
                  <a:srgbClr val="1A1410"/>
                </a:solidFill>
                <a:latin typeface="Source Han Sans SC"/>
              </a:rPr>
              <a:t>传播重心从专业领域转向大众视野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60" y="1371600"/>
            <a:ext cx="5486400" cy="4846320"/>
          </a:xfrm>
          <a:prstGeom prst="roundRect">
            <a:avLst/>
          </a:prstGeom>
          <a:solidFill>
            <a:srgbClr val="1A14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0" y="150876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D4A537"/>
                </a:solidFill>
                <a:latin typeface="Source Han Serif SC"/>
              </a:defRPr>
            </a:pPr>
            <a:r>
              <a:t>现有平台五大不足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2011680"/>
            <a:ext cx="49377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300" b="1">
                <a:solidFill>
                  <a:srgbClr val="C41E3A"/>
                </a:solidFill>
                <a:latin typeface="Source Han Sans SC"/>
              </a:rPr>
              <a:t>推荐能力弱  </a:t>
            </a:r>
            <a:r>
              <a:rPr sz="1300" b="0">
                <a:solidFill>
                  <a:srgbClr val="FFFFFF"/>
                </a:solidFill>
                <a:latin typeface="Source Han Sans SC"/>
              </a:rPr>
              <a:t>热门排序为主，无个性化推荐</a:t>
            </a:r>
          </a:p>
          <a:p>
            <a:pPr>
              <a:spcAft>
                <a:spcPts val="1000"/>
              </a:spcAft>
            </a:pPr>
            <a:r>
              <a:rPr sz="1300" b="1">
                <a:solidFill>
                  <a:srgbClr val="C41E3A"/>
                </a:solidFill>
                <a:latin typeface="Source Han Sans SC"/>
              </a:rPr>
              <a:t>交互方式单一  </a:t>
            </a:r>
            <a:r>
              <a:rPr sz="1300" b="0">
                <a:solidFill>
                  <a:srgbClr val="FFFFFF"/>
                </a:solidFill>
                <a:latin typeface="Source Han Sans SC"/>
              </a:rPr>
              <a:t>图文展示为主，缺少语音对话交互</a:t>
            </a:r>
          </a:p>
          <a:p>
            <a:pPr>
              <a:spcAft>
                <a:spcPts val="1000"/>
              </a:spcAft>
            </a:pPr>
            <a:r>
              <a:rPr sz="1300" b="1">
                <a:solidFill>
                  <a:srgbClr val="C41E3A"/>
                </a:solidFill>
                <a:latin typeface="Source Han Sans SC"/>
              </a:rPr>
              <a:t>场景感知缺失  </a:t>
            </a:r>
            <a:r>
              <a:rPr sz="1300" b="0">
                <a:solidFill>
                  <a:srgbClr val="FFFFFF"/>
                </a:solidFill>
                <a:latin typeface="Source Han Sans SC"/>
              </a:rPr>
              <a:t>不能捕捉时间地点文化情境信号</a:t>
            </a:r>
          </a:p>
          <a:p>
            <a:pPr>
              <a:spcAft>
                <a:spcPts val="1000"/>
              </a:spcAft>
            </a:pPr>
            <a:r>
              <a:rPr sz="1300" b="1">
                <a:solidFill>
                  <a:srgbClr val="C41E3A"/>
                </a:solidFill>
                <a:latin typeface="Source Han Sans SC"/>
              </a:rPr>
              <a:t>冷启动严重  </a:t>
            </a:r>
            <a:r>
              <a:rPr sz="1300" b="0">
                <a:solidFill>
                  <a:srgbClr val="FFFFFF"/>
                </a:solidFill>
                <a:latin typeface="Source Han Sans SC"/>
              </a:rPr>
              <a:t>用户行为稀疏，新用户流失率高</a:t>
            </a:r>
          </a:p>
          <a:p>
            <a:pPr>
              <a:spcAft>
                <a:spcPts val="1000"/>
              </a:spcAft>
            </a:pPr>
            <a:r>
              <a:rPr sz="1300" b="1">
                <a:solidFill>
                  <a:srgbClr val="C41E3A"/>
                </a:solidFill>
                <a:latin typeface="Source Han Sans SC"/>
              </a:rPr>
              <a:t>推荐不可解释  </a:t>
            </a:r>
            <a:r>
              <a:rPr sz="1300" b="0">
                <a:solidFill>
                  <a:srgbClr val="FFFFFF"/>
                </a:solidFill>
                <a:latin typeface="Source Han Sans SC"/>
              </a:rPr>
              <a:t>不给出推荐理由，影响信任度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20040"/>
            <a:ext cx="54864" cy="64008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2743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C41E3A"/>
                </a:solidFill>
                <a:latin typeface="Source Han Serif SC"/>
              </a:defRPr>
            </a:pPr>
            <a: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54864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A1410"/>
                </a:solidFill>
                <a:latin typeface="Source Han Serif SC"/>
              </a:defRPr>
            </a:pPr>
            <a:r>
              <a:t>研究意义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9601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A8C7E"/>
                </a:solidFill>
                <a:latin typeface="Source Han Sans SC"/>
              </a:defRPr>
            </a:pPr>
            <a:r>
              <a:t>理论创新与实践价值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234440"/>
            <a:ext cx="11247120" cy="7315"/>
          </a:xfrm>
          <a:prstGeom prst="rect">
            <a:avLst/>
          </a:prstGeom>
          <a:solidFill>
            <a:srgbClr val="F0E4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0" y="0"/>
            <a:ext cx="761695" cy="36576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2155119" y="0"/>
            <a:ext cx="36576" cy="73152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A8C7E"/>
                </a:solidFill>
                <a:latin typeface="Source Han Serif SC"/>
              </a:defRPr>
            </a:pPr>
            <a:r>
              <a:t>4 / 22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1371600"/>
            <a:ext cx="5303520" cy="48463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F0E4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1371600"/>
            <a:ext cx="5303520" cy="45720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141732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ource Han Serif SC"/>
              </a:defRPr>
            </a:pPr>
            <a:r>
              <a:t>理论意义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2011680"/>
            <a:ext cx="47548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100" b="0">
                <a:solidFill>
                  <a:srgbClr val="C41E3A"/>
                </a:solidFill>
                <a:latin typeface="Source Han Sans SC"/>
              </a:rPr>
              <a:t>◆ </a:t>
            </a:r>
            <a:r>
              <a:rPr sz="1300" b="0">
                <a:solidFill>
                  <a:srgbClr val="1A1410"/>
                </a:solidFill>
                <a:latin typeface="Source Han Sans SC"/>
              </a:rPr>
              <a:t>将CRS对话推荐思想引入非遗文化传播场景，探索SAUR交互模式在文化领域的适用性</a:t>
            </a:r>
          </a:p>
          <a:p>
            <a:pPr>
              <a:spcAft>
                <a:spcPts val="1000"/>
              </a:spcAft>
            </a:pPr>
            <a:r>
              <a:rPr sz="1100" b="0">
                <a:solidFill>
                  <a:srgbClr val="C41E3A"/>
                </a:solidFill>
                <a:latin typeface="Source Han Sans SC"/>
              </a:rPr>
              <a:t>◆ </a:t>
            </a:r>
            <a:r>
              <a:rPr sz="1300" b="0">
                <a:solidFill>
                  <a:srgbClr val="1A1410"/>
                </a:solidFill>
                <a:latin typeface="Source Han Sans SC"/>
              </a:rPr>
              <a:t>提出以CRS为引导、知识图谱为增强、AI数字人为载体的智能化服务框架</a:t>
            </a:r>
          </a:p>
          <a:p>
            <a:pPr>
              <a:spcAft>
                <a:spcPts val="1000"/>
              </a:spcAft>
            </a:pPr>
            <a:r>
              <a:rPr sz="1100" b="0">
                <a:solidFill>
                  <a:srgbClr val="C41E3A"/>
                </a:solidFill>
                <a:latin typeface="Source Han Sans SC"/>
              </a:rPr>
              <a:t>◆ </a:t>
            </a:r>
            <a:r>
              <a:rPr sz="1300" b="0">
                <a:solidFill>
                  <a:srgbClr val="1A1410"/>
                </a:solidFill>
                <a:latin typeface="Source Han Sans SC"/>
              </a:rPr>
              <a:t>构建三维置信度评估模型，实现冷启动到精准推荐的渐进收敛</a:t>
            </a:r>
          </a:p>
          <a:p>
            <a:pPr>
              <a:spcAft>
                <a:spcPts val="1000"/>
              </a:spcAft>
            </a:pPr>
            <a:r>
              <a:rPr sz="1100" b="0">
                <a:solidFill>
                  <a:srgbClr val="C41E3A"/>
                </a:solidFill>
                <a:latin typeface="Source Han Sans SC"/>
              </a:rPr>
              <a:t>◆ </a:t>
            </a:r>
            <a:r>
              <a:rPr sz="1300" b="0">
                <a:solidFill>
                  <a:srgbClr val="1A1410"/>
                </a:solidFill>
                <a:latin typeface="Source Han Sans SC"/>
              </a:rPr>
              <a:t>为非遗推荐领域提供可解释的推荐机制设计参考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09360" y="1371600"/>
            <a:ext cx="5303520" cy="48463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F0E4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9360" y="1371600"/>
            <a:ext cx="5303520" cy="457200"/>
          </a:xfrm>
          <a:prstGeom prst="rect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141732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ource Han Serif SC"/>
              </a:defRPr>
            </a:pPr>
            <a:r>
              <a:t>实践意义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2011680"/>
            <a:ext cx="47548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100" b="0">
                <a:solidFill>
                  <a:srgbClr val="4A7C59"/>
                </a:solidFill>
                <a:latin typeface="Source Han Sans SC"/>
              </a:rPr>
              <a:t>◆ </a:t>
            </a:r>
            <a:r>
              <a:rPr sz="1300" b="0">
                <a:solidFill>
                  <a:srgbClr val="1A1410"/>
                </a:solidFill>
                <a:latin typeface="Source Han Sans SC"/>
              </a:rPr>
              <a:t>开发完整的非遗文化传播微信小程序，覆盖浏览、问答、推荐、活动、社区全链路</a:t>
            </a:r>
          </a:p>
          <a:p>
            <a:pPr>
              <a:spcAft>
                <a:spcPts val="1000"/>
              </a:spcAft>
            </a:pPr>
            <a:r>
              <a:rPr sz="1100" b="0">
                <a:solidFill>
                  <a:srgbClr val="4A7C59"/>
                </a:solidFill>
                <a:latin typeface="Source Han Sans SC"/>
              </a:rPr>
              <a:t>◆ </a:t>
            </a:r>
            <a:r>
              <a:rPr sz="1300" b="0">
                <a:solidFill>
                  <a:srgbClr val="1A1410"/>
                </a:solidFill>
                <a:latin typeface="Source Han Sans SC"/>
              </a:rPr>
              <a:t>AI数字人黑塔实现多轮问答、语音播报、CRS状态显示、延伸推荐、行动清单生成</a:t>
            </a:r>
          </a:p>
          <a:p>
            <a:pPr>
              <a:spcAft>
                <a:spcPts val="1000"/>
              </a:spcAft>
            </a:pPr>
            <a:r>
              <a:rPr sz="1100" b="0">
                <a:solidFill>
                  <a:srgbClr val="4A7C59"/>
                </a:solidFill>
                <a:latin typeface="Source Han Sans SC"/>
              </a:rPr>
              <a:t>◆ </a:t>
            </a:r>
            <a:r>
              <a:rPr sz="1300" b="0">
                <a:solidFill>
                  <a:srgbClr val="1A1410"/>
                </a:solidFill>
                <a:latin typeface="Source Han Sans SC"/>
              </a:rPr>
              <a:t>本地知识库优先+大模型回退策略，兼顾知识准确性与语义理解</a:t>
            </a:r>
          </a:p>
          <a:p>
            <a:pPr>
              <a:spcAft>
                <a:spcPts val="1000"/>
              </a:spcAft>
            </a:pPr>
            <a:r>
              <a:rPr sz="1100" b="0">
                <a:solidFill>
                  <a:srgbClr val="4A7C59"/>
                </a:solidFill>
                <a:latin typeface="Source Han Sans SC"/>
              </a:rPr>
              <a:t>◆ </a:t>
            </a:r>
            <a:r>
              <a:rPr sz="1300" b="0">
                <a:solidFill>
                  <a:srgbClr val="1A1410"/>
                </a:solidFill>
                <a:latin typeface="Source Han Sans SC"/>
              </a:rPr>
              <a:t>为非遗数字化传播与个性化服务提供可落地的实践参考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20040"/>
            <a:ext cx="54864" cy="64008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2743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C41E3A"/>
                </a:solidFill>
                <a:latin typeface="Source Han Serif SC"/>
              </a:defRPr>
            </a:pPr>
            <a: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54864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A1410"/>
                </a:solidFill>
                <a:latin typeface="Source Han Serif SC"/>
              </a:defRPr>
            </a:pPr>
            <a:r>
              <a:t>国内外研究现状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9601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A8C7E"/>
                </a:solidFill>
                <a:latin typeface="Source Han Sans SC"/>
              </a:defRPr>
            </a:pPr>
            <a:r>
              <a:t>推荐系统、CRS、大语言模型融合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234440"/>
            <a:ext cx="11247120" cy="7315"/>
          </a:xfrm>
          <a:prstGeom prst="rect">
            <a:avLst/>
          </a:prstGeom>
          <a:solidFill>
            <a:srgbClr val="F0E4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0" y="0"/>
            <a:ext cx="761695" cy="36576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2155119" y="0"/>
            <a:ext cx="36576" cy="73152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A8C7E"/>
                </a:solidFill>
                <a:latin typeface="Source Han Serif SC"/>
              </a:defRPr>
            </a:pPr>
            <a:r>
              <a:t>5 / 22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1371600"/>
            <a:ext cx="3566160" cy="47548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F0E4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1371600"/>
            <a:ext cx="3566160" cy="54864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160020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C41E3A"/>
                </a:solidFill>
                <a:latin typeface="Source Han Serif SC"/>
              </a:defRPr>
            </a:pPr>
            <a:r>
              <a:t>推荐系统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2194560"/>
            <a:ext cx="30175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100" b="0">
                <a:solidFill>
                  <a:srgbClr val="C41E3A"/>
                </a:solidFill>
                <a:latin typeface="Source Han Sans SC"/>
              </a:rPr>
              <a:t>◆ </a:t>
            </a:r>
            <a:r>
              <a:rPr sz="1300" b="0">
                <a:solidFill>
                  <a:srgbClr val="1A1410"/>
                </a:solidFill>
                <a:latin typeface="Source Han Sans SC"/>
              </a:rPr>
              <a:t>协同过滤：依赖历史行为，冷启动突出</a:t>
            </a:r>
          </a:p>
          <a:p>
            <a:pPr>
              <a:spcAft>
                <a:spcPts val="1200"/>
              </a:spcAft>
            </a:pPr>
            <a:r>
              <a:rPr sz="1100" b="0">
                <a:solidFill>
                  <a:srgbClr val="C41E3A"/>
                </a:solidFill>
                <a:latin typeface="Source Han Sans SC"/>
              </a:rPr>
              <a:t>◆ </a:t>
            </a:r>
            <a:r>
              <a:rPr sz="1300" b="0">
                <a:solidFill>
                  <a:srgbClr val="1A1410"/>
                </a:solidFill>
                <a:latin typeface="Source Han Sans SC"/>
              </a:rPr>
              <a:t>内容推荐：特征匹配，多样性不足</a:t>
            </a:r>
          </a:p>
          <a:p>
            <a:pPr>
              <a:spcAft>
                <a:spcPts val="1200"/>
              </a:spcAft>
            </a:pPr>
            <a:r>
              <a:rPr sz="1100" b="0">
                <a:solidFill>
                  <a:srgbClr val="C41E3A"/>
                </a:solidFill>
                <a:latin typeface="Source Han Sans SC"/>
              </a:rPr>
              <a:t>◆ </a:t>
            </a:r>
            <a:r>
              <a:rPr sz="1300" b="0">
                <a:solidFill>
                  <a:srgbClr val="1A1410"/>
                </a:solidFill>
                <a:latin typeface="Source Han Sans SC"/>
              </a:rPr>
              <a:t>混合推荐：融合多源信号，适合稀疏场景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97680" y="1371600"/>
            <a:ext cx="3566160" cy="47548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F0E4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297680" y="1371600"/>
            <a:ext cx="3566160" cy="54864"/>
          </a:xfrm>
          <a:prstGeom prst="rect">
            <a:avLst/>
          </a:prstGeom>
          <a:solidFill>
            <a:srgbClr val="2A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0" y="160020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A3D5C"/>
                </a:solidFill>
                <a:latin typeface="Source Han Serif SC"/>
              </a:defRPr>
            </a:pPr>
            <a:r>
              <a:t>对话推荐CRS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2194560"/>
            <a:ext cx="30175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100" b="0">
                <a:solidFill>
                  <a:srgbClr val="2A3D5C"/>
                </a:solidFill>
                <a:latin typeface="Source Han Sans SC"/>
              </a:rPr>
              <a:t>◆ </a:t>
            </a:r>
            <a:r>
              <a:rPr sz="1300" b="0">
                <a:solidFill>
                  <a:srgbClr val="1A1410"/>
                </a:solidFill>
                <a:latin typeface="Source Han Sans SC"/>
              </a:rPr>
              <a:t>Jannach等：CRS通过多轮交互获取反馈</a:t>
            </a:r>
          </a:p>
          <a:p>
            <a:pPr>
              <a:spcAft>
                <a:spcPts val="1200"/>
              </a:spcAft>
            </a:pPr>
            <a:r>
              <a:rPr sz="1100" b="0">
                <a:solidFill>
                  <a:srgbClr val="2A3D5C"/>
                </a:solidFill>
                <a:latin typeface="Source Han Sans SC"/>
              </a:rPr>
              <a:t>◆ </a:t>
            </a:r>
            <a:r>
              <a:rPr sz="1300" b="0">
                <a:solidFill>
                  <a:srgbClr val="1A1410"/>
                </a:solidFill>
                <a:latin typeface="Source Han Sans SC"/>
              </a:rPr>
              <a:t>赵梦媛等：传统推荐三大缺陷</a:t>
            </a:r>
          </a:p>
          <a:p>
            <a:pPr>
              <a:spcAft>
                <a:spcPts val="1200"/>
              </a:spcAft>
            </a:pPr>
            <a:r>
              <a:rPr sz="1100" b="0">
                <a:solidFill>
                  <a:srgbClr val="2A3D5C"/>
                </a:solidFill>
                <a:latin typeface="Source Han Sans SC"/>
              </a:rPr>
              <a:t>◆ </a:t>
            </a:r>
            <a:r>
              <a:rPr sz="1300" b="0">
                <a:solidFill>
                  <a:srgbClr val="1A1410"/>
                </a:solidFill>
                <a:latin typeface="Source Han Sans SC"/>
              </a:rPr>
              <a:t>Wang等：知识增强提示学习统一框架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38160" y="1371600"/>
            <a:ext cx="3566160" cy="47548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F0E4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138160" y="1371600"/>
            <a:ext cx="3566160" cy="54864"/>
          </a:xfrm>
          <a:prstGeom prst="rect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12480" y="160020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4A7C59"/>
                </a:solidFill>
                <a:latin typeface="Source Han Serif SC"/>
              </a:defRPr>
            </a:pPr>
            <a:r>
              <a:t>LLM+推荐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12480" y="2194560"/>
            <a:ext cx="30175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100" b="0">
                <a:solidFill>
                  <a:srgbClr val="4A7C59"/>
                </a:solidFill>
                <a:latin typeface="Source Han Sans SC"/>
              </a:rPr>
              <a:t>◆ </a:t>
            </a:r>
            <a:r>
              <a:rPr sz="1300" b="0">
                <a:solidFill>
                  <a:srgbClr val="1A1410"/>
                </a:solidFill>
                <a:latin typeface="Source Han Sans SC"/>
              </a:rPr>
              <a:t>谢广明等：判别式与生成式范式</a:t>
            </a:r>
          </a:p>
          <a:p>
            <a:pPr>
              <a:spcAft>
                <a:spcPts val="1200"/>
              </a:spcAft>
            </a:pPr>
            <a:r>
              <a:rPr sz="1100" b="0">
                <a:solidFill>
                  <a:srgbClr val="4A7C59"/>
                </a:solidFill>
                <a:latin typeface="Source Han Sans SC"/>
              </a:rPr>
              <a:t>◆ </a:t>
            </a:r>
            <a:r>
              <a:rPr sz="1300" b="0">
                <a:solidFill>
                  <a:srgbClr val="1A1410"/>
                </a:solidFill>
                <a:latin typeface="Source Han Sans SC"/>
              </a:rPr>
              <a:t>Wu等：LLM for Recommendation综述</a:t>
            </a:r>
          </a:p>
          <a:p>
            <a:pPr>
              <a:spcAft>
                <a:spcPts val="1200"/>
              </a:spcAft>
            </a:pPr>
            <a:r>
              <a:rPr sz="1100" b="0">
                <a:solidFill>
                  <a:srgbClr val="4A7C59"/>
                </a:solidFill>
                <a:latin typeface="Source Han Sans SC"/>
              </a:rPr>
              <a:t>◆ </a:t>
            </a:r>
            <a:r>
              <a:rPr sz="1300" b="0">
                <a:solidFill>
                  <a:srgbClr val="1A1410"/>
                </a:solidFill>
                <a:latin typeface="Source Han Sans SC"/>
              </a:rPr>
              <a:t>趋势：走向LLM驱动的交互式推荐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20040"/>
            <a:ext cx="54864" cy="64008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2743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C41E3A"/>
                </a:solidFill>
                <a:latin typeface="Source Han Serif SC"/>
              </a:defRPr>
            </a:pPr>
            <a: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54864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A1410"/>
                </a:solidFill>
                <a:latin typeface="Source Han Serif SC"/>
              </a:defRPr>
            </a:pPr>
            <a:r>
              <a:t>AI数字人与研究不足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9601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A8C7E"/>
                </a:solidFill>
                <a:latin typeface="Source Han Sans SC"/>
              </a:defRPr>
            </a:pPr>
            <a:r>
              <a:t>现有研究空白与本课题定位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234440"/>
            <a:ext cx="11247120" cy="7315"/>
          </a:xfrm>
          <a:prstGeom prst="rect">
            <a:avLst/>
          </a:prstGeom>
          <a:solidFill>
            <a:srgbClr val="F0E4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0" y="0"/>
            <a:ext cx="761695" cy="36576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2155119" y="0"/>
            <a:ext cx="36576" cy="73152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A8C7E"/>
                </a:solidFill>
                <a:latin typeface="Source Han Serif SC"/>
              </a:defRPr>
            </a:pPr>
            <a:r>
              <a:t>6 / 22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1371600"/>
            <a:ext cx="5303520" cy="21031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F0E4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146304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C41E3A"/>
                </a:solidFill>
                <a:latin typeface="Source Han Serif SC"/>
              </a:defRPr>
            </a:pPr>
            <a:r>
              <a:t>AI数字人与文化导览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1920240"/>
            <a:ext cx="47548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000" b="0">
                <a:solidFill>
                  <a:srgbClr val="C41E3A"/>
                </a:solidFill>
                <a:latin typeface="Source Han Sans SC"/>
              </a:rPr>
              <a:t>◆ </a:t>
            </a:r>
            <a:r>
              <a:rPr sz="1200" b="0">
                <a:solidFill>
                  <a:srgbClr val="1A1410"/>
                </a:solidFill>
                <a:latin typeface="Source Han Sans SC"/>
              </a:rPr>
              <a:t>康宁等辽小博：知识图谱+大模型融合微调的AI智慧导览系统</a:t>
            </a:r>
          </a:p>
          <a:p>
            <a:pPr>
              <a:spcAft>
                <a:spcPts val="600"/>
              </a:spcAft>
            </a:pPr>
            <a:r>
              <a:rPr sz="1000" b="0">
                <a:solidFill>
                  <a:srgbClr val="C41E3A"/>
                </a:solidFill>
                <a:latin typeface="Source Han Sans SC"/>
              </a:rPr>
              <a:t>◆ </a:t>
            </a:r>
            <a:r>
              <a:rPr sz="1200" b="0">
                <a:solidFill>
                  <a:srgbClr val="1A1410"/>
                </a:solidFill>
                <a:latin typeface="Source Han Sans SC"/>
              </a:rPr>
              <a:t>Carreiro等InHeritage：游戏化+AR的文化遗产传播应用</a:t>
            </a:r>
          </a:p>
          <a:p>
            <a:pPr>
              <a:spcAft>
                <a:spcPts val="600"/>
              </a:spcAft>
            </a:pPr>
            <a:r>
              <a:rPr sz="1000" b="0">
                <a:solidFill>
                  <a:srgbClr val="C41E3A"/>
                </a:solidFill>
                <a:latin typeface="Source Han Sans SC"/>
              </a:rPr>
              <a:t>◆ </a:t>
            </a:r>
            <a:r>
              <a:rPr sz="1200" b="0">
                <a:solidFill>
                  <a:srgbClr val="1A1410"/>
                </a:solidFill>
                <a:latin typeface="Source Han Sans SC"/>
              </a:rPr>
              <a:t>趋势：从静态展示走向AI驱动的智能导览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60" y="1371600"/>
            <a:ext cx="5303520" cy="21031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F0E4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0" y="146304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A3D5C"/>
                </a:solidFill>
                <a:latin typeface="Source Han Serif SC"/>
              </a:defRPr>
            </a:pPr>
            <a:r>
              <a:t>知识图谱增强推荐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1920240"/>
            <a:ext cx="47548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000" b="0">
                <a:solidFill>
                  <a:srgbClr val="2A3D5C"/>
                </a:solidFill>
                <a:latin typeface="Source Han Sans SC"/>
              </a:rPr>
              <a:t>◆ </a:t>
            </a:r>
            <a:r>
              <a:rPr sz="1200" b="0">
                <a:solidFill>
                  <a:srgbClr val="1A1410"/>
                </a:solidFill>
                <a:latin typeface="Source Han Sans SC"/>
              </a:rPr>
              <a:t>Guo等：知识图谱通过实体关系扩展推荐候选集</a:t>
            </a:r>
          </a:p>
          <a:p>
            <a:pPr>
              <a:spcAft>
                <a:spcPts val="600"/>
              </a:spcAft>
            </a:pPr>
            <a:r>
              <a:rPr sz="1000" b="0">
                <a:solidFill>
                  <a:srgbClr val="2A3D5C"/>
                </a:solidFill>
                <a:latin typeface="Source Han Sans SC"/>
              </a:rPr>
              <a:t>◆ </a:t>
            </a:r>
            <a:r>
              <a:rPr sz="1200" b="0">
                <a:solidFill>
                  <a:srgbClr val="1A1410"/>
                </a:solidFill>
                <a:latin typeface="Source Han Sans SC"/>
              </a:rPr>
              <a:t>王敏等：KG+LLM增强推荐系统研究</a:t>
            </a:r>
          </a:p>
          <a:p>
            <a:pPr>
              <a:spcAft>
                <a:spcPts val="600"/>
              </a:spcAft>
            </a:pPr>
            <a:r>
              <a:rPr sz="1000" b="0">
                <a:solidFill>
                  <a:srgbClr val="2A3D5C"/>
                </a:solidFill>
                <a:latin typeface="Source Han Sans SC"/>
              </a:rPr>
              <a:t>◆ </a:t>
            </a:r>
            <a:r>
              <a:rPr sz="1200" b="0">
                <a:solidFill>
                  <a:srgbClr val="1A1410"/>
                </a:solidFill>
                <a:latin typeface="Source Han Sans SC"/>
              </a:rPr>
              <a:t>汪天雄等：非遗数字化发展中知识图谱视角的前景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3840480"/>
            <a:ext cx="11155680" cy="2560320"/>
          </a:xfrm>
          <a:prstGeom prst="roundRect">
            <a:avLst/>
          </a:prstGeom>
          <a:solidFill>
            <a:srgbClr val="1A14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3977639"/>
            <a:ext cx="10607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D4A537"/>
                </a:solidFill>
                <a:latin typeface="Source Han Serif SC"/>
              </a:defRPr>
            </a:pPr>
            <a:r>
              <a:t>现有研究不足与本课题定位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4480560"/>
            <a:ext cx="7315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100" b="0">
                <a:solidFill>
                  <a:srgbClr val="D4A537"/>
                </a:solidFill>
                <a:latin typeface="Source Han Sans SC"/>
              </a:rPr>
              <a:t>◆ </a:t>
            </a:r>
            <a:r>
              <a:rPr sz="1300" b="0">
                <a:solidFill>
                  <a:srgbClr val="FFFFFF"/>
                </a:solidFill>
                <a:latin typeface="Source Han Sans SC"/>
              </a:rPr>
              <a:t>1.  现有非遗平台缺少CRS对话推荐能力，无法在交互中主动发现用户偏好</a:t>
            </a:r>
          </a:p>
          <a:p>
            <a:pPr>
              <a:spcAft>
                <a:spcPts val="600"/>
              </a:spcAft>
            </a:pPr>
            <a:r>
              <a:rPr sz="1100" b="0">
                <a:solidFill>
                  <a:srgbClr val="D4A537"/>
                </a:solidFill>
                <a:latin typeface="Source Han Sans SC"/>
              </a:rPr>
              <a:t>◆ </a:t>
            </a:r>
            <a:r>
              <a:rPr sz="1300" b="0">
                <a:solidFill>
                  <a:srgbClr val="FFFFFF"/>
                </a:solidFill>
                <a:latin typeface="Source Han Sans SC"/>
              </a:rPr>
              <a:t>2.  AI导览系统多侧重知识问答，缺少推荐引导与偏好采集的闭环设计</a:t>
            </a:r>
          </a:p>
          <a:p>
            <a:pPr>
              <a:spcAft>
                <a:spcPts val="600"/>
              </a:spcAft>
            </a:pPr>
            <a:r>
              <a:rPr sz="1100" b="0">
                <a:solidFill>
                  <a:srgbClr val="D4A537"/>
                </a:solidFill>
                <a:latin typeface="Source Han Sans SC"/>
              </a:rPr>
              <a:t>◆ </a:t>
            </a:r>
            <a:r>
              <a:rPr sz="1300" b="0">
                <a:solidFill>
                  <a:srgbClr val="FFFFFF"/>
                </a:solidFill>
                <a:latin typeface="Source Han Sans SC"/>
              </a:rPr>
              <a:t>3.  知识图谱在非遗推荐中的应用尚处起步阶段，推荐解释性不足</a:t>
            </a:r>
          </a:p>
          <a:p>
            <a:pPr>
              <a:spcAft>
                <a:spcPts val="600"/>
              </a:spcAft>
            </a:pPr>
            <a:r>
              <a:rPr sz="1100" b="0">
                <a:solidFill>
                  <a:srgbClr val="D4A537"/>
                </a:solidFill>
                <a:latin typeface="Source Han Sans SC"/>
              </a:rPr>
              <a:t>◆ </a:t>
            </a:r>
            <a:r>
              <a:rPr sz="1300" b="0">
                <a:solidFill>
                  <a:srgbClr val="FFFFFF"/>
                </a:solidFill>
                <a:latin typeface="Source Han Sans SC"/>
              </a:rPr>
              <a:t>4.  缺少面向非遗场景的完整系统实践，CRS+AI数字人+知识图谱三者协同方案尚未见报道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686800" y="4572000"/>
            <a:ext cx="2743200" cy="137160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86800" y="4663440"/>
            <a:ext cx="27432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Source Han Serif SC"/>
              </a:defRPr>
            </a:pPr>
            <a:r>
              <a:t>本课题定位</a:t>
            </a:r>
            <a:br/>
            <a:r>
              <a:t>CRS为引导</a:t>
            </a:r>
            <a:br/>
            <a:r>
              <a:t>图谱为增强</a:t>
            </a:r>
            <a:br/>
            <a:r>
              <a:t>数字人为载体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20040"/>
            <a:ext cx="54864" cy="64008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2743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C41E3A"/>
                </a:solidFill>
                <a:latin typeface="Source Han Serif SC"/>
              </a:defRPr>
            </a:pPr>
            <a: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54864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A1410"/>
                </a:solidFill>
                <a:latin typeface="Source Han Serif SC"/>
              </a:defRPr>
            </a:pPr>
            <a:r>
              <a:t>相关技术与理论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9601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A8C7E"/>
                </a:solidFill>
                <a:latin typeface="Source Han Sans SC"/>
              </a:defRPr>
            </a:pPr>
            <a:r>
              <a:t>系统技术栈全景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234440"/>
            <a:ext cx="11247120" cy="7315"/>
          </a:xfrm>
          <a:prstGeom prst="rect">
            <a:avLst/>
          </a:prstGeom>
          <a:solidFill>
            <a:srgbClr val="F0E4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0" y="0"/>
            <a:ext cx="761695" cy="36576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2155119" y="0"/>
            <a:ext cx="36576" cy="73152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A8C7E"/>
                </a:solidFill>
                <a:latin typeface="Source Han Serif SC"/>
              </a:defRPr>
            </a:pPr>
            <a:r>
              <a:t>7 / 22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5760" y="1371600"/>
            <a:ext cx="2148840" cy="48463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F0E4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65760" y="1371600"/>
            <a:ext cx="2148840" cy="54864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1600200"/>
            <a:ext cx="187451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C41E3A"/>
                </a:solidFill>
                <a:latin typeface="Source Han Serif SC"/>
              </a:defRPr>
            </a:pPr>
            <a:r>
              <a:t>前端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2011680"/>
            <a:ext cx="1874519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A1410"/>
                </a:solidFill>
                <a:latin typeface="Source Han Serif SC"/>
              </a:defRPr>
            </a:pPr>
            <a:r>
              <a:t>微信小程序</a:t>
            </a:r>
            <a:br/>
            <a:r>
              <a:t>WXML/WXSS/JS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3200400"/>
            <a:ext cx="1600200" cy="9144"/>
          </a:xfrm>
          <a:prstGeom prst="rect">
            <a:avLst/>
          </a:prstGeom>
          <a:solidFill>
            <a:srgbClr val="F0E4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3383280"/>
            <a:ext cx="1874519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A8C7E"/>
                </a:solidFill>
                <a:latin typeface="Source Han Sans SC"/>
              </a:defRPr>
            </a:pPr>
            <a:r>
              <a:t>原生开发</a:t>
            </a:r>
            <a:br/>
            <a:r>
              <a:t>微信能力直调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697479" y="1371600"/>
            <a:ext cx="2148840" cy="48463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F0E4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697479" y="1371600"/>
            <a:ext cx="2148840" cy="54864"/>
          </a:xfrm>
          <a:prstGeom prst="rect">
            <a:avLst/>
          </a:prstGeom>
          <a:solidFill>
            <a:srgbClr val="2A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834639" y="1600200"/>
            <a:ext cx="187451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A3D5C"/>
                </a:solidFill>
                <a:latin typeface="Source Han Serif SC"/>
              </a:defRPr>
            </a:pPr>
            <a:r>
              <a:t>后端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834639" y="2011680"/>
            <a:ext cx="1874519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A1410"/>
                </a:solidFill>
                <a:latin typeface="Source Han Serif SC"/>
              </a:defRPr>
            </a:pPr>
            <a:r>
              <a:t>FastAPI</a:t>
            </a:r>
            <a:br/>
            <a:r>
              <a:t>SQLAlchemy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971799" y="3200400"/>
            <a:ext cx="1600200" cy="9144"/>
          </a:xfrm>
          <a:prstGeom prst="rect">
            <a:avLst/>
          </a:prstGeom>
          <a:solidFill>
            <a:srgbClr val="F0E4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834639" y="3383280"/>
            <a:ext cx="1874519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A8C7E"/>
                </a:solidFill>
                <a:latin typeface="Source Han Sans SC"/>
              </a:defRPr>
            </a:pPr>
            <a:r>
              <a:t>异步高性能</a:t>
            </a:r>
            <a:br/>
            <a:r>
              <a:t>ORM多库切换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29200" y="1371600"/>
            <a:ext cx="2148840" cy="48463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F0E4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029200" y="1371600"/>
            <a:ext cx="2148840" cy="54864"/>
          </a:xfrm>
          <a:prstGeom prst="rect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166360" y="1600200"/>
            <a:ext cx="187451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4A7C59"/>
                </a:solidFill>
                <a:latin typeface="Source Han Serif SC"/>
              </a:defRPr>
            </a:pPr>
            <a:r>
              <a:t>数据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166360" y="2011680"/>
            <a:ext cx="1874519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A1410"/>
                </a:solidFill>
                <a:latin typeface="Source Han Serif SC"/>
              </a:defRPr>
            </a:pPr>
            <a:r>
              <a:t>SQLite</a:t>
            </a:r>
            <a:br/>
            <a:r>
              <a:t>本地存储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303520" y="3200400"/>
            <a:ext cx="1600200" cy="9144"/>
          </a:xfrm>
          <a:prstGeom prst="rect">
            <a:avLst/>
          </a:prstGeom>
          <a:solidFill>
            <a:srgbClr val="F0E4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166360" y="3383280"/>
            <a:ext cx="1874519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A8C7E"/>
                </a:solidFill>
                <a:latin typeface="Source Han Sans SC"/>
              </a:defRPr>
            </a:pPr>
            <a:r>
              <a:t>轻量关系型</a:t>
            </a:r>
            <a:br/>
            <a:r>
              <a:t>小规模部署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360919" y="1371600"/>
            <a:ext cx="2148840" cy="48463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F0E4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360919" y="1371600"/>
            <a:ext cx="2148840" cy="54864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498079" y="1600200"/>
            <a:ext cx="187451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D4A537"/>
                </a:solidFill>
                <a:latin typeface="Source Han Serif SC"/>
              </a:defRPr>
            </a:pPr>
            <a:r>
              <a:t>AI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98079" y="2011680"/>
            <a:ext cx="1874519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A1410"/>
                </a:solidFill>
                <a:latin typeface="Source Han Serif SC"/>
              </a:defRPr>
            </a:pPr>
            <a:r>
              <a:t>豆包大模型</a:t>
            </a:r>
            <a:br/>
            <a:r>
              <a:t>本地知识库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635239" y="3200400"/>
            <a:ext cx="1600200" cy="9144"/>
          </a:xfrm>
          <a:prstGeom prst="rect">
            <a:avLst/>
          </a:prstGeom>
          <a:solidFill>
            <a:srgbClr val="F0E4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498079" y="3383280"/>
            <a:ext cx="1874519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A8C7E"/>
                </a:solidFill>
                <a:latin typeface="Source Han Sans SC"/>
              </a:defRPr>
            </a:pPr>
            <a:r>
              <a:t>三级回退策略</a:t>
            </a:r>
            <a:br/>
            <a:r>
              <a:t>TTS双引擎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692640" y="1371600"/>
            <a:ext cx="2148840" cy="48463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F0E4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692640" y="1371600"/>
            <a:ext cx="2148840" cy="54864"/>
          </a:xfrm>
          <a:prstGeom prst="rect">
            <a:avLst/>
          </a:prstGeom>
          <a:solidFill>
            <a:srgbClr val="8B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829800" y="1600200"/>
            <a:ext cx="187451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8B1A2B"/>
                </a:solidFill>
                <a:latin typeface="Source Han Serif SC"/>
              </a:defRPr>
            </a:pPr>
            <a:r>
              <a:t>推荐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829800" y="2011680"/>
            <a:ext cx="1874519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A1410"/>
                </a:solidFill>
                <a:latin typeface="Source Han Serif SC"/>
              </a:defRPr>
            </a:pPr>
            <a:r>
              <a:t>CRS对话推荐</a:t>
            </a:r>
            <a:br/>
            <a:r>
              <a:t>知识图谱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966960" y="3200400"/>
            <a:ext cx="1600200" cy="9144"/>
          </a:xfrm>
          <a:prstGeom prst="rect">
            <a:avLst/>
          </a:prstGeom>
          <a:solidFill>
            <a:srgbClr val="F0E4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829800" y="3383280"/>
            <a:ext cx="1874519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A8C7E"/>
                </a:solidFill>
                <a:latin typeface="Source Han Sans SC"/>
              </a:defRPr>
            </a:pPr>
            <a:r>
              <a:t>ASK-REC状态机</a:t>
            </a:r>
            <a:br/>
            <a:r>
              <a:t>规则加权混合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20040"/>
            <a:ext cx="54864" cy="64008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2743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C41E3A"/>
                </a:solidFill>
                <a:latin typeface="Source Han Serif SC"/>
              </a:defRPr>
            </a:pPr>
            <a: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54864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A1410"/>
                </a:solidFill>
                <a:latin typeface="Source Han Serif SC"/>
              </a:defRPr>
            </a:pPr>
            <a:r>
              <a:t>系统分析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9601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A8C7E"/>
                </a:solidFill>
                <a:latin typeface="Source Han Sans SC"/>
              </a:defRPr>
            </a:pPr>
            <a:r>
              <a:t>三类角色与六大功能模块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234440"/>
            <a:ext cx="11247120" cy="7315"/>
          </a:xfrm>
          <a:prstGeom prst="rect">
            <a:avLst/>
          </a:prstGeom>
          <a:solidFill>
            <a:srgbClr val="F0E4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0" y="0"/>
            <a:ext cx="761695" cy="36576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2155119" y="0"/>
            <a:ext cx="36576" cy="73152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A8C7E"/>
                </a:solidFill>
                <a:latin typeface="Source Han Serif SC"/>
              </a:defRPr>
            </a:pPr>
            <a:r>
              <a:t>8 / 22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1371600"/>
            <a:ext cx="3566160" cy="14630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F0E4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1371600"/>
            <a:ext cx="3566160" cy="54864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155448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C41E3A"/>
                </a:solidFill>
                <a:latin typeface="Source Han Serif SC"/>
              </a:defRPr>
            </a:pPr>
            <a:r>
              <a:t>普通用户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1920240"/>
            <a:ext cx="3200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A1410"/>
                </a:solidFill>
                <a:latin typeface="Source Han Sans SC"/>
              </a:defRPr>
            </a:pPr>
            <a:r>
              <a:t>浏览内容、AI对话</a:t>
            </a:r>
            <a:br/>
            <a:r>
              <a:t>个性化推荐、活动报名</a:t>
            </a:r>
            <a:br/>
            <a:r>
              <a:t>社区讨论、偏好管理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97680" y="1371600"/>
            <a:ext cx="3566160" cy="14630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F0E4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297680" y="1371600"/>
            <a:ext cx="3566160" cy="54864"/>
          </a:xfrm>
          <a:prstGeom prst="rect">
            <a:avLst/>
          </a:prstGeom>
          <a:solidFill>
            <a:srgbClr val="2A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80560" y="155448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A3D5C"/>
                </a:solidFill>
                <a:latin typeface="Source Han Serif SC"/>
              </a:defRPr>
            </a:pPr>
            <a:r>
              <a:t>内容管理员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80560" y="1920240"/>
            <a:ext cx="3200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A1410"/>
                </a:solidFill>
                <a:latin typeface="Source Han Sans SC"/>
              </a:defRPr>
            </a:pPr>
            <a:r>
              <a:t>内容审核发布</a:t>
            </a:r>
            <a:br/>
            <a:r>
              <a:t>质量评定、数据收集</a:t>
            </a:r>
            <a:br/>
            <a:r>
              <a:t>基本用户管理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38160" y="1371600"/>
            <a:ext cx="3566160" cy="14630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F0E4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138160" y="1371600"/>
            <a:ext cx="3566160" cy="54864"/>
          </a:xfrm>
          <a:prstGeom prst="rect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21040" y="155448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A7C59"/>
                </a:solidFill>
                <a:latin typeface="Source Han Serif SC"/>
              </a:defRPr>
            </a:pPr>
            <a:r>
              <a:t>系统管理员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21040" y="1920240"/>
            <a:ext cx="3200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A1410"/>
                </a:solidFill>
                <a:latin typeface="Source Han Sans SC"/>
              </a:defRPr>
            </a:pPr>
            <a:r>
              <a:t>系统运维配置</a:t>
            </a:r>
            <a:br/>
            <a:r>
              <a:t>运行监控</a:t>
            </a:r>
            <a:br/>
            <a:r>
              <a:t>权限控制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3200400"/>
            <a:ext cx="3566160" cy="13716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F0E4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Diamond 23"/>
          <p:cNvSpPr/>
          <p:nvPr/>
        </p:nvSpPr>
        <p:spPr>
          <a:xfrm>
            <a:off x="640080" y="3383280"/>
            <a:ext cx="182880" cy="182880"/>
          </a:xfrm>
          <a:prstGeom prst="diamond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60120" y="333756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1410"/>
                </a:solidFill>
                <a:latin typeface="Source Han Serif SC"/>
              </a:defRPr>
            </a:pPr>
            <a:r>
              <a:t>非遗内容展示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0120" y="3657600"/>
            <a:ext cx="2926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A8C7E"/>
                </a:solidFill>
                <a:latin typeface="Source Han Sans SC"/>
              </a:defRPr>
            </a:pPr>
            <a:r>
              <a:t>浏览/详情/分类/搜索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297680" y="3200400"/>
            <a:ext cx="3566160" cy="13716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F0E4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Diamond 27"/>
          <p:cNvSpPr/>
          <p:nvPr/>
        </p:nvSpPr>
        <p:spPr>
          <a:xfrm>
            <a:off x="4480560" y="3383280"/>
            <a:ext cx="182880" cy="182880"/>
          </a:xfrm>
          <a:prstGeom prst="diamond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800600" y="333756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1410"/>
                </a:solidFill>
                <a:latin typeface="Source Han Serif SC"/>
              </a:defRPr>
            </a:pPr>
            <a:r>
              <a:t>个性化推荐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800600" y="3657600"/>
            <a:ext cx="2926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A8C7E"/>
                </a:solidFill>
                <a:latin typeface="Source Han Sans SC"/>
              </a:defRPr>
            </a:pPr>
            <a:r>
              <a:t>首页推荐/冷启动/动态调整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138160" y="3200400"/>
            <a:ext cx="3566160" cy="13716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F0E4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Diamond 31"/>
          <p:cNvSpPr/>
          <p:nvPr/>
        </p:nvSpPr>
        <p:spPr>
          <a:xfrm>
            <a:off x="8321040" y="3383280"/>
            <a:ext cx="182880" cy="182880"/>
          </a:xfrm>
          <a:prstGeom prst="diamond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641080" y="333756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1410"/>
                </a:solidFill>
                <a:latin typeface="Source Han Serif SC"/>
              </a:defRPr>
            </a:pPr>
            <a:r>
              <a:t>AI数字人对话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641080" y="3657600"/>
            <a:ext cx="2926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A8C7E"/>
                </a:solidFill>
                <a:latin typeface="Source Han Sans SC"/>
              </a:defRPr>
            </a:pPr>
            <a:r>
              <a:t>知识问答/多轮会话/ASK追问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57200" y="4846320"/>
            <a:ext cx="3566160" cy="13716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F0E4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Diamond 35"/>
          <p:cNvSpPr/>
          <p:nvPr/>
        </p:nvSpPr>
        <p:spPr>
          <a:xfrm>
            <a:off x="640080" y="5029200"/>
            <a:ext cx="182880" cy="182880"/>
          </a:xfrm>
          <a:prstGeom prst="diamond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60120" y="498348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1410"/>
                </a:solidFill>
                <a:latin typeface="Source Han Serif SC"/>
              </a:defRPr>
            </a:pPr>
            <a:r>
              <a:t>活动报名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0120" y="5303520"/>
            <a:ext cx="2926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A8C7E"/>
                </a:solidFill>
                <a:latin typeface="Source Han Sans SC"/>
              </a:defRPr>
            </a:pPr>
            <a:r>
              <a:t>活动浏览/在线报名/记录管理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297680" y="4846320"/>
            <a:ext cx="3566160" cy="13716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F0E4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Diamond 39"/>
          <p:cNvSpPr/>
          <p:nvPr/>
        </p:nvSpPr>
        <p:spPr>
          <a:xfrm>
            <a:off x="4480560" y="5029200"/>
            <a:ext cx="182880" cy="182880"/>
          </a:xfrm>
          <a:prstGeom prst="diamond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800600" y="498348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1410"/>
                </a:solidFill>
                <a:latin typeface="Source Han Serif SC"/>
              </a:defRPr>
            </a:pPr>
            <a:r>
              <a:t>社区互动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800600" y="5303520"/>
            <a:ext cx="2926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A8C7E"/>
                </a:solidFill>
                <a:latin typeface="Source Han Sans SC"/>
              </a:defRPr>
            </a:pPr>
            <a:r>
              <a:t>帖子/评论/点赞/话题标签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8138160" y="4846320"/>
            <a:ext cx="3566160" cy="13716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F0E4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Diamond 43"/>
          <p:cNvSpPr/>
          <p:nvPr/>
        </p:nvSpPr>
        <p:spPr>
          <a:xfrm>
            <a:off x="8321040" y="5029200"/>
            <a:ext cx="182880" cy="182880"/>
          </a:xfrm>
          <a:prstGeom prst="diamond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641080" y="498348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1410"/>
                </a:solidFill>
                <a:latin typeface="Source Han Serif SC"/>
              </a:defRPr>
            </a:pPr>
            <a:r>
              <a:t>用户中心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641080" y="5303520"/>
            <a:ext cx="2926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A8C7E"/>
                </a:solidFill>
                <a:latin typeface="Source Han Sans SC"/>
              </a:defRPr>
            </a:pPr>
            <a:r>
              <a:t>微信登录/偏好设置/收藏管理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20040"/>
            <a:ext cx="54864" cy="64008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2743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C41E3A"/>
                </a:solidFill>
                <a:latin typeface="Source Han Serif SC"/>
              </a:defRPr>
            </a:pPr>
            <a: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54864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A1410"/>
                </a:solidFill>
                <a:latin typeface="Source Han Serif SC"/>
              </a:defRPr>
            </a:pPr>
            <a:r>
              <a:t>可行性分析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9601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A8C7E"/>
                </a:solidFill>
                <a:latin typeface="Source Han Sans SC"/>
              </a:defRPr>
            </a:pPr>
            <a:r>
              <a:t>技术/经济/操作/社会法律四维可行性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234440"/>
            <a:ext cx="11247120" cy="7315"/>
          </a:xfrm>
          <a:prstGeom prst="rect">
            <a:avLst/>
          </a:prstGeom>
          <a:solidFill>
            <a:srgbClr val="F0E4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0" y="0"/>
            <a:ext cx="761695" cy="36576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2155119" y="0"/>
            <a:ext cx="36576" cy="73152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A8C7E"/>
                </a:solidFill>
                <a:latin typeface="Source Han Serif SC"/>
              </a:defRPr>
            </a:pPr>
            <a:r>
              <a:t>9 / 22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1371600"/>
            <a:ext cx="5486400" cy="21945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F0E4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1371600"/>
            <a:ext cx="54864" cy="219456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150876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C41E3A"/>
                </a:solidFill>
                <a:latin typeface="Source Han Serif SC"/>
              </a:defRPr>
            </a:pPr>
            <a:r>
              <a:t>技术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1965960"/>
            <a:ext cx="49377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A1410"/>
                </a:solidFill>
                <a:latin typeface="Source Han Sans SC"/>
              </a:defRPr>
            </a:pPr>
            <a:r>
              <a:t>微信小程序成熟框架</a:t>
            </a:r>
            <a:br/>
            <a:r>
              <a:t>FastAPI+SQLAlchemy ORM</a:t>
            </a:r>
            <a:br/>
            <a:r>
              <a:t>知识库-搜索-大模型三级回退</a:t>
            </a:r>
            <a:br/>
            <a:r>
              <a:t>规则加权混合推荐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1371600"/>
            <a:ext cx="5486400" cy="21945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F0E4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17920" y="1371600"/>
            <a:ext cx="54864" cy="2194560"/>
          </a:xfrm>
          <a:prstGeom prst="rect">
            <a:avLst/>
          </a:prstGeom>
          <a:solidFill>
            <a:srgbClr val="2A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92240" y="150876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A3D5C"/>
                </a:solidFill>
                <a:latin typeface="Source Han Serif SC"/>
              </a:defRPr>
            </a:pPr>
            <a:r>
              <a:t>经济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1965960"/>
            <a:ext cx="49377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A1410"/>
                </a:solidFill>
                <a:latin typeface="Source Han Sans SC"/>
              </a:defRPr>
            </a:pPr>
            <a:r>
              <a:t>SQLite零成本</a:t>
            </a:r>
            <a:br/>
            <a:r>
              <a:t>云服务器月费百元内</a:t>
            </a:r>
            <a:br/>
            <a:r>
              <a:t>豆包大模型免费额度</a:t>
            </a:r>
            <a:br/>
            <a:r>
              <a:t>小程序注册发布平价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3931920"/>
            <a:ext cx="5486400" cy="21945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F0E4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57200" y="3931920"/>
            <a:ext cx="54864" cy="2194560"/>
          </a:xfrm>
          <a:prstGeom prst="rect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406908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4A7C59"/>
                </a:solidFill>
                <a:latin typeface="Source Han Serif SC"/>
              </a:defRPr>
            </a:pPr>
            <a:r>
              <a:t>操作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4526280"/>
            <a:ext cx="49377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A1410"/>
                </a:solidFill>
                <a:latin typeface="Source Han Sans SC"/>
              </a:defRPr>
            </a:pPr>
            <a:r>
              <a:t>小程序免安装扫码即用</a:t>
            </a:r>
            <a:br/>
            <a:r>
              <a:t>AI数字人零学习成本</a:t>
            </a:r>
            <a:br/>
            <a:r>
              <a:t>管理端Web界面直观操作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17920" y="3931920"/>
            <a:ext cx="5486400" cy="21945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F0E4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217920" y="3931920"/>
            <a:ext cx="54864" cy="2194560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92240" y="406908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D4A537"/>
                </a:solidFill>
                <a:latin typeface="Source Han Serif SC"/>
              </a:defRPr>
            </a:pPr>
            <a:r>
              <a:t>社会法律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92240" y="4526280"/>
            <a:ext cx="49377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A1410"/>
                </a:solidFill>
                <a:latin typeface="Source Han Sans SC"/>
              </a:defRPr>
            </a:pPr>
            <a:r>
              <a:t>本地知识库降低AI幻觉</a:t>
            </a:r>
            <a:br/>
            <a:r>
              <a:t>符合个人信息保护法</a:t>
            </a:r>
            <a:br/>
            <a:r>
              <a:t>传播非遗有积极社会意义</a:t>
            </a:r>
            <a:br/>
            <a:r>
              <a:t>符合非物质文化遗产法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20040"/>
            <a:ext cx="54864" cy="64008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2743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C41E3A"/>
                </a:solidFill>
                <a:latin typeface="Source Han Serif SC"/>
              </a:defRPr>
            </a:pPr>
            <a: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54864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A1410"/>
                </a:solidFill>
                <a:latin typeface="Source Han Serif SC"/>
              </a:defRPr>
            </a:pPr>
            <a:r>
              <a:t>系统整体架构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9601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A8C7E"/>
                </a:solidFill>
                <a:latin typeface="Source Han Sans SC"/>
              </a:defRPr>
            </a:pPr>
            <a:r>
              <a:t>前后端分离四层架构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234440"/>
            <a:ext cx="11247120" cy="7315"/>
          </a:xfrm>
          <a:prstGeom prst="rect">
            <a:avLst/>
          </a:prstGeom>
          <a:solidFill>
            <a:srgbClr val="F0E4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0" y="0"/>
            <a:ext cx="761695" cy="36576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2155119" y="0"/>
            <a:ext cx="36576" cy="73152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A8C7E"/>
                </a:solidFill>
                <a:latin typeface="Source Han Serif SC"/>
              </a:defRPr>
            </a:pPr>
            <a:r>
              <a:t>10 / 22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645920" y="1371600"/>
            <a:ext cx="9601200" cy="1051560"/>
          </a:xfrm>
          <a:prstGeom prst="roundRect">
            <a:avLst/>
          </a:prstGeom>
          <a:solidFill>
            <a:srgbClr val="F7F2E8"/>
          </a:solidFill>
          <a:ln w="9525">
            <a:solidFill>
              <a:srgbClr val="C41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920240" y="14630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1410"/>
                </a:solidFill>
                <a:latin typeface="Source Han Serif SC"/>
              </a:defRPr>
            </a:pPr>
            <a:r>
              <a:t>前端交互层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20240" y="18288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A1410"/>
                </a:solidFill>
                <a:latin typeface="Source Han Sans SC"/>
              </a:defRPr>
            </a:pPr>
            <a:r>
              <a:t>微信小程序用户端  |  Web管理端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645920" y="2651760"/>
            <a:ext cx="9601200" cy="1051560"/>
          </a:xfrm>
          <a:prstGeom prst="roundRect">
            <a:avLst/>
          </a:prstGeom>
          <a:solidFill>
            <a:srgbClr val="E8E0D4"/>
          </a:solidFill>
          <a:ln w="9525">
            <a:solidFill>
              <a:srgbClr val="C41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920240" y="27432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1410"/>
                </a:solidFill>
                <a:latin typeface="Source Han Serif SC"/>
              </a:defRPr>
            </a:pPr>
            <a:r>
              <a:t>接口服务层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20240" y="31089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A1410"/>
                </a:solidFill>
                <a:latin typeface="Source Han Sans SC"/>
              </a:defRPr>
            </a:pPr>
            <a:r>
              <a:t>AI问答 | CRS状态 | 用户画像 | 内容活动 | 讨论区 | 登录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645920" y="3931920"/>
            <a:ext cx="9601200" cy="1051560"/>
          </a:xfrm>
          <a:prstGeom prst="roundRect">
            <a:avLst/>
          </a:prstGeom>
          <a:solidFill>
            <a:srgbClr val="C41E3A"/>
          </a:solidFill>
          <a:ln w="9525">
            <a:solidFill>
              <a:srgbClr val="D4A5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920240" y="40233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Source Han Serif SC"/>
              </a:defRPr>
            </a:pPr>
            <a:r>
              <a:t>核心能力层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20240" y="43891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Source Han Sans SC"/>
              </a:defRPr>
            </a:pPr>
            <a:r>
              <a:t>AI服务 | 推荐服务 | 本地知识检索 | 知识图谱增强 | 联网补充 | TTS语音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645920" y="5212079"/>
            <a:ext cx="9601200" cy="1051560"/>
          </a:xfrm>
          <a:prstGeom prst="roundRect">
            <a:avLst/>
          </a:prstGeom>
          <a:solidFill>
            <a:srgbClr val="1A1410"/>
          </a:solidFill>
          <a:ln w="9525">
            <a:solidFill>
              <a:srgbClr val="D4A5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920240" y="5303519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Source Han Serif SC"/>
              </a:defRPr>
            </a:pPr>
            <a:r>
              <a:t>数据与外部服务层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920240" y="5669279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Source Han Sans SC"/>
              </a:defRPr>
            </a:pPr>
            <a:r>
              <a:t>SQLite | 本地知识 | 推荐日志 | CRS会话 | 豆包API | 联网搜索 | 微信登录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1371600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C41E3A"/>
                </a:solidFill>
                <a:latin typeface="Source Han Serif SC"/>
              </a:defRPr>
            </a:pPr>
            <a:r>
              <a:t>设计原则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1737360"/>
            <a:ext cx="10058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A8C7E"/>
                </a:solidFill>
                <a:latin typeface="Source Han Sans SC"/>
              </a:defRPr>
            </a:pPr>
            <a:r>
              <a:t>前后端分离</a:t>
            </a:r>
            <a:br/>
            <a:r>
              <a:t>主线趋同</a:t>
            </a:r>
            <a:br/>
            <a:r>
              <a:t>轻量优先</a:t>
            </a:r>
            <a:br/>
            <a:r>
              <a:t>可扩展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20040"/>
            <a:ext cx="54864" cy="64008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2743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C41E3A"/>
                </a:solidFill>
                <a:latin typeface="Source Han Serif SC"/>
              </a:defRPr>
            </a:pPr>
            <a: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54864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A1410"/>
                </a:solidFill>
                <a:latin typeface="Source Han Serif SC"/>
              </a:defRPr>
            </a:pPr>
            <a:r>
              <a:t>CRS对话推荐机制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9601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A8C7E"/>
                </a:solidFill>
                <a:latin typeface="Source Han Sans SC"/>
              </a:defRPr>
            </a:pPr>
            <a:r>
              <a:t>三维置信度评估 + ASK-REC状态机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234440"/>
            <a:ext cx="11247120" cy="7315"/>
          </a:xfrm>
          <a:prstGeom prst="rect">
            <a:avLst/>
          </a:prstGeom>
          <a:solidFill>
            <a:srgbClr val="F0E4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0" y="0"/>
            <a:ext cx="761695" cy="36576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2155119" y="0"/>
            <a:ext cx="36576" cy="73152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A8C7E"/>
                </a:solidFill>
                <a:latin typeface="Source Han Serif SC"/>
              </a:defRPr>
            </a:pPr>
            <a:r>
              <a:t>11 / 22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1371600"/>
            <a:ext cx="5303520" cy="48463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F0E4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150876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C41E3A"/>
                </a:solidFill>
                <a:latin typeface="Source Han Serif SC"/>
              </a:defRPr>
            </a:pPr>
            <a:r>
              <a:t>三维置信度评估模型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1965960"/>
            <a:ext cx="4114800" cy="548640"/>
          </a:xfrm>
          <a:prstGeom prst="rect">
            <a:avLst/>
          </a:prstGeom>
          <a:solidFill>
            <a:srgbClr val="1A14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201168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D4A537"/>
                </a:solidFill>
                <a:latin typeface="Source Han Serif SC"/>
              </a:defRPr>
            </a:pPr>
            <a:r>
              <a:t>C = 0.40×Se + 0.35×Si + 0.25×Sd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2743200"/>
            <a:ext cx="47548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300" b="1">
                <a:solidFill>
                  <a:srgbClr val="C41E3A"/>
                </a:solidFill>
                <a:latin typeface="Source Han Sans SC"/>
              </a:rPr>
              <a:t>Se 显式偏好  </a:t>
            </a:r>
            <a:r>
              <a:rPr sz="1300" b="0">
                <a:solidFill>
                  <a:srgbClr val="1A1410"/>
                </a:solidFill>
                <a:latin typeface="Source Han Sans SC"/>
              </a:rPr>
              <a:t>用户偏好设置、ASK选项回答</a:t>
            </a:r>
          </a:p>
          <a:p>
            <a:pPr>
              <a:spcAft>
                <a:spcPts val="1200"/>
              </a:spcAft>
            </a:pPr>
            <a:r>
              <a:rPr sz="1300" b="1">
                <a:solidFill>
                  <a:srgbClr val="C41E3A"/>
                </a:solidFill>
                <a:latin typeface="Source Han Sans SC"/>
              </a:rPr>
              <a:t>Si 隐式行为  </a:t>
            </a:r>
            <a:r>
              <a:rPr sz="1300" b="0">
                <a:solidFill>
                  <a:srgbClr val="1A1410"/>
                </a:solidFill>
                <a:latin typeface="Source Han Sans SC"/>
              </a:rPr>
              <a:t>曝光、点击、浏览、活动报名、讨论互动</a:t>
            </a:r>
          </a:p>
          <a:p>
            <a:pPr>
              <a:spcAft>
                <a:spcPts val="1200"/>
              </a:spcAft>
            </a:pPr>
            <a:r>
              <a:rPr sz="1300" b="1">
                <a:solidFill>
                  <a:srgbClr val="C41E3A"/>
                </a:solidFill>
                <a:latin typeface="Source Han Sans SC"/>
              </a:rPr>
              <a:t>Sd 对话语义  </a:t>
            </a:r>
            <a:r>
              <a:rPr sz="1300" b="0">
                <a:solidFill>
                  <a:srgbClr val="1A1410"/>
                </a:solidFill>
                <a:latin typeface="Source Han Sans SC"/>
              </a:rPr>
              <a:t>AI提问中的非遗关键词、地区特征、场景偏好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1371600"/>
            <a:ext cx="5303520" cy="48463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F0E4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150876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C41E3A"/>
                </a:solidFill>
                <a:latin typeface="Source Han Serif SC"/>
              </a:defRPr>
            </a:pPr>
            <a:r>
              <a:t>ASK-REC 状态机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0" y="2103120"/>
            <a:ext cx="2011680" cy="365760"/>
          </a:xfrm>
          <a:prstGeom prst="roundRect">
            <a:avLst/>
          </a:prstGeom>
          <a:solidFill>
            <a:srgbClr val="6699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0" y="2130552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Source Han Serif SC"/>
              </a:defRPr>
            </a:pPr>
            <a:r>
              <a:t>cold_start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78240" y="210312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1410"/>
                </a:solidFill>
                <a:latin typeface="Source Han Sans SC"/>
              </a:defRPr>
            </a:pPr>
            <a:r>
              <a:t>C &lt; 28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0" y="2560320"/>
            <a:ext cx="4754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A8C7E"/>
                </a:solidFill>
                <a:latin typeface="Source Han Sans SC"/>
              </a:defRPr>
            </a:pPr>
            <a:r>
              <a:t>优先ASK采集偏好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0" y="3291839"/>
            <a:ext cx="2011680" cy="365760"/>
          </a:xfrm>
          <a:prstGeom prst="roundRect">
            <a:avLst/>
          </a:prstGeom>
          <a:solidFill>
            <a:srgbClr val="DDA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83680" y="3319271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Source Han Serif SC"/>
              </a:defRPr>
            </a:pPr>
            <a:r>
              <a:t>mixed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78240" y="3291839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1410"/>
                </a:solidFill>
                <a:latin typeface="Source Han Sans SC"/>
              </a:defRPr>
            </a:pPr>
            <a:r>
              <a:t>28 ≤ C &lt; 62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0" y="3749039"/>
            <a:ext cx="4754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A8C7E"/>
                </a:solidFill>
                <a:latin typeface="Source Han Sans SC"/>
              </a:defRPr>
            </a:pPr>
            <a:r>
              <a:t>边推荐边追问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83680" y="4480560"/>
            <a:ext cx="2011680" cy="365760"/>
          </a:xfrm>
          <a:prstGeom prst="roundRect">
            <a:avLst/>
          </a:prstGeom>
          <a:solidFill>
            <a:srgbClr val="66B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83680" y="4507992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Source Han Serif SC"/>
              </a:defRPr>
            </a:pPr>
            <a:r>
              <a:t>precision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778240" y="448056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1410"/>
                </a:solidFill>
                <a:latin typeface="Source Han Sans SC"/>
              </a:defRPr>
            </a:pPr>
            <a:r>
              <a:t>C ≥ 62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0" y="4937760"/>
            <a:ext cx="4754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A8C7E"/>
                </a:solidFill>
                <a:latin typeface="Source Han Sans SC"/>
              </a:defRPr>
            </a:pPr>
            <a:r>
              <a:t>精准推荐为主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0" y="5303520"/>
            <a:ext cx="4754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A8C7E"/>
                </a:solidFill>
                <a:latin typeface="Source Han Serif SC"/>
              </a:defRPr>
            </a:pPr>
            <a:r>
              <a:t>特殊策略：意图驱动推荐 | 恢复式提问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20040"/>
            <a:ext cx="54864" cy="64008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2743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C41E3A"/>
                </a:solidFill>
                <a:latin typeface="Source Han Serif SC"/>
              </a:defRPr>
            </a:pPr>
            <a: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54864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A1410"/>
                </a:solidFill>
                <a:latin typeface="Source Han Serif SC"/>
              </a:defRPr>
            </a:pPr>
            <a:r>
              <a:t>AI数字人"黑塔"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9601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A8C7E"/>
                </a:solidFill>
                <a:latin typeface="Source Han Sans SC"/>
              </a:defRPr>
            </a:pPr>
            <a:r>
              <a:t>四大职责 + 回答链路 + 提示词约束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234440"/>
            <a:ext cx="11247120" cy="7315"/>
          </a:xfrm>
          <a:prstGeom prst="rect">
            <a:avLst/>
          </a:prstGeom>
          <a:solidFill>
            <a:srgbClr val="F0E4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0" y="0"/>
            <a:ext cx="761695" cy="36576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2155119" y="0"/>
            <a:ext cx="36576" cy="73152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A8C7E"/>
                </a:solidFill>
                <a:latin typeface="Source Han Serif SC"/>
              </a:defRPr>
            </a:pPr>
            <a:r>
              <a:t>12 / 22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1371600"/>
            <a:ext cx="2651760" cy="16459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F0E4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1371600"/>
            <a:ext cx="2651760" cy="54864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155448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C41E3A"/>
                </a:solidFill>
                <a:latin typeface="Source Han Serif SC"/>
              </a:defRPr>
            </a:pPr>
            <a:r>
              <a:t>知识传授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1920240"/>
            <a:ext cx="2377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1A1410"/>
                </a:solidFill>
                <a:latin typeface="Source Han Sans SC"/>
              </a:defRPr>
            </a:pPr>
            <a:r>
              <a:t>非遗问题解释</a:t>
            </a:r>
            <a:br/>
            <a:r>
              <a:t>导览入口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337560" y="1371600"/>
            <a:ext cx="2651760" cy="16459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F0E4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337560" y="1371600"/>
            <a:ext cx="2651760" cy="54864"/>
          </a:xfrm>
          <a:prstGeom prst="rect">
            <a:avLst/>
          </a:prstGeom>
          <a:solidFill>
            <a:srgbClr val="2A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474720" y="155448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A3D5C"/>
                </a:solidFill>
                <a:latin typeface="Source Han Serif SC"/>
              </a:defRPr>
            </a:pPr>
            <a:r>
              <a:t>推荐引导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74720" y="1920240"/>
            <a:ext cx="2377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1A1410"/>
                </a:solidFill>
                <a:latin typeface="Source Han Sans SC"/>
              </a:defRPr>
            </a:pPr>
            <a:r>
              <a:t>提问引向推荐</a:t>
            </a:r>
            <a:br/>
            <a:r>
              <a:t>不停留在问答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1371600"/>
            <a:ext cx="2651760" cy="16459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F0E4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17920" y="1371600"/>
            <a:ext cx="2651760" cy="54864"/>
          </a:xfrm>
          <a:prstGeom prst="rect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55080" y="155448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4A7C59"/>
                </a:solidFill>
                <a:latin typeface="Source Han Serif SC"/>
              </a:defRPr>
            </a:pPr>
            <a:r>
              <a:t>采集偏好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55080" y="1920240"/>
            <a:ext cx="2377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1A1410"/>
                </a:solidFill>
                <a:latin typeface="Source Han Sans SC"/>
              </a:defRPr>
            </a:pPr>
            <a:r>
              <a:t>ASK模板收集</a:t>
            </a:r>
            <a:br/>
            <a:r>
              <a:t>类别/地区/体验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098280" y="1371600"/>
            <a:ext cx="2651760" cy="16459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F0E4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098280" y="1371600"/>
            <a:ext cx="2651760" cy="54864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235440" y="155448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D4A537"/>
                </a:solidFill>
                <a:latin typeface="Source Han Serif SC"/>
              </a:defRPr>
            </a:pPr>
            <a:r>
              <a:t>闭环触发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35440" y="1920240"/>
            <a:ext cx="2377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1A1410"/>
                </a:solidFill>
                <a:latin typeface="Source Han Sans SC"/>
              </a:defRPr>
            </a:pPr>
            <a:r>
              <a:t>行为反馈画像</a:t>
            </a:r>
            <a:br/>
            <a:r>
              <a:t>CRS状态深化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200" y="3291840"/>
            <a:ext cx="11155680" cy="1280160"/>
          </a:xfrm>
          <a:prstGeom prst="roundRect">
            <a:avLst/>
          </a:prstGeom>
          <a:solidFill>
            <a:srgbClr val="1A14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1520" y="338328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D4A537"/>
                </a:solidFill>
                <a:latin typeface="Source Han Serif SC"/>
              </a:defRPr>
            </a:pPr>
            <a:r>
              <a:t>AI回答链路（本地知识优先）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3794760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Source Han Sans SC"/>
              </a:defRPr>
            </a:pPr>
            <a:r>
              <a:t>接收问题 → 检索本地知识库 → 读取CRS会话 → 生成推荐载荷 → ASK-REC决策 → 调用豆包API → 返回回答+推荐卡+ASK选项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57200" y="4846320"/>
            <a:ext cx="11155680" cy="15544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F0E4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1520" y="493776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C41E3A"/>
                </a:solidFill>
                <a:latin typeface="Source Han Serif SC"/>
              </a:defRPr>
            </a:pPr>
            <a:r>
              <a:t>三层提示词约束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1520" y="5349240"/>
            <a:ext cx="10607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000" b="0">
                <a:solidFill>
                  <a:srgbClr val="C41E3A"/>
                </a:solidFill>
                <a:latin typeface="Source Han Sans SC"/>
              </a:rPr>
              <a:t>◆ </a:t>
            </a:r>
            <a:r>
              <a:rPr sz="1200" b="0">
                <a:solidFill>
                  <a:srgbClr val="1A1410"/>
                </a:solidFill>
                <a:latin typeface="Source Han Sans SC"/>
              </a:rPr>
              <a:t>第一层  全局角色提示：确定黑塔身份、语气、服务范围和知识边界</a:t>
            </a:r>
          </a:p>
          <a:p>
            <a:pPr>
              <a:spcAft>
                <a:spcPts val="500"/>
              </a:spcAft>
            </a:pPr>
            <a:r>
              <a:rPr sz="1000" b="0">
                <a:solidFill>
                  <a:srgbClr val="C41E3A"/>
                </a:solidFill>
                <a:latin typeface="Source Han Sans SC"/>
              </a:rPr>
              <a:t>◆ </a:t>
            </a:r>
            <a:r>
              <a:rPr sz="1200" b="0">
                <a:solidFill>
                  <a:srgbClr val="1A1410"/>
                </a:solidFill>
                <a:latin typeface="Source Han Sans SC"/>
              </a:rPr>
              <a:t>第二层  任务型提示：知识命中时润色简化，未命中时限定输出范围</a:t>
            </a:r>
          </a:p>
          <a:p>
            <a:pPr>
              <a:spcAft>
                <a:spcPts val="500"/>
              </a:spcAft>
            </a:pPr>
            <a:r>
              <a:rPr sz="1000" b="0">
                <a:solidFill>
                  <a:srgbClr val="C41E3A"/>
                </a:solidFill>
                <a:latin typeface="Source Han Sans SC"/>
              </a:rPr>
              <a:t>◆ </a:t>
            </a:r>
            <a:r>
              <a:rPr sz="1200" b="0">
                <a:solidFill>
                  <a:srgbClr val="1A1410"/>
                </a:solidFill>
                <a:latin typeface="Source Han Sans SC"/>
              </a:rPr>
              <a:t>第三层  CRS感知提示：根据cold_start/mixed/precision动态调整语气深度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20040"/>
            <a:ext cx="54864" cy="64008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2743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C41E3A"/>
                </a:solidFill>
                <a:latin typeface="Source Han Serif SC"/>
              </a:defRPr>
            </a:pPr>
            <a: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54864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A1410"/>
                </a:solidFill>
                <a:latin typeface="Source Han Serif SC"/>
              </a:defRPr>
            </a:pPr>
            <a:r>
              <a:t>知识图谱与内容治理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9601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A8C7E"/>
                </a:solidFill>
                <a:latin typeface="Source Han Sans SC"/>
              </a:defRPr>
            </a:pPr>
            <a:r>
              <a:t>图谱增强推荐 + 三维度质量评分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234440"/>
            <a:ext cx="11247120" cy="7315"/>
          </a:xfrm>
          <a:prstGeom prst="rect">
            <a:avLst/>
          </a:prstGeom>
          <a:solidFill>
            <a:srgbClr val="F0E4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0" y="0"/>
            <a:ext cx="761695" cy="36576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2155119" y="0"/>
            <a:ext cx="36576" cy="73152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A8C7E"/>
                </a:solidFill>
                <a:latin typeface="Source Han Serif SC"/>
              </a:defRPr>
            </a:pPr>
            <a:r>
              <a:t>13 / 22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1371600"/>
            <a:ext cx="5303520" cy="48463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F0E4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1371600"/>
            <a:ext cx="5303520" cy="54864"/>
          </a:xfrm>
          <a:prstGeom prst="rect">
            <a:avLst/>
          </a:prstGeom>
          <a:solidFill>
            <a:srgbClr val="2A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155448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A3D5C"/>
                </a:solidFill>
                <a:latin typeface="Source Han Serif SC"/>
              </a:defRPr>
            </a:pPr>
            <a:r>
              <a:t>知识图谱设计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2103120"/>
            <a:ext cx="47548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100" b="0">
                <a:solidFill>
                  <a:srgbClr val="2A3D5C"/>
                </a:solidFill>
                <a:latin typeface="Source Han Sans SC"/>
              </a:rPr>
              <a:t>◆ </a:t>
            </a:r>
            <a:r>
              <a:rPr sz="1300" b="0">
                <a:solidFill>
                  <a:srgbClr val="1A1410"/>
                </a:solidFill>
                <a:latin typeface="Source Han Sans SC"/>
              </a:rPr>
              <a:t>定位：推荐和AI对话的加强器，非主排序器</a:t>
            </a:r>
          </a:p>
          <a:p>
            <a:pPr>
              <a:spcAft>
                <a:spcPts val="800"/>
              </a:spcAft>
            </a:pPr>
            <a:r>
              <a:rPr sz="1100" b="0">
                <a:solidFill>
                  <a:srgbClr val="2A3D5C"/>
                </a:solidFill>
                <a:latin typeface="Source Han Sans SC"/>
              </a:rPr>
              <a:t>◆ </a:t>
            </a:r>
            <a:r>
              <a:rPr sz="1300" b="0">
                <a:solidFill>
                  <a:srgbClr val="1A1410"/>
                </a:solidFill>
                <a:latin typeface="Source Han Sans SC"/>
              </a:rPr>
              <a:t>扩大推荐候选：相近实体、类别关系、路径关系</a:t>
            </a:r>
          </a:p>
          <a:p>
            <a:pPr>
              <a:spcAft>
                <a:spcPts val="800"/>
              </a:spcAft>
            </a:pPr>
            <a:r>
              <a:rPr sz="1100" b="0">
                <a:solidFill>
                  <a:srgbClr val="2A3D5C"/>
                </a:solidFill>
                <a:latin typeface="Source Han Sans SC"/>
              </a:rPr>
              <a:t>◆ </a:t>
            </a:r>
            <a:r>
              <a:rPr sz="1300" b="0">
                <a:solidFill>
                  <a:srgbClr val="1A1410"/>
                </a:solidFill>
                <a:latin typeface="Source Han Sans SC"/>
              </a:rPr>
              <a:t>加强推荐解释：路径关系转为自然语言推荐理由</a:t>
            </a:r>
          </a:p>
          <a:p>
            <a:pPr>
              <a:spcAft>
                <a:spcPts val="800"/>
              </a:spcAft>
            </a:pPr>
            <a:r>
              <a:rPr sz="1100" b="0">
                <a:solidFill>
                  <a:srgbClr val="2A3D5C"/>
                </a:solidFill>
                <a:latin typeface="Source Han Sans SC"/>
              </a:rPr>
              <a:t>◆ </a:t>
            </a:r>
            <a:r>
              <a:rPr sz="1300" b="0">
                <a:solidFill>
                  <a:srgbClr val="1A1410"/>
                </a:solidFill>
                <a:latin typeface="Source Han Sans SC"/>
              </a:rPr>
              <a:t>以用户已知实体为起点，向丰富方向延伸</a:t>
            </a:r>
          </a:p>
          <a:p>
            <a:pPr>
              <a:spcAft>
                <a:spcPts val="800"/>
              </a:spcAft>
            </a:pPr>
            <a:r>
              <a:rPr sz="1100" b="0">
                <a:solidFill>
                  <a:srgbClr val="2A3D5C"/>
                </a:solidFill>
                <a:latin typeface="Source Han Sans SC"/>
              </a:rPr>
              <a:t>◆ </a:t>
            </a:r>
            <a:r>
              <a:rPr sz="1300" b="0">
                <a:solidFill>
                  <a:srgbClr val="1A1410"/>
                </a:solidFill>
                <a:latin typeface="Source Han Sans SC"/>
              </a:rPr>
              <a:t>CRS联动：识别实体→映射画像→附加图谱理由</a:t>
            </a:r>
          </a:p>
          <a:p>
            <a:pPr>
              <a:spcAft>
                <a:spcPts val="800"/>
              </a:spcAft>
            </a:pPr>
            <a:r>
              <a:rPr sz="1100" b="0">
                <a:solidFill>
                  <a:srgbClr val="2A3D5C"/>
                </a:solidFill>
                <a:latin typeface="Source Han Sans SC"/>
              </a:rPr>
              <a:t>◆ </a:t>
            </a:r>
            <a:r>
              <a:rPr sz="1300" b="0">
                <a:solidFill>
                  <a:srgbClr val="1A1410"/>
                </a:solidFill>
                <a:latin typeface="Source Han Sans SC"/>
              </a:rPr>
              <a:t>一石二鸟：增强解释 + 参与兴趣建模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09360" y="1371600"/>
            <a:ext cx="5303520" cy="48463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F0E4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9360" y="1371600"/>
            <a:ext cx="5303520" cy="54864"/>
          </a:xfrm>
          <a:prstGeom prst="rect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155448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4A7C59"/>
                </a:solidFill>
                <a:latin typeface="Source Han Serif SC"/>
              </a:defRPr>
            </a:pPr>
            <a:r>
              <a:t>内容治理体系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2103120"/>
            <a:ext cx="47548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100" b="0">
                <a:solidFill>
                  <a:srgbClr val="4A7C59"/>
                </a:solidFill>
                <a:latin typeface="Source Han Sans SC"/>
              </a:rPr>
              <a:t>◆ </a:t>
            </a:r>
            <a:r>
              <a:rPr sz="1300" b="0">
                <a:solidFill>
                  <a:srgbClr val="1A1410"/>
                </a:solidFill>
                <a:latin typeface="Source Han Sans SC"/>
              </a:rPr>
              <a:t>质量评分（三维度量化）：</a:t>
            </a:r>
          </a:p>
          <a:p>
            <a:pPr>
              <a:spcAft>
                <a:spcPts val="800"/>
              </a:spcAft>
            </a:pPr>
            <a:r>
              <a:rPr sz="1100" b="0">
                <a:solidFill>
                  <a:srgbClr val="4A7C59"/>
                </a:solidFill>
                <a:latin typeface="Source Han Sans SC"/>
              </a:rPr>
              <a:t>◆ </a:t>
            </a:r>
            <a:r>
              <a:rPr sz="1300" b="0">
                <a:solidFill>
                  <a:srgbClr val="1A1410"/>
                </a:solidFill>
                <a:latin typeface="Source Han Sans SC"/>
              </a:rPr>
              <a:t>  内容完整度：正文字数、封面图、摘要</a:t>
            </a:r>
          </a:p>
          <a:p>
            <a:pPr>
              <a:spcAft>
                <a:spcPts val="800"/>
              </a:spcAft>
            </a:pPr>
            <a:r>
              <a:rPr sz="1100" b="0">
                <a:solidFill>
                  <a:srgbClr val="4A7C59"/>
                </a:solidFill>
                <a:latin typeface="Source Han Sans SC"/>
              </a:rPr>
              <a:t>◆ </a:t>
            </a:r>
            <a:r>
              <a:rPr sz="1300" b="0">
                <a:solidFill>
                  <a:srgbClr val="1A1410"/>
                </a:solidFill>
                <a:latin typeface="Source Han Sans SC"/>
              </a:rPr>
              <a:t>  信息丰富度：章节归属、标签覆盖</a:t>
            </a:r>
          </a:p>
          <a:p>
            <a:pPr>
              <a:spcAft>
                <a:spcPts val="800"/>
              </a:spcAft>
            </a:pPr>
            <a:r>
              <a:rPr sz="1100" b="0">
                <a:solidFill>
                  <a:srgbClr val="4A7C59"/>
                </a:solidFill>
                <a:latin typeface="Source Han Sans SC"/>
              </a:rPr>
              <a:t>◆ </a:t>
            </a:r>
            <a:r>
              <a:rPr sz="1300" b="0">
                <a:solidFill>
                  <a:srgbClr val="1A1410"/>
                </a:solidFill>
                <a:latin typeface="Source Han Sans SC"/>
              </a:rPr>
              <a:t>  原创质量：来源可信度、内容哈希去重</a:t>
            </a:r>
          </a:p>
          <a:p>
            <a:pPr>
              <a:spcAft>
                <a:spcPts val="800"/>
              </a:spcAft>
            </a:pPr>
            <a:r>
              <a:rPr sz="1100" b="0">
                <a:solidFill>
                  <a:srgbClr val="4A7C59"/>
                </a:solidFill>
                <a:latin typeface="Source Han Sans SC"/>
              </a:rPr>
              <a:t>◆ </a:t>
            </a:r>
            <a:r>
              <a:rPr sz="1300" b="0">
                <a:solidFill>
                  <a:srgbClr val="1A1410"/>
                </a:solidFill>
                <a:latin typeface="Source Han Sans SC"/>
              </a:rPr>
              <a:t>审核发布：质量分≥阈值自动进推荐池</a:t>
            </a:r>
          </a:p>
          <a:p>
            <a:pPr>
              <a:spcAft>
                <a:spcPts val="800"/>
              </a:spcAft>
            </a:pPr>
            <a:r>
              <a:rPr sz="1100" b="0">
                <a:solidFill>
                  <a:srgbClr val="4A7C59"/>
                </a:solidFill>
                <a:latin typeface="Source Han Sans SC"/>
              </a:rPr>
              <a:t>◆ </a:t>
            </a:r>
            <a:r>
              <a:rPr sz="1300" b="0">
                <a:solidFill>
                  <a:srgbClr val="1A1410"/>
                </a:solidFill>
                <a:latin typeface="Source Han Sans SC"/>
              </a:rPr>
              <a:t>白名单回补：定期从达标内容重新选拔精选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20040"/>
            <a:ext cx="54864" cy="64008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2743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C41E3A"/>
                </a:solidFill>
                <a:latin typeface="Source Han Serif SC"/>
              </a:defRPr>
            </a:pPr>
            <a:r>
              <a:t>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54864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A1410"/>
                </a:solidFill>
                <a:latin typeface="Source Han Serif SC"/>
              </a:defRPr>
            </a:pPr>
            <a:r>
              <a:t>首页与个性化推荐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9601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A8C7E"/>
                </a:solidFill>
                <a:latin typeface="Source Han Sans SC"/>
              </a:defRPr>
            </a:pPr>
            <a:r>
              <a:t>AI导览横幅 + 精选推荐 + 快速入口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234440"/>
            <a:ext cx="11247120" cy="7315"/>
          </a:xfrm>
          <a:prstGeom prst="rect">
            <a:avLst/>
          </a:prstGeom>
          <a:solidFill>
            <a:srgbClr val="F0E4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0" y="0"/>
            <a:ext cx="761695" cy="36576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2155119" y="0"/>
            <a:ext cx="36576" cy="73152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A8C7E"/>
                </a:solidFill>
                <a:latin typeface="Source Han Serif SC"/>
              </a:defRPr>
            </a:pPr>
            <a:r>
              <a:t>14 / 22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1371600"/>
            <a:ext cx="3566160" cy="48463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F0E4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1371600"/>
            <a:ext cx="3566160" cy="54864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155448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C41E3A"/>
                </a:solidFill>
                <a:latin typeface="Source Han Serif SC"/>
              </a:defRPr>
            </a:pPr>
            <a:r>
              <a:t>AI导览横幅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2011680"/>
            <a:ext cx="32004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A1410"/>
                </a:solidFill>
                <a:latin typeface="Source Han Sans SC"/>
              </a:defRPr>
            </a:pPr>
            <a:r>
              <a:t>数字导览中枢徽章</a:t>
            </a:r>
            <a:br/>
            <a:r>
              <a:t>CRS模式进度胶囊</a:t>
            </a:r>
            <a:br/>
            <a:r>
              <a:t>（想认识你→正在了解你→已懂你）</a:t>
            </a:r>
            <a:br/>
            <a:r>
              <a:t>黑塔数字人组件</a:t>
            </a:r>
            <a:br/>
            <a:r>
              <a:t>（表情随CRS模式变化）</a:t>
            </a:r>
            <a:br/>
            <a:r>
              <a:t>立即开始按钮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97680" y="1371600"/>
            <a:ext cx="3566160" cy="48463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F0E4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297680" y="1371600"/>
            <a:ext cx="3566160" cy="54864"/>
          </a:xfrm>
          <a:prstGeom prst="rect">
            <a:avLst/>
          </a:prstGeom>
          <a:solidFill>
            <a:srgbClr val="2A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80560" y="155448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A3D5C"/>
                </a:solidFill>
                <a:latin typeface="Source Han Serif SC"/>
              </a:defRPr>
            </a:pPr>
            <a:r>
              <a:t>精选推荐区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80560" y="2011680"/>
            <a:ext cx="32004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A1410"/>
                </a:solidFill>
                <a:latin typeface="Source Han Sans SC"/>
              </a:defRPr>
            </a:pPr>
            <a:r>
              <a:t>第一条推荐大卡片展示</a:t>
            </a:r>
            <a:br/>
            <a:r>
              <a:t>今日推荐：内容/活动/讨论</a:t>
            </a:r>
            <a:br/>
            <a:r>
              <a:t>推荐理由标签+新鲜度标签</a:t>
            </a:r>
            <a:br/>
            <a:r>
              <a:t>点击行为即时回流画像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38160" y="1371600"/>
            <a:ext cx="3566160" cy="48463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F0E4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138160" y="1371600"/>
            <a:ext cx="3566160" cy="54864"/>
          </a:xfrm>
          <a:prstGeom prst="rect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21040" y="155448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A7C59"/>
                </a:solidFill>
                <a:latin typeface="Source Han Serif SC"/>
              </a:defRPr>
            </a:pPr>
            <a:r>
              <a:t>快速入口+TabBar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21040" y="2011680"/>
            <a:ext cx="32004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A1410"/>
                </a:solidFill>
                <a:latin typeface="Source Han Sans SC"/>
              </a:defRPr>
            </a:pPr>
            <a:r>
              <a:t>非遗发展史/非遗地点快捷入口</a:t>
            </a:r>
            <a:br/>
            <a:r>
              <a:t>自定义TabBar</a:t>
            </a:r>
            <a:br/>
            <a:r>
              <a:t>主页/文化/活动/讨论/我的</a:t>
            </a:r>
            <a:br/>
            <a:r>
              <a:t>胶囊圆角设计</a:t>
            </a:r>
            <a:br/>
            <a:r>
              <a:t>选中态朱红渐变背景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20040"/>
            <a:ext cx="54864" cy="64008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2743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C41E3A"/>
                </a:solidFill>
                <a:latin typeface="Source Han Serif SC"/>
              </a:defRPr>
            </a:pPr>
            <a:r>
              <a:t>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54864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A1410"/>
                </a:solidFill>
                <a:latin typeface="Source Han Serif SC"/>
              </a:defRPr>
            </a:pPr>
            <a:r>
              <a:t>非遗内容与活动报名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9601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A8C7E"/>
                </a:solidFill>
                <a:latin typeface="Source Han Sans SC"/>
              </a:defRPr>
            </a:pPr>
            <a:r>
              <a:t>瀑布流布局 + 在线报名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234440"/>
            <a:ext cx="11247120" cy="7315"/>
          </a:xfrm>
          <a:prstGeom prst="rect">
            <a:avLst/>
          </a:prstGeom>
          <a:solidFill>
            <a:srgbClr val="F0E4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0" y="0"/>
            <a:ext cx="761695" cy="36576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2155119" y="0"/>
            <a:ext cx="36576" cy="73152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A8C7E"/>
                </a:solidFill>
                <a:latin typeface="Source Han Serif SC"/>
              </a:defRPr>
            </a:pPr>
            <a:r>
              <a:t>15 / 22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1371600"/>
            <a:ext cx="5303520" cy="48463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F0E4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1371600"/>
            <a:ext cx="5303520" cy="54864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155448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C41E3A"/>
                </a:solidFill>
                <a:latin typeface="Source Han Serif SC"/>
              </a:defRPr>
            </a:pPr>
            <a:r>
              <a:t>非遗内容模块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2103120"/>
            <a:ext cx="47548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100" b="0">
                <a:solidFill>
                  <a:srgbClr val="C41E3A"/>
                </a:solidFill>
                <a:latin typeface="Source Han Sans SC"/>
              </a:rPr>
              <a:t>◆ </a:t>
            </a:r>
            <a:r>
              <a:rPr sz="1300" b="0">
                <a:solidFill>
                  <a:srgbClr val="1A1410"/>
                </a:solidFill>
                <a:latin typeface="Source Han Sans SC"/>
              </a:rPr>
              <a:t>内容列表：瀑布流双列布局</a:t>
            </a:r>
          </a:p>
          <a:p>
            <a:pPr>
              <a:spcAft>
                <a:spcPts val="800"/>
              </a:spcAft>
            </a:pPr>
            <a:r>
              <a:rPr sz="1100" b="0">
                <a:solidFill>
                  <a:srgbClr val="C41E3A"/>
                </a:solidFill>
                <a:latin typeface="Source Han Sans SC"/>
              </a:rPr>
              <a:t>◆ </a:t>
            </a:r>
            <a:r>
              <a:rPr sz="1300" b="0">
                <a:solidFill>
                  <a:srgbClr val="1A1410"/>
                </a:solidFill>
                <a:latin typeface="Source Han Sans SC"/>
              </a:rPr>
              <a:t>策展精选显眼位置</a:t>
            </a:r>
          </a:p>
          <a:p>
            <a:pPr>
              <a:spcAft>
                <a:spcPts val="800"/>
              </a:spcAft>
            </a:pPr>
            <a:r>
              <a:rPr sz="1100" b="0">
                <a:solidFill>
                  <a:srgbClr val="C41E3A"/>
                </a:solidFill>
                <a:latin typeface="Source Han Sans SC"/>
              </a:rPr>
              <a:t>◆ </a:t>
            </a:r>
            <a:r>
              <a:rPr sz="1300" b="0">
                <a:solidFill>
                  <a:srgbClr val="1A1410"/>
                </a:solidFill>
                <a:latin typeface="Source Han Sans SC"/>
              </a:rPr>
              <a:t>按子章节和类型打标签</a:t>
            </a:r>
          </a:p>
          <a:p>
            <a:pPr>
              <a:spcAft>
                <a:spcPts val="800"/>
              </a:spcAft>
            </a:pPr>
            <a:r>
              <a:rPr sz="1100" b="0">
                <a:solidFill>
                  <a:srgbClr val="C41E3A"/>
                </a:solidFill>
                <a:latin typeface="Source Han Sans SC"/>
              </a:rPr>
              <a:t>◆ </a:t>
            </a:r>
            <a:r>
              <a:rPr sz="1300" b="0">
                <a:solidFill>
                  <a:srgbClr val="1A1410"/>
                </a:solidFill>
                <a:latin typeface="Source Han Sans SC"/>
              </a:rPr>
              <a:t>个性化内容推荐混合展示</a:t>
            </a:r>
          </a:p>
          <a:p>
            <a:pPr>
              <a:spcAft>
                <a:spcPts val="800"/>
              </a:spcAft>
            </a:pPr>
            <a:r>
              <a:rPr sz="1100" b="0">
                <a:solidFill>
                  <a:srgbClr val="C41E3A"/>
                </a:solidFill>
                <a:latin typeface="Source Han Sans SC"/>
              </a:rPr>
              <a:t>◆ </a:t>
            </a:r>
            <a:r>
              <a:rPr sz="1300" b="0">
                <a:solidFill>
                  <a:srgbClr val="1A1410"/>
                </a:solidFill>
                <a:latin typeface="Source Han Sans SC"/>
              </a:rPr>
              <a:t>内容详情：封面图+三分钟看点+延伸讲解</a:t>
            </a:r>
          </a:p>
          <a:p>
            <a:pPr>
              <a:spcAft>
                <a:spcPts val="800"/>
              </a:spcAft>
            </a:pPr>
            <a:r>
              <a:rPr sz="1100" b="0">
                <a:solidFill>
                  <a:srgbClr val="C41E3A"/>
                </a:solidFill>
                <a:latin typeface="Source Han Sans SC"/>
              </a:rPr>
              <a:t>◆ </a:t>
            </a:r>
            <a:r>
              <a:rPr sz="1300" b="0">
                <a:solidFill>
                  <a:srgbClr val="1A1410"/>
                </a:solidFill>
                <a:latin typeface="Source Han Sans SC"/>
              </a:rPr>
              <a:t>AI浮窗入口（场景化问答）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09360" y="1371600"/>
            <a:ext cx="5303520" cy="48463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F0E4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9360" y="1371600"/>
            <a:ext cx="5303520" cy="54864"/>
          </a:xfrm>
          <a:prstGeom prst="rect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155448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4A7C59"/>
                </a:solidFill>
                <a:latin typeface="Source Han Serif SC"/>
              </a:defRPr>
            </a:pPr>
            <a:r>
              <a:t>活动报名模块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2103120"/>
            <a:ext cx="47548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100" b="0">
                <a:solidFill>
                  <a:srgbClr val="4A7C59"/>
                </a:solidFill>
                <a:latin typeface="Source Han Sans SC"/>
              </a:rPr>
              <a:t>◆ </a:t>
            </a:r>
            <a:r>
              <a:rPr sz="1300" b="0">
                <a:solidFill>
                  <a:srgbClr val="1A1410"/>
                </a:solidFill>
                <a:latin typeface="Source Han Sans SC"/>
              </a:rPr>
              <a:t>活动列表：按月份筛选</a:t>
            </a:r>
          </a:p>
          <a:p>
            <a:pPr>
              <a:spcAft>
                <a:spcPts val="800"/>
              </a:spcAft>
            </a:pPr>
            <a:r>
              <a:rPr sz="1100" b="0">
                <a:solidFill>
                  <a:srgbClr val="4A7C59"/>
                </a:solidFill>
                <a:latin typeface="Source Han Sans SC"/>
              </a:rPr>
              <a:t>◆ </a:t>
            </a:r>
            <a:r>
              <a:rPr sz="1300" b="0">
                <a:solidFill>
                  <a:srgbClr val="1A1410"/>
                </a:solidFill>
                <a:latin typeface="Source Han Sans SC"/>
              </a:rPr>
              <a:t>前两条标记本月主推</a:t>
            </a:r>
          </a:p>
          <a:p>
            <a:pPr>
              <a:spcAft>
                <a:spcPts val="800"/>
              </a:spcAft>
            </a:pPr>
            <a:r>
              <a:rPr sz="1100" b="0">
                <a:solidFill>
                  <a:srgbClr val="4A7C59"/>
                </a:solidFill>
                <a:latin typeface="Source Han Sans SC"/>
              </a:rPr>
              <a:t>◆ </a:t>
            </a:r>
            <a:r>
              <a:rPr sz="1300" b="0">
                <a:solidFill>
                  <a:srgbClr val="1A1410"/>
                </a:solidFill>
                <a:latin typeface="Source Han Sans SC"/>
              </a:rPr>
              <a:t>个性化活动推荐混合展示</a:t>
            </a:r>
          </a:p>
          <a:p>
            <a:pPr>
              <a:spcAft>
                <a:spcPts val="800"/>
              </a:spcAft>
            </a:pPr>
            <a:r>
              <a:rPr sz="1100" b="0">
                <a:solidFill>
                  <a:srgbClr val="4A7C59"/>
                </a:solidFill>
                <a:latin typeface="Source Han Sans SC"/>
              </a:rPr>
              <a:t>◆ </a:t>
            </a:r>
            <a:r>
              <a:rPr sz="1300" b="0">
                <a:solidFill>
                  <a:srgbClr val="1A1410"/>
                </a:solidFill>
                <a:latin typeface="Source Han Sans SC"/>
              </a:rPr>
              <a:t>活动详情：封面/时间地点/组织者</a:t>
            </a:r>
          </a:p>
          <a:p>
            <a:pPr>
              <a:spcAft>
                <a:spcPts val="800"/>
              </a:spcAft>
            </a:pPr>
            <a:r>
              <a:rPr sz="1100" b="0">
                <a:solidFill>
                  <a:srgbClr val="4A7C59"/>
                </a:solidFill>
                <a:latin typeface="Source Han Sans SC"/>
              </a:rPr>
              <a:t>◆ </a:t>
            </a:r>
            <a:r>
              <a:rPr sz="1300" b="0">
                <a:solidFill>
                  <a:srgbClr val="1A1410"/>
                </a:solidFill>
                <a:latin typeface="Source Han Sans SC"/>
              </a:rPr>
              <a:t>展示块（亮点/议程/提示）</a:t>
            </a:r>
          </a:p>
          <a:p>
            <a:pPr>
              <a:spcAft>
                <a:spcPts val="800"/>
              </a:spcAft>
            </a:pPr>
            <a:r>
              <a:rPr sz="1100" b="0">
                <a:solidFill>
                  <a:srgbClr val="4A7C59"/>
                </a:solidFill>
                <a:latin typeface="Source Han Sans SC"/>
              </a:rPr>
              <a:t>◆ </a:t>
            </a:r>
            <a:r>
              <a:rPr sz="1300" b="0">
                <a:solidFill>
                  <a:srgbClr val="1A1410"/>
                </a:solidFill>
                <a:latin typeface="Source Han Sans SC"/>
              </a:rPr>
              <a:t>在线报名/取消报名+AI浮窗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20040"/>
            <a:ext cx="54864" cy="64008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2743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C41E3A"/>
                </a:solidFill>
                <a:latin typeface="Source Han Serif SC"/>
              </a:defRPr>
            </a:pPr>
            <a:r>
              <a:t>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54864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A1410"/>
                </a:solidFill>
                <a:latin typeface="Source Han Serif SC"/>
              </a:defRPr>
            </a:pPr>
            <a:r>
              <a:t>社区讨论与用户中心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9601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A8C7E"/>
                </a:solidFill>
                <a:latin typeface="Source Han Sans SC"/>
              </a:defRPr>
            </a:pPr>
            <a:r>
              <a:t>话题互动 + 偏好管理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234440"/>
            <a:ext cx="11247120" cy="7315"/>
          </a:xfrm>
          <a:prstGeom prst="rect">
            <a:avLst/>
          </a:prstGeom>
          <a:solidFill>
            <a:srgbClr val="F0E4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0" y="0"/>
            <a:ext cx="761695" cy="36576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2155119" y="0"/>
            <a:ext cx="36576" cy="73152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A8C7E"/>
                </a:solidFill>
                <a:latin typeface="Source Han Serif SC"/>
              </a:defRPr>
            </a:pPr>
            <a:r>
              <a:t>16 / 22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1371600"/>
            <a:ext cx="5303520" cy="48463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F0E4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1371600"/>
            <a:ext cx="5303520" cy="54864"/>
          </a:xfrm>
          <a:prstGeom prst="rect">
            <a:avLst/>
          </a:prstGeom>
          <a:solidFill>
            <a:srgbClr val="2A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155448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A3D5C"/>
                </a:solidFill>
                <a:latin typeface="Source Han Serif SC"/>
              </a:defRPr>
            </a:pPr>
            <a:r>
              <a:t>社区讨论模块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2103120"/>
            <a:ext cx="47548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100" b="0">
                <a:solidFill>
                  <a:srgbClr val="2A3D5C"/>
                </a:solidFill>
                <a:latin typeface="Source Han Sans SC"/>
              </a:rPr>
              <a:t>◆ </a:t>
            </a:r>
            <a:r>
              <a:rPr sz="1300" b="0">
                <a:solidFill>
                  <a:srgbClr val="1A1410"/>
                </a:solidFill>
                <a:latin typeface="Source Han Sans SC"/>
              </a:rPr>
              <a:t>讨论列表：关键词搜索+标签筛选（10个标签）</a:t>
            </a:r>
          </a:p>
          <a:p>
            <a:pPr>
              <a:spcAft>
                <a:spcPts val="800"/>
              </a:spcAft>
            </a:pPr>
            <a:r>
              <a:rPr sz="1100" b="0">
                <a:solidFill>
                  <a:srgbClr val="2A3D5C"/>
                </a:solidFill>
                <a:latin typeface="Source Han Sans SC"/>
              </a:rPr>
              <a:t>◆ </a:t>
            </a:r>
            <a:r>
              <a:rPr sz="1300" b="0">
                <a:solidFill>
                  <a:srgbClr val="1A1410"/>
                </a:solidFill>
                <a:latin typeface="Source Han Sans SC"/>
              </a:rPr>
              <a:t>排序切换（热门/最新）、只看收藏</a:t>
            </a:r>
          </a:p>
          <a:p>
            <a:pPr>
              <a:spcAft>
                <a:spcPts val="800"/>
              </a:spcAft>
            </a:pPr>
            <a:r>
              <a:rPr sz="1100" b="0">
                <a:solidFill>
                  <a:srgbClr val="2A3D5C"/>
                </a:solidFill>
                <a:latin typeface="Source Han Sans SC"/>
              </a:rPr>
              <a:t>◆ </a:t>
            </a:r>
            <a:r>
              <a:rPr sz="1300" b="0">
                <a:solidFill>
                  <a:srgbClr val="1A1410"/>
                </a:solidFill>
                <a:latin typeface="Source Han Sans SC"/>
              </a:rPr>
              <a:t>热门话题TOP3展示</a:t>
            </a:r>
          </a:p>
          <a:p>
            <a:pPr>
              <a:spcAft>
                <a:spcPts val="800"/>
              </a:spcAft>
            </a:pPr>
            <a:r>
              <a:rPr sz="1100" b="0">
                <a:solidFill>
                  <a:srgbClr val="2A3D5C"/>
                </a:solidFill>
                <a:latin typeface="Source Han Sans SC"/>
              </a:rPr>
              <a:t>◆ </a:t>
            </a:r>
            <a:r>
              <a:rPr sz="1300" b="0">
                <a:solidFill>
                  <a:srgbClr val="1A1410"/>
                </a:solidFill>
                <a:latin typeface="Source Han Sans SC"/>
              </a:rPr>
              <a:t>发帖三种模板：提问型/体验分享型/活动反馈型</a:t>
            </a:r>
          </a:p>
          <a:p>
            <a:pPr>
              <a:spcAft>
                <a:spcPts val="800"/>
              </a:spcAft>
            </a:pPr>
            <a:r>
              <a:rPr sz="1100" b="0">
                <a:solidFill>
                  <a:srgbClr val="2A3D5C"/>
                </a:solidFill>
                <a:latin typeface="Source Han Sans SC"/>
              </a:rPr>
              <a:t>◆ </a:t>
            </a:r>
            <a:r>
              <a:rPr sz="1300" b="0">
                <a:solidFill>
                  <a:srgbClr val="1A1410"/>
                </a:solidFill>
                <a:latin typeface="Source Han Sans SC"/>
              </a:rPr>
              <a:t>话题详情：帖子正文+评论列表</a:t>
            </a:r>
          </a:p>
          <a:p>
            <a:pPr>
              <a:spcAft>
                <a:spcPts val="800"/>
              </a:spcAft>
            </a:pPr>
            <a:r>
              <a:rPr sz="1100" b="0">
                <a:solidFill>
                  <a:srgbClr val="2A3D5C"/>
                </a:solidFill>
                <a:latin typeface="Source Han Sans SC"/>
              </a:rPr>
              <a:t>◆ </a:t>
            </a:r>
            <a:r>
              <a:rPr sz="1300" b="0">
                <a:solidFill>
                  <a:srgbClr val="1A1410"/>
                </a:solidFill>
                <a:latin typeface="Source Han Sans SC"/>
              </a:rPr>
              <a:t>发表评论、点赞、收藏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09360" y="1371600"/>
            <a:ext cx="5303520" cy="48463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F0E4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9360" y="1371600"/>
            <a:ext cx="5303520" cy="54864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155448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D4A537"/>
                </a:solidFill>
                <a:latin typeface="Source Han Serif SC"/>
              </a:defRPr>
            </a:pPr>
            <a:r>
              <a:t>用户中心模块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2103120"/>
            <a:ext cx="47548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100" b="0">
                <a:solidFill>
                  <a:srgbClr val="D4A537"/>
                </a:solidFill>
                <a:latin typeface="Source Han Sans SC"/>
              </a:rPr>
              <a:t>◆ </a:t>
            </a:r>
            <a:r>
              <a:rPr sz="1300" b="0">
                <a:solidFill>
                  <a:srgbClr val="1A1410"/>
                </a:solidFill>
                <a:latin typeface="Source Han Sans SC"/>
              </a:rPr>
              <a:t>用户画像卡片：偏好关键词/活跃场景/关注地区</a:t>
            </a:r>
          </a:p>
          <a:p>
            <a:pPr>
              <a:spcAft>
                <a:spcPts val="800"/>
              </a:spcAft>
            </a:pPr>
            <a:r>
              <a:rPr sz="1100" b="0">
                <a:solidFill>
                  <a:srgbClr val="D4A537"/>
                </a:solidFill>
                <a:latin typeface="Source Han Sans SC"/>
              </a:rPr>
              <a:t>◆ </a:t>
            </a:r>
            <a:r>
              <a:rPr sz="1300" b="0">
                <a:solidFill>
                  <a:srgbClr val="1A1410"/>
                </a:solidFill>
                <a:latin typeface="Source Han Sans SC"/>
              </a:rPr>
              <a:t>统计卡片：发帖数/活动记录/已选偏好</a:t>
            </a:r>
          </a:p>
          <a:p>
            <a:pPr>
              <a:spcAft>
                <a:spcPts val="800"/>
              </a:spcAft>
            </a:pPr>
            <a:r>
              <a:rPr sz="1100" b="0">
                <a:solidFill>
                  <a:srgbClr val="D4A537"/>
                </a:solidFill>
                <a:latin typeface="Source Han Sans SC"/>
              </a:rPr>
              <a:t>◆ </a:t>
            </a:r>
            <a:r>
              <a:rPr sz="1300" b="0">
                <a:solidFill>
                  <a:srgbClr val="1A1410"/>
                </a:solidFill>
                <a:latin typeface="Source Han Sans SC"/>
              </a:rPr>
              <a:t>偏好设置：非遗类别（工艺/戏曲/民俗/医药）</a:t>
            </a:r>
          </a:p>
          <a:p>
            <a:pPr>
              <a:spcAft>
                <a:spcPts val="800"/>
              </a:spcAft>
            </a:pPr>
            <a:r>
              <a:rPr sz="1100" b="0">
                <a:solidFill>
                  <a:srgbClr val="D4A537"/>
                </a:solidFill>
                <a:latin typeface="Source Han Sans SC"/>
              </a:rPr>
              <a:t>◆ </a:t>
            </a:r>
            <a:r>
              <a:rPr sz="1300" b="0">
                <a:solidFill>
                  <a:srgbClr val="1A1410"/>
                </a:solidFill>
                <a:latin typeface="Source Han Sans SC"/>
              </a:rPr>
              <a:t>场景类型（知识阅读/活动体验/论坛交流）</a:t>
            </a:r>
          </a:p>
          <a:p>
            <a:pPr>
              <a:spcAft>
                <a:spcPts val="800"/>
              </a:spcAft>
            </a:pPr>
            <a:r>
              <a:rPr sz="1100" b="0">
                <a:solidFill>
                  <a:srgbClr val="D4A537"/>
                </a:solidFill>
                <a:latin typeface="Source Han Sans SC"/>
              </a:rPr>
              <a:t>◆ </a:t>
            </a:r>
            <a:r>
              <a:rPr sz="1300" b="0">
                <a:solidFill>
                  <a:srgbClr val="1A1410"/>
                </a:solidFill>
                <a:latin typeface="Source Han Sans SC"/>
              </a:rPr>
              <a:t>地区（华东/华南/西南/华北/西北/东北）</a:t>
            </a:r>
          </a:p>
          <a:p>
            <a:pPr>
              <a:spcAft>
                <a:spcPts val="800"/>
              </a:spcAft>
            </a:pPr>
            <a:r>
              <a:rPr sz="1100" b="0">
                <a:solidFill>
                  <a:srgbClr val="D4A537"/>
                </a:solidFill>
                <a:latin typeface="Source Han Sans SC"/>
              </a:rPr>
              <a:t>◆ </a:t>
            </a:r>
            <a:r>
              <a:rPr sz="1300" b="0">
                <a:solidFill>
                  <a:srgbClr val="1A1410"/>
                </a:solidFill>
                <a:latin typeface="Source Han Sans SC"/>
              </a:rPr>
              <a:t>保存后作为显式信号纳入画像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20040"/>
            <a:ext cx="54864" cy="64008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2743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C41E3A"/>
                </a:solidFill>
                <a:latin typeface="Source Han Serif SC"/>
              </a:defRPr>
            </a:pPr>
            <a:r>
              <a:t>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54864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A1410"/>
                </a:solidFill>
                <a:latin typeface="Source Han Serif SC"/>
              </a:defRPr>
            </a:pPr>
            <a:r>
              <a:t>AI数字人"黑塔"核心交互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9601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A8C7E"/>
                </a:solidFill>
                <a:latin typeface="Source Han Sans SC"/>
              </a:defRPr>
            </a:pPr>
            <a:r>
              <a:t>cold_start → mixed → precision 三阶段渐进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234440"/>
            <a:ext cx="11247120" cy="7315"/>
          </a:xfrm>
          <a:prstGeom prst="rect">
            <a:avLst/>
          </a:prstGeom>
          <a:solidFill>
            <a:srgbClr val="F0E4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0" y="0"/>
            <a:ext cx="761695" cy="36576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2155119" y="0"/>
            <a:ext cx="36576" cy="73152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A8C7E"/>
                </a:solidFill>
                <a:latin typeface="Source Han Serif SC"/>
              </a:defRPr>
            </a:pPr>
            <a:r>
              <a:t>17 / 22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1371600"/>
            <a:ext cx="3566160" cy="48463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F0E4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914400" y="1554480"/>
            <a:ext cx="2651760" cy="731520"/>
          </a:xfrm>
          <a:prstGeom prst="roundRect">
            <a:avLst/>
          </a:prstGeom>
          <a:solidFill>
            <a:srgbClr val="6699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1554480"/>
            <a:ext cx="2651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ource Han Serif SC"/>
              </a:defRPr>
            </a:pPr>
            <a:r>
              <a:t>cold_start</a:t>
            </a:r>
            <a:br/>
            <a:r>
              <a:t>冷启动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2377440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A1410"/>
                </a:solidFill>
                <a:latin typeface="Source Han Sans SC"/>
              </a:defRPr>
            </a:pPr>
            <a:r>
              <a:t>C &lt; 28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2834640"/>
            <a:ext cx="30175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000" b="0">
                <a:solidFill>
                  <a:srgbClr val="6699CC"/>
                </a:solidFill>
                <a:latin typeface="Source Han Sans SC"/>
              </a:rPr>
              <a:t>◆ </a:t>
            </a:r>
            <a:r>
              <a:rPr sz="1200" b="0">
                <a:solidFill>
                  <a:srgbClr val="1A1410"/>
                </a:solidFill>
                <a:latin typeface="Source Han Sans SC"/>
              </a:rPr>
              <a:t>主动提问为主</a:t>
            </a:r>
          </a:p>
          <a:p>
            <a:pPr>
              <a:spcAft>
                <a:spcPts val="600"/>
              </a:spcAft>
            </a:pPr>
            <a:r>
              <a:rPr sz="1000" b="0">
                <a:solidFill>
                  <a:srgbClr val="6699CC"/>
                </a:solidFill>
                <a:latin typeface="Source Han Sans SC"/>
              </a:rPr>
              <a:t>◆ </a:t>
            </a:r>
            <a:r>
              <a:rPr sz="1200" b="0">
                <a:solidFill>
                  <a:srgbClr val="1A1410"/>
                </a:solidFill>
                <a:latin typeface="Source Han Sans SC"/>
              </a:rPr>
              <a:t>ASK卡片收集偏好</a:t>
            </a:r>
          </a:p>
          <a:p>
            <a:pPr>
              <a:spcAft>
                <a:spcPts val="600"/>
              </a:spcAft>
            </a:pPr>
            <a:r>
              <a:rPr sz="1000" b="0">
                <a:solidFill>
                  <a:srgbClr val="6699CC"/>
                </a:solidFill>
                <a:latin typeface="Source Han Sans SC"/>
              </a:rPr>
              <a:t>◆ </a:t>
            </a:r>
            <a:r>
              <a:rPr sz="1200" b="0">
                <a:solidFill>
                  <a:srgbClr val="1A1410"/>
                </a:solidFill>
                <a:latin typeface="Source Han Sans SC"/>
              </a:rPr>
              <a:t>类目→地区→场景→程度</a:t>
            </a:r>
          </a:p>
          <a:p>
            <a:pPr>
              <a:spcAft>
                <a:spcPts val="600"/>
              </a:spcAft>
            </a:pPr>
            <a:r>
              <a:rPr sz="1000" b="0">
                <a:solidFill>
                  <a:srgbClr val="6699CC"/>
                </a:solidFill>
                <a:latin typeface="Source Han Sans SC"/>
              </a:rPr>
              <a:t>◆ </a:t>
            </a:r>
            <a:r>
              <a:rPr sz="1200" b="0">
                <a:solidFill>
                  <a:srgbClr val="1A1410"/>
                </a:solidFill>
                <a:latin typeface="Source Han Sans SC"/>
              </a:rPr>
              <a:t>不直接给出推荐结果</a:t>
            </a:r>
          </a:p>
          <a:p>
            <a:pPr>
              <a:spcAft>
                <a:spcPts val="600"/>
              </a:spcAft>
            </a:pPr>
            <a:r>
              <a:rPr sz="1000" b="0">
                <a:solidFill>
                  <a:srgbClr val="6699CC"/>
                </a:solidFill>
                <a:latin typeface="Source Han Sans SC"/>
              </a:rPr>
              <a:t>◆ </a:t>
            </a:r>
            <a:r>
              <a:rPr sz="1200" b="0">
                <a:solidFill>
                  <a:srgbClr val="1A1410"/>
                </a:solidFill>
                <a:latin typeface="Source Han Sans SC"/>
              </a:rPr>
              <a:t>数字人好奇张望表情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97680" y="1371600"/>
            <a:ext cx="3566160" cy="48463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F0E4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754880" y="1554480"/>
            <a:ext cx="2651760" cy="731520"/>
          </a:xfrm>
          <a:prstGeom prst="roundRect">
            <a:avLst/>
          </a:prstGeom>
          <a:solidFill>
            <a:srgbClr val="DDA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54880" y="1554480"/>
            <a:ext cx="2651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ource Han Serif SC"/>
              </a:defRPr>
            </a:pPr>
            <a:r>
              <a:t>mixed</a:t>
            </a:r>
            <a:br/>
            <a:r>
              <a:t>混合模式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54880" y="2377440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A1410"/>
                </a:solidFill>
                <a:latin typeface="Source Han Sans SC"/>
              </a:defRPr>
            </a:pPr>
            <a:r>
              <a:t>28 ≤ C &lt; 62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2834640"/>
            <a:ext cx="30175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000" b="0">
                <a:solidFill>
                  <a:srgbClr val="DDAA44"/>
                </a:solidFill>
                <a:latin typeface="Source Han Sans SC"/>
              </a:rPr>
              <a:t>◆ </a:t>
            </a:r>
            <a:r>
              <a:rPr sz="1200" b="0">
                <a:solidFill>
                  <a:srgbClr val="1A1410"/>
                </a:solidFill>
                <a:latin typeface="Source Han Sans SC"/>
              </a:rPr>
              <a:t>边推荐边追问</a:t>
            </a:r>
          </a:p>
          <a:p>
            <a:pPr>
              <a:spcAft>
                <a:spcPts val="600"/>
              </a:spcAft>
            </a:pPr>
            <a:r>
              <a:rPr sz="1000" b="0">
                <a:solidFill>
                  <a:srgbClr val="DDAA44"/>
                </a:solidFill>
                <a:latin typeface="Source Han Sans SC"/>
              </a:rPr>
              <a:t>◆ </a:t>
            </a:r>
            <a:r>
              <a:rPr sz="1200" b="0">
                <a:solidFill>
                  <a:srgbClr val="1A1410"/>
                </a:solidFill>
                <a:latin typeface="Source Han Sans SC"/>
              </a:rPr>
              <a:t>1-2张AI推荐卡+B组追问</a:t>
            </a:r>
          </a:p>
          <a:p>
            <a:pPr>
              <a:spcAft>
                <a:spcPts val="600"/>
              </a:spcAft>
            </a:pPr>
            <a:r>
              <a:rPr sz="1000" b="0">
                <a:solidFill>
                  <a:srgbClr val="DDAA44"/>
                </a:solidFill>
                <a:latin typeface="Source Han Sans SC"/>
              </a:rPr>
              <a:t>◆ </a:t>
            </a:r>
            <a:r>
              <a:rPr sz="1200" b="0">
                <a:solidFill>
                  <a:srgbClr val="1A1410"/>
                </a:solidFill>
                <a:latin typeface="Source Han Sans SC"/>
              </a:rPr>
              <a:t>上方推荐+下方ASK选项</a:t>
            </a:r>
          </a:p>
          <a:p>
            <a:pPr>
              <a:spcAft>
                <a:spcPts val="600"/>
              </a:spcAft>
            </a:pPr>
            <a:r>
              <a:rPr sz="1000" b="0">
                <a:solidFill>
                  <a:srgbClr val="DDAA44"/>
                </a:solidFill>
                <a:latin typeface="Source Han Sans SC"/>
              </a:rPr>
              <a:t>◆ </a:t>
            </a:r>
            <a:r>
              <a:rPr sz="1200" b="0">
                <a:solidFill>
                  <a:srgbClr val="1A1410"/>
                </a:solidFill>
                <a:latin typeface="Source Han Sans SC"/>
              </a:rPr>
              <a:t>推荐理由贴合当前选择</a:t>
            </a:r>
          </a:p>
          <a:p>
            <a:pPr>
              <a:spcAft>
                <a:spcPts val="600"/>
              </a:spcAft>
            </a:pPr>
            <a:r>
              <a:rPr sz="1000" b="0">
                <a:solidFill>
                  <a:srgbClr val="DDAA44"/>
                </a:solidFill>
                <a:latin typeface="Source Han Sans SC"/>
              </a:rPr>
              <a:t>◆ </a:t>
            </a:r>
            <a:r>
              <a:rPr sz="1200" b="0">
                <a:solidFill>
                  <a:srgbClr val="1A1410"/>
                </a:solidFill>
                <a:latin typeface="Source Han Sans SC"/>
              </a:rPr>
              <a:t>数字人托腮思考表情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38160" y="1371600"/>
            <a:ext cx="3566160" cy="48463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F0E4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595360" y="1554480"/>
            <a:ext cx="2651760" cy="731520"/>
          </a:xfrm>
          <a:prstGeom prst="roundRect">
            <a:avLst/>
          </a:prstGeom>
          <a:solidFill>
            <a:srgbClr val="66B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95360" y="1554480"/>
            <a:ext cx="2651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ource Han Serif SC"/>
              </a:defRPr>
            </a:pPr>
            <a:r>
              <a:t>precision</a:t>
            </a:r>
            <a:br/>
            <a:r>
              <a:t>精准模式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95360" y="2377440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A1410"/>
                </a:solidFill>
                <a:latin typeface="Source Han Sans SC"/>
              </a:defRPr>
            </a:pPr>
            <a:r>
              <a:t>C ≥ 62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12480" y="2834640"/>
            <a:ext cx="30175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000" b="0">
                <a:solidFill>
                  <a:srgbClr val="66BB66"/>
                </a:solidFill>
                <a:latin typeface="Source Han Sans SC"/>
              </a:rPr>
              <a:t>◆ </a:t>
            </a:r>
            <a:r>
              <a:rPr sz="1200" b="0">
                <a:solidFill>
                  <a:srgbClr val="1A1410"/>
                </a:solidFill>
                <a:latin typeface="Source Han Sans SC"/>
              </a:rPr>
              <a:t>停止追问直接输出</a:t>
            </a:r>
          </a:p>
          <a:p>
            <a:pPr>
              <a:spcAft>
                <a:spcPts val="600"/>
              </a:spcAft>
            </a:pPr>
            <a:r>
              <a:rPr sz="1000" b="0">
                <a:solidFill>
                  <a:srgbClr val="66BB66"/>
                </a:solidFill>
                <a:latin typeface="Source Han Sans SC"/>
              </a:rPr>
              <a:t>◆ </a:t>
            </a:r>
            <a:r>
              <a:rPr sz="1200" b="0">
                <a:solidFill>
                  <a:srgbClr val="1A1410"/>
                </a:solidFill>
                <a:latin typeface="Source Han Sans SC"/>
              </a:rPr>
              <a:t>高度匹配推荐结果</a:t>
            </a:r>
          </a:p>
          <a:p>
            <a:pPr>
              <a:spcAft>
                <a:spcPts val="600"/>
              </a:spcAft>
            </a:pPr>
            <a:r>
              <a:rPr sz="1000" b="0">
                <a:solidFill>
                  <a:srgbClr val="66BB66"/>
                </a:solidFill>
                <a:latin typeface="Source Han Sans SC"/>
              </a:rPr>
              <a:t>◆ </a:t>
            </a:r>
            <a:r>
              <a:rPr sz="1200" b="0">
                <a:solidFill>
                  <a:srgbClr val="1A1410"/>
                </a:solidFill>
                <a:latin typeface="Source Han Sans SC"/>
              </a:rPr>
              <a:t>精准匹配偏好表达</a:t>
            </a:r>
          </a:p>
          <a:p>
            <a:pPr>
              <a:spcAft>
                <a:spcPts val="600"/>
              </a:spcAft>
            </a:pPr>
            <a:r>
              <a:rPr sz="1000" b="0">
                <a:solidFill>
                  <a:srgbClr val="66BB66"/>
                </a:solidFill>
                <a:latin typeface="Source Han Sans SC"/>
              </a:rPr>
              <a:t>◆ </a:t>
            </a:r>
            <a:r>
              <a:rPr sz="1200" b="0">
                <a:solidFill>
                  <a:srgbClr val="1A1410"/>
                </a:solidFill>
                <a:latin typeface="Source Han Sans SC"/>
              </a:rPr>
              <a:t>推荐卡占主要区域</a:t>
            </a:r>
          </a:p>
          <a:p>
            <a:pPr>
              <a:spcAft>
                <a:spcPts val="600"/>
              </a:spcAft>
            </a:pPr>
            <a:r>
              <a:rPr sz="1000" b="0">
                <a:solidFill>
                  <a:srgbClr val="66BB66"/>
                </a:solidFill>
                <a:latin typeface="Source Han Sans SC"/>
              </a:rPr>
              <a:t>◆ </a:t>
            </a:r>
            <a:r>
              <a:rPr sz="1200" b="0">
                <a:solidFill>
                  <a:srgbClr val="1A1410"/>
                </a:solidFill>
                <a:latin typeface="Source Han Sans SC"/>
              </a:rPr>
              <a:t>数字人自信微笑表情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20040"/>
            <a:ext cx="54864" cy="64008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2743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C41E3A"/>
                </a:solidFill>
                <a:latin typeface="Source Han Serif SC"/>
              </a:defRPr>
            </a:pPr>
            <a:r>
              <a:t>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54864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A1410"/>
                </a:solidFill>
                <a:latin typeface="Source Han Serif SC"/>
              </a:defRPr>
            </a:pPr>
            <a:r>
              <a:t>AI对话功能与信息层次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9601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A8C7E"/>
                </a:solidFill>
                <a:latin typeface="Source Han Sans SC"/>
              </a:defRPr>
            </a:pPr>
            <a:r>
              <a:t>语音播报 + 延伸推荐 + 行动清单 + 三层信息结构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234440"/>
            <a:ext cx="11247120" cy="7315"/>
          </a:xfrm>
          <a:prstGeom prst="rect">
            <a:avLst/>
          </a:prstGeom>
          <a:solidFill>
            <a:srgbClr val="F0E4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0" y="0"/>
            <a:ext cx="761695" cy="36576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2155119" y="0"/>
            <a:ext cx="36576" cy="73152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A8C7E"/>
                </a:solidFill>
                <a:latin typeface="Source Han Serif SC"/>
              </a:defRPr>
            </a:pPr>
            <a:r>
              <a:t>18 / 22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1371600"/>
            <a:ext cx="2651760" cy="20116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F0E4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1371600"/>
            <a:ext cx="2651760" cy="54864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155448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C41E3A"/>
                </a:solidFill>
                <a:latin typeface="Source Han Serif SC"/>
              </a:defRPr>
            </a:pPr>
            <a:r>
              <a:t>语音播报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1920240"/>
            <a:ext cx="23774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1A1410"/>
                </a:solidFill>
                <a:latin typeface="Source Han Sans SC"/>
              </a:defRPr>
            </a:pPr>
            <a:r>
              <a:t>豆包TTS优先</a:t>
            </a:r>
            <a:br/>
            <a:r>
              <a:t>Edge-TTS降级</a:t>
            </a:r>
            <a:br/>
            <a:r>
              <a:t>双引擎架构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337560" y="1371600"/>
            <a:ext cx="2651760" cy="20116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F0E4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337560" y="1371600"/>
            <a:ext cx="2651760" cy="54864"/>
          </a:xfrm>
          <a:prstGeom prst="rect">
            <a:avLst/>
          </a:prstGeom>
          <a:solidFill>
            <a:srgbClr val="2A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474720" y="155448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A3D5C"/>
                </a:solidFill>
                <a:latin typeface="Source Han Serif SC"/>
              </a:defRPr>
            </a:pPr>
            <a:r>
              <a:t>延伸推荐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74720" y="1920240"/>
            <a:ext cx="23774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1A1410"/>
                </a:solidFill>
                <a:latin typeface="Source Han Sans SC"/>
              </a:defRPr>
            </a:pPr>
            <a:r>
              <a:t>回答下方展示</a:t>
            </a:r>
            <a:br/>
            <a:r>
              <a:t>内容/活动/讨论</a:t>
            </a:r>
            <a:br/>
            <a:r>
              <a:t>推荐卡片即时刷新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1371600"/>
            <a:ext cx="2651760" cy="20116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F0E4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17920" y="1371600"/>
            <a:ext cx="2651760" cy="54864"/>
          </a:xfrm>
          <a:prstGeom prst="rect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55080" y="155448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A7C59"/>
                </a:solidFill>
                <a:latin typeface="Source Han Serif SC"/>
              </a:defRPr>
            </a:pPr>
            <a:r>
              <a:t>行动清单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55080" y="1920240"/>
            <a:ext cx="23774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1A1410"/>
                </a:solidFill>
                <a:latin typeface="Source Han Sans SC"/>
              </a:defRPr>
            </a:pPr>
            <a:r>
              <a:t>浏览/报名/讨论</a:t>
            </a:r>
            <a:br/>
            <a:r>
              <a:t>下一步行动建议</a:t>
            </a:r>
            <a:br/>
            <a:r>
              <a:t>闭环触发机制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098280" y="1371600"/>
            <a:ext cx="2651760" cy="20116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F0E4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098280" y="1371600"/>
            <a:ext cx="2651760" cy="54864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235440" y="155448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D4A537"/>
                </a:solidFill>
                <a:latin typeface="Source Han Serif SC"/>
              </a:defRPr>
            </a:pPr>
            <a:r>
              <a:t>AI浮窗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35440" y="1920240"/>
            <a:ext cx="23774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1A1410"/>
                </a:solidFill>
                <a:latin typeface="Source Han Sans SC"/>
              </a:defRPr>
            </a:pPr>
            <a:r>
              <a:t>内容页/活动页嵌入</a:t>
            </a:r>
            <a:br/>
            <a:r>
              <a:t>场景化问答</a:t>
            </a:r>
            <a:br/>
            <a:r>
              <a:t>随时发起对话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200" y="3657600"/>
            <a:ext cx="11155680" cy="2743200"/>
          </a:xfrm>
          <a:prstGeom prst="roundRect">
            <a:avLst/>
          </a:prstGeom>
          <a:solidFill>
            <a:srgbClr val="1A14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1520" y="37947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D4A537"/>
                </a:solidFill>
                <a:latin typeface="Source Han Serif SC"/>
              </a:defRPr>
            </a:pPr>
            <a:r>
              <a:t>AI对话页三层信息结构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4297680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00" b="1">
                <a:solidFill>
                  <a:srgbClr val="D4A537"/>
                </a:solidFill>
                <a:latin typeface="Source Han Serif SC"/>
              </a:rPr>
              <a:t>第一层  任务主线层</a:t>
            </a:r>
            <a:r>
              <a:rPr sz="1200" b="0">
                <a:solidFill>
                  <a:srgbClr val="FFFFFF"/>
                </a:solidFill>
                <a:latin typeface="Source Han Sans SC"/>
              </a:rPr>
              <a:t>  黑塔数字人形象 | 对话消息区 | 输入框 | 当前模式提示 | ASK提问卡片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" y="4937760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00" b="1">
                <a:solidFill>
                  <a:srgbClr val="D4A537"/>
                </a:solidFill>
                <a:latin typeface="Source Han Serif SC"/>
              </a:rPr>
              <a:t>第二层  推荐结果层</a:t>
            </a:r>
            <a:r>
              <a:rPr sz="1200" b="0">
                <a:solidFill>
                  <a:srgbClr val="FFFFFF"/>
                </a:solidFill>
                <a:latin typeface="Source Han Sans SC"/>
              </a:rPr>
              <a:t>  AI推荐卡 | 推荐理由 | 下一步建议（浏览/报名/讨论）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" y="5577840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00" b="1">
                <a:solidFill>
                  <a:srgbClr val="D4A537"/>
                </a:solidFill>
                <a:latin typeface="Source Han Serif SC"/>
              </a:rPr>
              <a:t>第三层  解释层</a:t>
            </a:r>
            <a:r>
              <a:rPr sz="1200" b="0">
                <a:solidFill>
                  <a:srgbClr val="FFFFFF"/>
                </a:solidFill>
                <a:latin typeface="Source Han Sans SC"/>
              </a:rPr>
              <a:t>  置信度详细部分 | 策略解释 | 图谱依据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20040"/>
            <a:ext cx="54864" cy="64008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2743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C41E3A"/>
                </a:solidFill>
                <a:latin typeface="Source Han Serif SC"/>
              </a:defRPr>
            </a:pPr>
            <a:r>
              <a:t>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54864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A1410"/>
                </a:solidFill>
                <a:latin typeface="Source Han Serif SC"/>
              </a:defRPr>
            </a:pPr>
            <a:r>
              <a:t>Web管理端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9601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A8C7E"/>
                </a:solidFill>
                <a:latin typeface="Source Han Sans SC"/>
              </a:defRPr>
            </a:pPr>
            <a:r>
              <a:t>七大管理模块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234440"/>
            <a:ext cx="11247120" cy="7315"/>
          </a:xfrm>
          <a:prstGeom prst="rect">
            <a:avLst/>
          </a:prstGeom>
          <a:solidFill>
            <a:srgbClr val="F0E4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0" y="0"/>
            <a:ext cx="761695" cy="36576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2155119" y="0"/>
            <a:ext cx="36576" cy="73152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A8C7E"/>
                </a:solidFill>
                <a:latin typeface="Source Han Serif SC"/>
              </a:defRPr>
            </a:pPr>
            <a:r>
              <a:t>19 / 22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5760" y="1371600"/>
            <a:ext cx="2743200" cy="21945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F0E4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65760" y="1371600"/>
            <a:ext cx="2743200" cy="54864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155448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C41E3A"/>
                </a:solidFill>
                <a:latin typeface="Source Han Serif SC"/>
              </a:defRPr>
            </a:pPr>
            <a:r>
              <a:t>内容管理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1965960"/>
            <a:ext cx="24688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A1410"/>
                </a:solidFill>
                <a:latin typeface="Source Han Sans SC"/>
              </a:defRPr>
            </a:pPr>
            <a:r>
              <a:t>卡片网格</a:t>
            </a:r>
            <a:br/>
            <a:r>
              <a:t>封面/标题/状态/质量分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291840" y="1371600"/>
            <a:ext cx="2743200" cy="21945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F0E4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291840" y="1371600"/>
            <a:ext cx="2743200" cy="54864"/>
          </a:xfrm>
          <a:prstGeom prst="rect">
            <a:avLst/>
          </a:prstGeom>
          <a:solidFill>
            <a:srgbClr val="2A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429000" y="155448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A3D5C"/>
                </a:solidFill>
                <a:latin typeface="Source Han Serif SC"/>
              </a:defRPr>
            </a:pPr>
            <a:r>
              <a:t>质量检查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29000" y="1965960"/>
            <a:ext cx="24688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A1410"/>
                </a:solidFill>
                <a:latin typeface="Source Han Sans SC"/>
              </a:defRPr>
            </a:pPr>
            <a:r>
              <a:t>四项统计指标</a:t>
            </a:r>
            <a:br/>
            <a:r>
              <a:t>五档质量分布柱状图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1371600"/>
            <a:ext cx="2743200" cy="21945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F0E4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17920" y="1371600"/>
            <a:ext cx="2743200" cy="54864"/>
          </a:xfrm>
          <a:prstGeom prst="rect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55080" y="155448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A7C59"/>
                </a:solidFill>
                <a:latin typeface="Source Han Serif SC"/>
              </a:defRPr>
            </a:pPr>
            <a:r>
              <a:t>活动管理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55080" y="1965960"/>
            <a:ext cx="24688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A1410"/>
                </a:solidFill>
                <a:latin typeface="Source Han Sans SC"/>
              </a:defRPr>
            </a:pPr>
            <a:r>
              <a:t>卡片展示</a:t>
            </a:r>
            <a:br/>
            <a:r>
              <a:t>上架下架管理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144000" y="1371600"/>
            <a:ext cx="2743200" cy="21945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F0E4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144000" y="1371600"/>
            <a:ext cx="2743200" cy="54864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281160" y="155448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D4A537"/>
                </a:solidFill>
                <a:latin typeface="Source Han Serif SC"/>
              </a:defRPr>
            </a:pPr>
            <a:r>
              <a:t>帖子管理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81160" y="1965960"/>
            <a:ext cx="24688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A1410"/>
                </a:solidFill>
                <a:latin typeface="Source Han Sans SC"/>
              </a:defRPr>
            </a:pPr>
            <a:r>
              <a:t>帖子列表</a:t>
            </a:r>
            <a:br/>
            <a:r>
              <a:t>编辑/精选/删除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65760" y="3931920"/>
            <a:ext cx="2743200" cy="21945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F0E4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65760" y="3931920"/>
            <a:ext cx="2743200" cy="54864"/>
          </a:xfrm>
          <a:prstGeom prst="rect">
            <a:avLst/>
          </a:prstGeom>
          <a:solidFill>
            <a:srgbClr val="8B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2920" y="411480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8B1A2B"/>
                </a:solidFill>
                <a:latin typeface="Source Han Serif SC"/>
              </a:defRPr>
            </a:pPr>
            <a:r>
              <a:t>用户管理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4526280"/>
            <a:ext cx="24688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A1410"/>
                </a:solidFill>
                <a:latin typeface="Source Han Sans SC"/>
              </a:defRPr>
            </a:pPr>
            <a:r>
              <a:t>表格展示</a:t>
            </a:r>
            <a:br/>
            <a:r>
              <a:t>行为统计查看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291840" y="3931920"/>
            <a:ext cx="2743200" cy="21945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F0E4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291840" y="3931920"/>
            <a:ext cx="2743200" cy="54864"/>
          </a:xfrm>
          <a:prstGeom prst="rect">
            <a:avLst/>
          </a:prstGeom>
          <a:solidFill>
            <a:srgbClr val="6699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429000" y="411480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6699CC"/>
                </a:solidFill>
                <a:latin typeface="Source Han Serif SC"/>
              </a:defRPr>
            </a:pPr>
            <a:r>
              <a:t>统计导出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429000" y="4526280"/>
            <a:ext cx="24688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A1410"/>
                </a:solidFill>
                <a:latin typeface="Source Han Sans SC"/>
              </a:defRPr>
            </a:pPr>
            <a:r>
              <a:t>平台指标</a:t>
            </a:r>
            <a:br/>
            <a:r>
              <a:t>CSV导出功能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217920" y="3931920"/>
            <a:ext cx="2743200" cy="21945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F0E4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217920" y="3931920"/>
            <a:ext cx="2743200" cy="54864"/>
          </a:xfrm>
          <a:prstGeom prst="rect">
            <a:avLst/>
          </a:prstGeom>
          <a:solidFill>
            <a:srgbClr val="99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355080" y="411480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9966CC"/>
                </a:solidFill>
                <a:latin typeface="Source Han Serif SC"/>
              </a:defRPr>
            </a:pPr>
            <a:r>
              <a:t>知识库管理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55080" y="4526280"/>
            <a:ext cx="24688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A1410"/>
                </a:solidFill>
                <a:latin typeface="Source Han Sans SC"/>
              </a:defRPr>
            </a:pPr>
            <a:r>
              <a:t>表格展示</a:t>
            </a:r>
            <a:br/>
            <a:r>
              <a:t>新增/编辑/启禁用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20040"/>
            <a:ext cx="54864" cy="64008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2743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C41E3A"/>
                </a:solidFill>
                <a:latin typeface="Source Han Serif SC"/>
              </a:defRPr>
            </a:pPr>
            <a:r>
              <a:t>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54864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A1410"/>
                </a:solidFill>
                <a:latin typeface="Source Han Serif SC"/>
              </a:defRPr>
            </a:pPr>
            <a:r>
              <a:t>系统测试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9601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A8C7E"/>
                </a:solidFill>
                <a:latin typeface="Source Han Sans SC"/>
              </a:defRPr>
            </a:pPr>
            <a:r>
              <a:t>功能测试 + 性能测试 + 兼容性测试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234440"/>
            <a:ext cx="11247120" cy="7315"/>
          </a:xfrm>
          <a:prstGeom prst="rect">
            <a:avLst/>
          </a:prstGeom>
          <a:solidFill>
            <a:srgbClr val="F0E4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0" y="0"/>
            <a:ext cx="761695" cy="36576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2155119" y="0"/>
            <a:ext cx="36576" cy="73152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A8C7E"/>
                </a:solidFill>
                <a:latin typeface="Source Han Serif SC"/>
              </a:defRPr>
            </a:pPr>
            <a:r>
              <a:t>20 / 22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1371600"/>
            <a:ext cx="3566160" cy="48463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F0E4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1371600"/>
            <a:ext cx="3566160" cy="54864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155448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C41E3A"/>
                </a:solidFill>
                <a:latin typeface="Source Han Serif SC"/>
              </a:defRPr>
            </a:pPr>
            <a:r>
              <a:t>功能测试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2011680"/>
            <a:ext cx="3200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000" b="0">
                <a:solidFill>
                  <a:srgbClr val="C41E3A"/>
                </a:solidFill>
                <a:latin typeface="Source Han Sans SC"/>
              </a:rPr>
              <a:t>◆ </a:t>
            </a:r>
            <a:r>
              <a:rPr sz="1200" b="0">
                <a:solidFill>
                  <a:srgbClr val="1A1410"/>
                </a:solidFill>
                <a:latin typeface="Source Han Sans SC"/>
              </a:rPr>
              <a:t>黑盒测试：10条用例，通过10条</a:t>
            </a:r>
          </a:p>
          <a:p>
            <a:pPr>
              <a:spcAft>
                <a:spcPts val="800"/>
              </a:spcAft>
            </a:pPr>
            <a:r>
              <a:rPr sz="1000" b="0">
                <a:solidFill>
                  <a:srgbClr val="C41E3A"/>
                </a:solidFill>
                <a:latin typeface="Source Han Sans SC"/>
              </a:rPr>
              <a:t>◆ </a:t>
            </a:r>
            <a:r>
              <a:rPr sz="1200" b="0">
                <a:solidFill>
                  <a:srgbClr val="1A1410"/>
                </a:solidFill>
                <a:latin typeface="Source Han Sans SC"/>
              </a:rPr>
              <a:t>覆盖8模块：认证/内容/活动/讨论/推荐/AI/图谱/管理</a:t>
            </a:r>
          </a:p>
          <a:p>
            <a:pPr>
              <a:spcAft>
                <a:spcPts val="800"/>
              </a:spcAft>
            </a:pPr>
            <a:r>
              <a:rPr sz="1000" b="0">
                <a:solidFill>
                  <a:srgbClr val="C41E3A"/>
                </a:solidFill>
                <a:latin typeface="Source Han Sans SC"/>
              </a:rPr>
              <a:t>◆ </a:t>
            </a:r>
            <a:r>
              <a:rPr sz="1200" b="0">
                <a:solidFill>
                  <a:srgbClr val="1A1410"/>
                </a:solidFill>
                <a:latin typeface="Source Han Sans SC"/>
              </a:rPr>
              <a:t>白盒测试：7条用例，通过7条</a:t>
            </a:r>
          </a:p>
          <a:p>
            <a:pPr>
              <a:spcAft>
                <a:spcPts val="800"/>
              </a:spcAft>
            </a:pPr>
            <a:r>
              <a:rPr sz="1000" b="0">
                <a:solidFill>
                  <a:srgbClr val="C41E3A"/>
                </a:solidFill>
                <a:latin typeface="Source Han Sans SC"/>
              </a:rPr>
              <a:t>◆ </a:t>
            </a:r>
            <a:r>
              <a:rPr sz="1200" b="0">
                <a:solidFill>
                  <a:srgbClr val="1A1410"/>
                </a:solidFill>
                <a:latin typeface="Source Han Sans SC"/>
              </a:rPr>
              <a:t>CRS决策引擎/ASK模板/知识图谱/数据模型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97680" y="1371600"/>
            <a:ext cx="3566160" cy="48463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F0E4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297680" y="1371600"/>
            <a:ext cx="3566160" cy="54864"/>
          </a:xfrm>
          <a:prstGeom prst="rect">
            <a:avLst/>
          </a:prstGeom>
          <a:solidFill>
            <a:srgbClr val="2A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80560" y="155448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A3D5C"/>
                </a:solidFill>
                <a:latin typeface="Source Han Serif SC"/>
              </a:defRPr>
            </a:pPr>
            <a:r>
              <a:t>性能测试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80560" y="2011680"/>
            <a:ext cx="3200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000" b="0">
                <a:solidFill>
                  <a:srgbClr val="2A3D5C"/>
                </a:solidFill>
                <a:latin typeface="Source Han Sans SC"/>
              </a:rPr>
              <a:t>◆ </a:t>
            </a:r>
            <a:r>
              <a:rPr sz="1200" b="0">
                <a:solidFill>
                  <a:srgbClr val="1A1410"/>
                </a:solidFill>
                <a:latin typeface="Source Han Sans SC"/>
              </a:rPr>
              <a:t>API平均响应时间：43.16ms</a:t>
            </a:r>
          </a:p>
          <a:p>
            <a:pPr>
              <a:spcAft>
                <a:spcPts val="800"/>
              </a:spcAft>
            </a:pPr>
            <a:r>
              <a:rPr sz="1000" b="0">
                <a:solidFill>
                  <a:srgbClr val="2A3D5C"/>
                </a:solidFill>
                <a:latin typeface="Source Han Sans SC"/>
              </a:rPr>
              <a:t>◆ </a:t>
            </a:r>
            <a:r>
              <a:rPr sz="1200" b="0">
                <a:solidFill>
                  <a:srgbClr val="1A1410"/>
                </a:solidFill>
                <a:latin typeface="Source Han Sans SC"/>
              </a:rPr>
              <a:t>最大响应时间：51.33ms（均&lt;100ms）</a:t>
            </a:r>
          </a:p>
          <a:p>
            <a:pPr>
              <a:spcAft>
                <a:spcPts val="800"/>
              </a:spcAft>
            </a:pPr>
            <a:r>
              <a:rPr sz="1000" b="0">
                <a:solidFill>
                  <a:srgbClr val="2A3D5C"/>
                </a:solidFill>
                <a:latin typeface="Source Han Sans SC"/>
              </a:rPr>
              <a:t>◆ </a:t>
            </a:r>
            <a:r>
              <a:rPr sz="1200" b="0">
                <a:solidFill>
                  <a:srgbClr val="1A1410"/>
                </a:solidFill>
                <a:latin typeface="Source Han Sans SC"/>
              </a:rPr>
              <a:t>并发10用户50请求：成功率100%</a:t>
            </a:r>
          </a:p>
          <a:p>
            <a:pPr>
              <a:spcAft>
                <a:spcPts val="800"/>
              </a:spcAft>
            </a:pPr>
            <a:r>
              <a:rPr sz="1000" b="0">
                <a:solidFill>
                  <a:srgbClr val="2A3D5C"/>
                </a:solidFill>
                <a:latin typeface="Source Han Sans SC"/>
              </a:rPr>
              <a:t>◆ </a:t>
            </a:r>
            <a:r>
              <a:rPr sz="1200" b="0">
                <a:solidFill>
                  <a:srgbClr val="1A1410"/>
                </a:solidFill>
                <a:latin typeface="Source Han Sans SC"/>
              </a:rPr>
              <a:t>吞吐量225.5请求/秒</a:t>
            </a:r>
          </a:p>
          <a:p>
            <a:pPr>
              <a:spcAft>
                <a:spcPts val="800"/>
              </a:spcAft>
            </a:pPr>
            <a:r>
              <a:rPr sz="1000" b="0">
                <a:solidFill>
                  <a:srgbClr val="2A3D5C"/>
                </a:solidFill>
                <a:latin typeface="Source Han Sans SC"/>
              </a:rPr>
              <a:t>◆ </a:t>
            </a:r>
            <a:r>
              <a:rPr sz="1200" b="0">
                <a:solidFill>
                  <a:srgbClr val="1A1410"/>
                </a:solidFill>
                <a:latin typeface="Source Han Sans SC"/>
              </a:rPr>
              <a:t>AI对话平均响应：7.9秒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38160" y="1371600"/>
            <a:ext cx="3566160" cy="48463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F0E4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138160" y="1371600"/>
            <a:ext cx="3566160" cy="54864"/>
          </a:xfrm>
          <a:prstGeom prst="rect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21040" y="155448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A7C59"/>
                </a:solidFill>
                <a:latin typeface="Source Han Serif SC"/>
              </a:defRPr>
            </a:pPr>
            <a:r>
              <a:t>兼容性测试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21040" y="2011680"/>
            <a:ext cx="3200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000" b="0">
                <a:solidFill>
                  <a:srgbClr val="4A7C59"/>
                </a:solidFill>
                <a:latin typeface="Source Han Sans SC"/>
              </a:rPr>
              <a:t>◆ </a:t>
            </a:r>
            <a:r>
              <a:rPr sz="1200" b="0">
                <a:solidFill>
                  <a:srgbClr val="1A1410"/>
                </a:solidFill>
                <a:latin typeface="Source Han Sans SC"/>
              </a:rPr>
              <a:t>浏览器：Chrome/Firefox/Safari/Edge</a:t>
            </a:r>
          </a:p>
          <a:p>
            <a:pPr>
              <a:spcAft>
                <a:spcPts val="800"/>
              </a:spcAft>
            </a:pPr>
            <a:r>
              <a:rPr sz="1000" b="0">
                <a:solidFill>
                  <a:srgbClr val="4A7C59"/>
                </a:solidFill>
                <a:latin typeface="Source Han Sans SC"/>
              </a:rPr>
              <a:t>◆ </a:t>
            </a:r>
            <a:r>
              <a:rPr sz="1200" b="0">
                <a:solidFill>
                  <a:srgbClr val="1A1410"/>
                </a:solidFill>
                <a:latin typeface="Source Han Sans SC"/>
              </a:rPr>
              <a:t>微信基础库：≥2.20.0</a:t>
            </a:r>
          </a:p>
          <a:p>
            <a:pPr>
              <a:spcAft>
                <a:spcPts val="800"/>
              </a:spcAft>
            </a:pPr>
            <a:r>
              <a:rPr sz="1000" b="0">
                <a:solidFill>
                  <a:srgbClr val="4A7C59"/>
                </a:solidFill>
                <a:latin typeface="Source Han Sans SC"/>
              </a:rPr>
              <a:t>◆ </a:t>
            </a:r>
            <a:r>
              <a:rPr sz="1200" b="0">
                <a:solidFill>
                  <a:srgbClr val="1A1410"/>
                </a:solidFill>
                <a:latin typeface="Source Han Sans SC"/>
              </a:rPr>
              <a:t>设备：iOS + Android</a:t>
            </a:r>
          </a:p>
          <a:p>
            <a:pPr>
              <a:spcAft>
                <a:spcPts val="800"/>
              </a:spcAft>
            </a:pPr>
            <a:r>
              <a:rPr sz="1000" b="0">
                <a:solidFill>
                  <a:srgbClr val="4A7C59"/>
                </a:solidFill>
                <a:latin typeface="Source Han Sans SC"/>
              </a:rPr>
              <a:t>◆ </a:t>
            </a:r>
            <a:r>
              <a:rPr sz="1200" b="0">
                <a:solidFill>
                  <a:srgbClr val="1A1410"/>
                </a:solidFill>
                <a:latin typeface="Source Han Sans SC"/>
              </a:rPr>
              <a:t>数据库：SQLite/MySQL/PostgreSQL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20040"/>
            <a:ext cx="54864" cy="64008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2743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C41E3A"/>
                </a:solidFill>
                <a:latin typeface="Source Han Serif SC"/>
              </a:defRPr>
            </a:pPr>
            <a:r>
              <a:t>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54864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A1410"/>
                </a:solidFill>
                <a:latin typeface="Source Han Serif SC"/>
              </a:defRPr>
            </a:pPr>
            <a:r>
              <a:t>实验与分析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9601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A8C7E"/>
                </a:solidFill>
                <a:latin typeface="Source Han Sans SC"/>
              </a:defRPr>
            </a:pPr>
            <a:r>
              <a:t>AI对话质量评估 + 推荐评价指标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234440"/>
            <a:ext cx="11247120" cy="7315"/>
          </a:xfrm>
          <a:prstGeom prst="rect">
            <a:avLst/>
          </a:prstGeom>
          <a:solidFill>
            <a:srgbClr val="F0E4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0" y="0"/>
            <a:ext cx="761695" cy="36576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2155119" y="0"/>
            <a:ext cx="36576" cy="73152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A8C7E"/>
                </a:solidFill>
                <a:latin typeface="Source Han Serif SC"/>
              </a:defRPr>
            </a:pPr>
            <a:r>
              <a:t>21 / 22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1371600"/>
            <a:ext cx="5303520" cy="48463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F0E4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1371600"/>
            <a:ext cx="5303520" cy="54864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155448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C41E3A"/>
                </a:solidFill>
                <a:latin typeface="Source Han Serif SC"/>
              </a:defRPr>
            </a:pPr>
            <a:r>
              <a:t>AI对话质量评估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2011680"/>
            <a:ext cx="2286000" cy="45720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2029968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Source Han Serif SC"/>
              </a:defRPr>
            </a:pPr>
            <a:r>
              <a:t>知识库命中率 90.0%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2651760"/>
            <a:ext cx="47548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000" b="0">
                <a:solidFill>
                  <a:srgbClr val="C41E3A"/>
                </a:solidFill>
                <a:latin typeface="Source Han Sans SC"/>
              </a:rPr>
              <a:t>◆ </a:t>
            </a:r>
            <a:r>
              <a:rPr sz="1200" b="0">
                <a:solidFill>
                  <a:srgbClr val="1A1410"/>
                </a:solidFill>
                <a:latin typeface="Source Han Sans SC"/>
              </a:rPr>
              <a:t>20个测试问题，15个预期命中全部命中</a:t>
            </a:r>
          </a:p>
          <a:p>
            <a:pPr>
              <a:spcAft>
                <a:spcPts val="600"/>
              </a:spcAft>
            </a:pPr>
            <a:r>
              <a:rPr sz="1000" b="0">
                <a:solidFill>
                  <a:srgbClr val="C41E3A"/>
                </a:solidFill>
                <a:latin typeface="Source Han Sans SC"/>
              </a:rPr>
              <a:t>◆ </a:t>
            </a:r>
            <a:r>
              <a:rPr sz="1200" b="0">
                <a:solidFill>
                  <a:srgbClr val="1A1410"/>
                </a:solidFill>
                <a:latin typeface="Source Han Sans SC"/>
              </a:rPr>
              <a:t>5个冷门问题中3个未命中→回退豆包/联网</a:t>
            </a:r>
          </a:p>
          <a:p>
            <a:pPr>
              <a:spcAft>
                <a:spcPts val="600"/>
              </a:spcAft>
            </a:pPr>
            <a:r>
              <a:rPr sz="1000" b="0">
                <a:solidFill>
                  <a:srgbClr val="C41E3A"/>
                </a:solidFill>
                <a:latin typeface="Source Han Sans SC"/>
              </a:rPr>
              <a:t>◆ </a:t>
            </a:r>
            <a:r>
              <a:rPr sz="1200" b="0">
                <a:solidFill>
                  <a:srgbClr val="1A1410"/>
                </a:solidFill>
                <a:latin typeface="Source Han Sans SC"/>
              </a:rPr>
              <a:t>命中项置信度集中在0.80-0.85区间</a:t>
            </a:r>
          </a:p>
          <a:p>
            <a:pPr>
              <a:spcAft>
                <a:spcPts val="600"/>
              </a:spcAft>
            </a:pPr>
            <a:r>
              <a:rPr sz="1000" b="0">
                <a:solidFill>
                  <a:srgbClr val="C41E3A"/>
                </a:solidFill>
                <a:latin typeface="Source Han Sans SC"/>
              </a:rPr>
              <a:t>◆ </a:t>
            </a:r>
            <a:r>
              <a:rPr sz="1200" b="0">
                <a:solidFill>
                  <a:srgbClr val="1A1410"/>
                </a:solidFill>
                <a:latin typeface="Source Han Sans SC"/>
              </a:rPr>
              <a:t>P50=2.6秒，P90=4.3秒</a:t>
            </a:r>
          </a:p>
          <a:p>
            <a:pPr>
              <a:spcAft>
                <a:spcPts val="600"/>
              </a:spcAft>
            </a:pPr>
            <a:r>
              <a:rPr sz="1000" b="0">
                <a:solidFill>
                  <a:srgbClr val="C41E3A"/>
                </a:solidFill>
                <a:latin typeface="Source Han Sans SC"/>
              </a:rPr>
              <a:t>◆ </a:t>
            </a:r>
            <a:r>
              <a:rPr sz="1200" b="0">
                <a:solidFill>
                  <a:srgbClr val="1A1410"/>
                </a:solidFill>
                <a:latin typeface="Source Han Sans SC"/>
              </a:rPr>
              <a:t>流式输出3秒内可见首个回答片段</a:t>
            </a:r>
          </a:p>
          <a:p>
            <a:pPr>
              <a:spcAft>
                <a:spcPts val="600"/>
              </a:spcAft>
            </a:pPr>
            <a:r>
              <a:rPr sz="1000" b="0">
                <a:solidFill>
                  <a:srgbClr val="C41E3A"/>
                </a:solidFill>
                <a:latin typeface="Source Han Sans SC"/>
              </a:rPr>
              <a:t>◆ </a:t>
            </a:r>
            <a:r>
              <a:rPr sz="1200" b="0">
                <a:solidFill>
                  <a:srgbClr val="1A1410"/>
                </a:solidFill>
                <a:latin typeface="Source Han Sans SC"/>
              </a:rPr>
              <a:t>KB命中+润色占比最大（链路有效）</a:t>
            </a:r>
          </a:p>
          <a:p>
            <a:pPr>
              <a:spcAft>
                <a:spcPts val="600"/>
              </a:spcAft>
            </a:pPr>
            <a:r>
              <a:rPr sz="1000" b="0">
                <a:solidFill>
                  <a:srgbClr val="C41E3A"/>
                </a:solidFill>
                <a:latin typeface="Source Han Sans SC"/>
              </a:rPr>
              <a:t>◆ </a:t>
            </a:r>
            <a:r>
              <a:rPr sz="1200" b="0">
                <a:solidFill>
                  <a:srgbClr val="1A1410"/>
                </a:solidFill>
                <a:latin typeface="Source Han Sans SC"/>
              </a:rPr>
              <a:t>豆包直答+组合占比较大（大模型体现）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09360" y="1371600"/>
            <a:ext cx="5303520" cy="48463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F0E4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09360" y="1371600"/>
            <a:ext cx="5303520" cy="54864"/>
          </a:xfrm>
          <a:prstGeom prst="rect">
            <a:avLst/>
          </a:prstGeom>
          <a:solidFill>
            <a:srgbClr val="2A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0" y="155448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A3D5C"/>
                </a:solidFill>
                <a:latin typeface="Source Han Serif SC"/>
              </a:defRPr>
            </a:pPr>
            <a:r>
              <a:t>推荐评价指标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0" y="2103120"/>
            <a:ext cx="2011680" cy="320040"/>
          </a:xfrm>
          <a:prstGeom prst="roundRect">
            <a:avLst/>
          </a:prstGeom>
          <a:solidFill>
            <a:srgbClr val="2A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83680" y="2121408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Source Han Serif SC"/>
              </a:defRPr>
            </a:pPr>
            <a:r>
              <a:t>Precision@5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78240" y="2103120"/>
            <a:ext cx="2743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410"/>
                </a:solidFill>
                <a:latin typeface="Source Han Sans SC"/>
              </a:defRPr>
            </a:pPr>
            <a:r>
              <a:t>推荐列表前5项中与用户偏好相关的比例</a:t>
            </a:r>
            <a:br/>
            <a:r>
              <a:t>→ 反映推荐准确性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583680" y="3154679"/>
            <a:ext cx="2011680" cy="320040"/>
          </a:xfrm>
          <a:prstGeom prst="roundRect">
            <a:avLst/>
          </a:prstGeom>
          <a:solidFill>
            <a:srgbClr val="2A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83680" y="3172967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Source Han Serif SC"/>
              </a:defRPr>
            </a:pPr>
            <a:r>
              <a:t>Diversity@5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78240" y="3154679"/>
            <a:ext cx="2743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410"/>
                </a:solidFill>
                <a:latin typeface="Source Han Sans SC"/>
              </a:defRPr>
            </a:pPr>
            <a:r>
              <a:t>推荐列表覆盖的非遗类别数/列表长度</a:t>
            </a:r>
            <a:br/>
            <a:r>
              <a:t>→ 反映推荐多样性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83680" y="4206240"/>
            <a:ext cx="2011680" cy="320040"/>
          </a:xfrm>
          <a:prstGeom prst="roundRect">
            <a:avLst/>
          </a:prstGeom>
          <a:solidFill>
            <a:srgbClr val="2A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83680" y="4224528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Source Han Serif SC"/>
              </a:defRPr>
            </a:pPr>
            <a:r>
              <a:t>Coverage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778240" y="4206240"/>
            <a:ext cx="2743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410"/>
                </a:solidFill>
                <a:latin typeface="Source Han Sans SC"/>
              </a:defRPr>
            </a:pPr>
            <a:r>
              <a:t>推荐结果覆盖内容占全部已发布内容的比例</a:t>
            </a:r>
            <a:br/>
            <a:r>
              <a:t>→ 反映推荐覆盖广度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583680" y="5257800"/>
            <a:ext cx="2011680" cy="320040"/>
          </a:xfrm>
          <a:prstGeom prst="roundRect">
            <a:avLst/>
          </a:prstGeom>
          <a:solidFill>
            <a:srgbClr val="2A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83680" y="5276088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Source Han Serif SC"/>
              </a:defRPr>
            </a:pPr>
            <a:r>
              <a:t>NDCG@5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778240" y="5257800"/>
            <a:ext cx="2743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410"/>
                </a:solidFill>
                <a:latin typeface="Source Han Sans SC"/>
              </a:defRPr>
            </a:pPr>
            <a:r>
              <a:t>考虑位置权重的排序质量</a:t>
            </a:r>
            <a:br/>
            <a:r>
              <a:t>→ 反映推荐排序质量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20040"/>
            <a:ext cx="54864" cy="64008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2743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C41E3A"/>
                </a:solidFill>
                <a:latin typeface="Source Han Serif SC"/>
              </a:defRPr>
            </a:pPr>
            <a:r>
              <a:t>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54864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A1410"/>
                </a:solidFill>
                <a:latin typeface="Source Han Serif SC"/>
              </a:defRPr>
            </a:pPr>
            <a:r>
              <a:t>结论与展望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9601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A8C7E"/>
                </a:solidFill>
                <a:latin typeface="Source Han Sans SC"/>
              </a:defRPr>
            </a:pPr>
            <a:r>
              <a:t>研究成果总结与未来方向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234440"/>
            <a:ext cx="11247120" cy="7315"/>
          </a:xfrm>
          <a:prstGeom prst="rect">
            <a:avLst/>
          </a:prstGeom>
          <a:solidFill>
            <a:srgbClr val="F0E4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0" y="0"/>
            <a:ext cx="761695" cy="36576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2155119" y="0"/>
            <a:ext cx="36576" cy="73152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A8C7E"/>
                </a:solidFill>
                <a:latin typeface="Source Han Serif SC"/>
              </a:defRPr>
            </a:pPr>
            <a:r>
              <a:t>22 / 22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1371600"/>
            <a:ext cx="6858000" cy="48463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F0E4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1371600"/>
            <a:ext cx="6858000" cy="54864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155448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C41E3A"/>
                </a:solidFill>
                <a:latin typeface="Source Han Serif SC"/>
              </a:defRPr>
            </a:pPr>
            <a:r>
              <a:t>研究结论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2103120"/>
            <a:ext cx="64008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100" b="0">
                <a:solidFill>
                  <a:srgbClr val="C41E3A"/>
                </a:solidFill>
                <a:latin typeface="Source Han Sans SC"/>
              </a:rPr>
              <a:t>◆ </a:t>
            </a:r>
            <a:r>
              <a:rPr sz="1300" b="0">
                <a:solidFill>
                  <a:srgbClr val="1A1410"/>
                </a:solidFill>
                <a:latin typeface="Source Han Sans SC"/>
              </a:rPr>
              <a:t>构建了基于CRS推荐与AI数字人的非遗文化传播微信小程序</a:t>
            </a:r>
          </a:p>
          <a:p>
            <a:pPr>
              <a:spcAft>
                <a:spcPts val="800"/>
              </a:spcAft>
            </a:pPr>
            <a:r>
              <a:rPr sz="1100" b="0">
                <a:solidFill>
                  <a:srgbClr val="C41E3A"/>
                </a:solidFill>
                <a:latin typeface="Source Han Sans SC"/>
              </a:rPr>
              <a:t>◆ </a:t>
            </a:r>
            <a:r>
              <a:rPr sz="1300" b="0">
                <a:solidFill>
                  <a:srgbClr val="1A1410"/>
                </a:solidFill>
                <a:latin typeface="Source Han Sans SC"/>
              </a:rPr>
              <a:t>AI数字人黑塔通过ASK追问逐步构建用户偏好画像</a:t>
            </a:r>
          </a:p>
          <a:p>
            <a:pPr>
              <a:spcAft>
                <a:spcPts val="800"/>
              </a:spcAft>
            </a:pPr>
            <a:r>
              <a:rPr sz="1100" b="0">
                <a:solidFill>
                  <a:srgbClr val="C41E3A"/>
                </a:solidFill>
                <a:latin typeface="Source Han Sans SC"/>
              </a:rPr>
              <a:t>◆ </a:t>
            </a:r>
            <a:r>
              <a:rPr sz="1300" b="0">
                <a:solidFill>
                  <a:srgbClr val="1A1410"/>
                </a:solidFill>
                <a:latin typeface="Source Han Sans SC"/>
              </a:rPr>
              <a:t>从冷启动到精准推荐只需3-4轮交互即可收敛</a:t>
            </a:r>
          </a:p>
          <a:p>
            <a:pPr>
              <a:spcAft>
                <a:spcPts val="800"/>
              </a:spcAft>
            </a:pPr>
            <a:r>
              <a:rPr sz="1100" b="0">
                <a:solidFill>
                  <a:srgbClr val="C41E3A"/>
                </a:solidFill>
                <a:latin typeface="Source Han Sans SC"/>
              </a:rPr>
              <a:t>◆ </a:t>
            </a:r>
            <a:r>
              <a:rPr sz="1300" b="0">
                <a:solidFill>
                  <a:srgbClr val="1A1410"/>
                </a:solidFill>
                <a:latin typeface="Source Han Sans SC"/>
              </a:rPr>
              <a:t>本地知识优先+大模型回退策略兼顾知识准确性与语义理解</a:t>
            </a:r>
          </a:p>
          <a:p>
            <a:pPr>
              <a:spcAft>
                <a:spcPts val="800"/>
              </a:spcAft>
            </a:pPr>
            <a:r>
              <a:rPr sz="1100" b="0">
                <a:solidFill>
                  <a:srgbClr val="C41E3A"/>
                </a:solidFill>
                <a:latin typeface="Source Han Sans SC"/>
              </a:rPr>
              <a:t>◆ </a:t>
            </a:r>
            <a:r>
              <a:rPr sz="1300" b="0">
                <a:solidFill>
                  <a:srgbClr val="1A1410"/>
                </a:solidFill>
                <a:latin typeface="Source Han Sans SC"/>
              </a:rPr>
              <a:t>ASK-REC决策引擎执行三阶段置信度收敛机制</a:t>
            </a:r>
          </a:p>
          <a:p>
            <a:pPr>
              <a:spcAft>
                <a:spcPts val="800"/>
              </a:spcAft>
            </a:pPr>
            <a:r>
              <a:rPr sz="1100" b="0">
                <a:solidFill>
                  <a:srgbClr val="C41E3A"/>
                </a:solidFill>
                <a:latin typeface="Source Han Sans SC"/>
              </a:rPr>
              <a:t>◆ </a:t>
            </a:r>
            <a:r>
              <a:rPr sz="1300" b="0">
                <a:solidFill>
                  <a:srgbClr val="1A1410"/>
                </a:solidFill>
                <a:latin typeface="Source Han Sans SC"/>
              </a:rPr>
              <a:t>知识图谱实现实体偏好映射和推荐解释生成</a:t>
            </a:r>
          </a:p>
          <a:p>
            <a:pPr>
              <a:spcAft>
                <a:spcPts val="800"/>
              </a:spcAft>
            </a:pPr>
            <a:r>
              <a:rPr sz="1100" b="0">
                <a:solidFill>
                  <a:srgbClr val="C41E3A"/>
                </a:solidFill>
                <a:latin typeface="Source Han Sans SC"/>
              </a:rPr>
              <a:t>◆ </a:t>
            </a:r>
            <a:r>
              <a:rPr sz="1300" b="0">
                <a:solidFill>
                  <a:srgbClr val="1A1410"/>
                </a:solidFill>
                <a:latin typeface="Source Han Sans SC"/>
              </a:rPr>
              <a:t>系统性能满足中小规模使用场景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0" y="1371600"/>
            <a:ext cx="3931920" cy="4846320"/>
          </a:xfrm>
          <a:prstGeom prst="roundRect">
            <a:avLst/>
          </a:prstGeom>
          <a:solidFill>
            <a:srgbClr val="1A14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46720" y="155448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D4A537"/>
                </a:solidFill>
                <a:latin typeface="Source Han Serif SC"/>
              </a:defRPr>
            </a:pPr>
            <a:r>
              <a:t>未来展望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720" y="2103120"/>
            <a:ext cx="33832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100" b="0">
                <a:solidFill>
                  <a:srgbClr val="D4A537"/>
                </a:solidFill>
                <a:latin typeface="Source Han Sans SC"/>
              </a:rPr>
              <a:t>◆ </a:t>
            </a:r>
            <a:r>
              <a:rPr sz="1300" b="0">
                <a:solidFill>
                  <a:srgbClr val="FFFFFF"/>
                </a:solidFill>
                <a:latin typeface="Source Han Sans SC"/>
              </a:rPr>
              <a:t>加入更细致的知识图谱推理能力</a:t>
            </a:r>
          </a:p>
          <a:p>
            <a:pPr>
              <a:spcAft>
                <a:spcPts val="1400"/>
              </a:spcAft>
            </a:pPr>
            <a:r>
              <a:rPr sz="1100" b="0">
                <a:solidFill>
                  <a:srgbClr val="D4A537"/>
                </a:solidFill>
                <a:latin typeface="Source Han Sans SC"/>
              </a:rPr>
              <a:t>◆ </a:t>
            </a:r>
            <a:r>
              <a:rPr sz="1300" b="0">
                <a:solidFill>
                  <a:srgbClr val="FFFFFF"/>
                </a:solidFill>
                <a:latin typeface="Source Han Sans SC"/>
              </a:rPr>
              <a:t>同线下非遗场馆深度对接</a:t>
            </a:r>
          </a:p>
          <a:p>
            <a:pPr>
              <a:spcAft>
                <a:spcPts val="1400"/>
              </a:spcAft>
            </a:pPr>
            <a:r>
              <a:rPr sz="1100" b="0">
                <a:solidFill>
                  <a:srgbClr val="D4A537"/>
                </a:solidFill>
                <a:latin typeface="Source Han Sans SC"/>
              </a:rPr>
              <a:t>◆ </a:t>
            </a:r>
            <a:r>
              <a:rPr sz="1300" b="0">
                <a:solidFill>
                  <a:srgbClr val="FFFFFF"/>
                </a:solidFill>
                <a:latin typeface="Source Han Sans SC"/>
              </a:rPr>
              <a:t>支持多模态交互</a:t>
            </a:r>
          </a:p>
          <a:p>
            <a:pPr>
              <a:spcAft>
                <a:spcPts val="1400"/>
              </a:spcAft>
            </a:pPr>
            <a:r>
              <a:rPr sz="1100" b="0">
                <a:solidFill>
                  <a:srgbClr val="D4A537"/>
                </a:solidFill>
                <a:latin typeface="Source Han Sans SC"/>
              </a:rPr>
              <a:t>◆ </a:t>
            </a:r>
            <a:r>
              <a:rPr sz="1300" b="0">
                <a:solidFill>
                  <a:srgbClr val="FFFFFF"/>
                </a:solidFill>
                <a:latin typeface="Source Han Sans SC"/>
              </a:rPr>
              <a:t>大语言模型技术发展推动对话更自然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4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9728" y="0"/>
            <a:ext cx="36576" cy="6858000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828800" y="2103120"/>
            <a:ext cx="8503920" cy="18288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0" y="2377440"/>
            <a:ext cx="8503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400" b="1">
                <a:solidFill>
                  <a:srgbClr val="FFFFFF"/>
                </a:solidFill>
                <a:latin typeface="Source Han Serif SC"/>
              </a:defRPr>
            </a:pPr>
            <a:r>
              <a:t>感谢各位老师的指导与评审</a:t>
            </a:r>
          </a:p>
        </p:txBody>
      </p:sp>
      <p:sp>
        <p:nvSpPr>
          <p:cNvPr id="6" name="Rectangle 5"/>
          <p:cNvSpPr/>
          <p:nvPr/>
        </p:nvSpPr>
        <p:spPr>
          <a:xfrm>
            <a:off x="1828800" y="3383280"/>
            <a:ext cx="8503920" cy="18288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28800" y="384048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D4A537"/>
                </a:solidFill>
                <a:latin typeface="Source Han Serif SC"/>
              </a:defRPr>
            </a:pPr>
            <a:r>
              <a:t>恳请各位老师批评指正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5029200"/>
            <a:ext cx="8503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A8C7E"/>
                </a:solidFill>
                <a:latin typeface="Source Han Serif SC"/>
              </a:defRPr>
            </a:pPr>
            <a:r>
              <a:t>答辩人：王子轩    指导教师：徐龙琴 教授  高静 高级工程师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5394960"/>
            <a:ext cx="8503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A8C7E"/>
                </a:solidFill>
                <a:latin typeface="Source Han Serif SC"/>
              </a:defRPr>
            </a:pPr>
            <a:r>
              <a:t>仲恺农业工程学院  信息科学与技术学院  2026.05.09</a:t>
            </a:r>
          </a:p>
        </p:txBody>
      </p:sp>
      <p:sp>
        <p:nvSpPr>
          <p:cNvPr id="10" name="Diamond 9"/>
          <p:cNvSpPr/>
          <p:nvPr/>
        </p:nvSpPr>
        <p:spPr>
          <a:xfrm>
            <a:off x="10515600" y="914400"/>
            <a:ext cx="274320" cy="274320"/>
          </a:xfrm>
          <a:prstGeom prst="diamond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Diamond 10"/>
          <p:cNvSpPr/>
          <p:nvPr/>
        </p:nvSpPr>
        <p:spPr>
          <a:xfrm>
            <a:off x="1371600" y="5486400"/>
            <a:ext cx="182880" cy="182880"/>
          </a:xfrm>
          <a:prstGeom prst="diamond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