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13716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  <a:latin typeface="Consolas"/>
              </a:defRPr>
            </a:pPr>
            <a:r>
              <a:t>GRADUATION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0"/>
                </a:solidFill>
                <a:latin typeface="Source Han Serif SC"/>
              </a:defRPr>
            </a:pPr>
            <a:r>
              <a:t>基于CRS推荐与AI数字人的</a:t>
            </a:r>
            <a:br/>
            <a:r>
              <a:t>非遗文化传播系统实现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00400"/>
            <a:ext cx="228600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Source Han Sans SC"/>
              </a:rPr>
              <a:t>答辩人 </a:t>
            </a:r>
            <a:r>
              <a:rPr sz="1300" b="1">
                <a:solidFill>
                  <a:srgbClr val="F0F0F0"/>
                </a:solidFill>
                <a:latin typeface="Source Han Sans SC"/>
              </a:rPr>
              <a:t>王子轩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587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Source Han Sans SC"/>
              </a:rPr>
              <a:t>学    号 </a:t>
            </a:r>
            <a:r>
              <a:rPr sz="1300" b="1">
                <a:solidFill>
                  <a:srgbClr val="F0F0F0"/>
                </a:solidFill>
                <a:latin typeface="Source Han Sans SC"/>
              </a:rPr>
              <a:t>202210274225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428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Source Han Sans SC"/>
              </a:rPr>
              <a:t>专    业 </a:t>
            </a:r>
            <a:r>
              <a:rPr sz="1300" b="1">
                <a:solidFill>
                  <a:srgbClr val="F0F0F0"/>
                </a:solidFill>
                <a:latin typeface="Source Han Sans SC"/>
              </a:rPr>
              <a:t>数据科学与大数据技术222班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2686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Source Han Sans SC"/>
              </a:rPr>
              <a:t>学    院 </a:t>
            </a:r>
            <a:r>
              <a:rPr sz="1300" b="1">
                <a:solidFill>
                  <a:srgbClr val="F0F0F0"/>
                </a:solidFill>
                <a:latin typeface="Source Han Sans SC"/>
              </a:rPr>
              <a:t>信息科学与技术学院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10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Source Han Sans SC"/>
              </a:rPr>
              <a:t>指导教师 </a:t>
            </a:r>
            <a:r>
              <a:rPr sz="1300" b="1">
                <a:solidFill>
                  <a:srgbClr val="F0F0F0"/>
                </a:solidFill>
                <a:latin typeface="Source Han Sans SC"/>
              </a:rPr>
              <a:t>徐龙琴 教授  高静 高级工程师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E"/>
                </a:solidFill>
                <a:latin typeface="Source Han Serif SC"/>
              </a:defRPr>
            </a:pPr>
            <a:r>
              <a:t>仲恺农业工程学院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080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onsolas"/>
              </a:defRPr>
            </a:pPr>
            <a:r>
              <a:t>2026.05.09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914400"/>
            <a:ext cx="3200400" cy="137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5486400"/>
            <a:ext cx="3200400" cy="137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0972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Consolas"/>
              </a:defRPr>
            </a:pPr>
            <a:r>
              <a:t>CRS</a:t>
            </a:r>
            <a:br/>
            <a:r>
              <a:t>AI Digital Human</a:t>
            </a:r>
            <a:br/>
            <a:r>
              <a:t>Knowledge Graph</a:t>
            </a:r>
            <a:br/>
            <a:r>
              <a:t>WeChat Mini-Program</a:t>
            </a:r>
            <a:br/>
            <a:r>
              <a:t>Intangible Cultural Heritage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384F"/>
                </a:solidFill>
                <a:latin typeface="Consolas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Source Han Serif SC"/>
              </a:defRPr>
            </a:pPr>
            <a:r>
              <a:t>汇报提纲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13716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2/22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11480" cy="41148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Source Han Serif SC"/>
              </a:defRPr>
            </a:pPr>
            <a:r>
              <a:t>研究背景与意义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642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非遗数字化传播的时代需求与课题定位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411480" cy="4114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Source Han Serif SC"/>
              </a:defRPr>
            </a:pPr>
            <a:r>
              <a:t>国内外研究现状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042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CRS、AI数字人研究进展与不足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51760"/>
            <a:ext cx="411480" cy="41148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97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Source Han Serif SC"/>
              </a:defRPr>
            </a:pPr>
            <a:r>
              <a:t>相关技术与理论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443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FastAPI、LLM、CRS核心理论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39"/>
            <a:ext cx="411480" cy="4114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3755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Source Han Serif SC"/>
              </a:defRPr>
            </a:pPr>
            <a:r>
              <a:t>系统分析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58444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需求分析、可行性、数据流程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31920"/>
            <a:ext cx="411480" cy="41148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77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Source Han Serif SC"/>
              </a:defRPr>
            </a:pPr>
            <a:r>
              <a:t>系统设计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24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架构、推荐模块、AI数字人、知识图谱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72000"/>
            <a:ext cx="411480" cy="4114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17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Source Han Serif SC"/>
              </a:defRPr>
            </a:pPr>
            <a:r>
              <a:t>系统实现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646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小程序端与管理端功能展示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12079"/>
            <a:ext cx="411480" cy="41148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5779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Source Han Serif SC"/>
              </a:defRPr>
            </a:pPr>
            <a:r>
              <a:t>系统测试与实验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50468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功能/性能/兼容性测试与实验分析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52159"/>
            <a:ext cx="411480" cy="4114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9787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87044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Source Han Serif SC"/>
              </a:defRPr>
            </a:pPr>
            <a:r>
              <a:t>结论与展望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614476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研究成果总结与未来方向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非遗数字化传播的时代需求与现有平台不足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3/22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530352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Source Han Serif SC"/>
              </a:defRPr>
            </a:pPr>
            <a:r>
              <a:t>时代需求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国家级非遗代表性项目1000+，联合国非遗名录数量世界第一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短视频化：抖音非遗视频超2.2亿条，138亿次点赞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资源数字化：动画、游戏、产品设计需数字化非遗素材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体验化转型：非遗从博物馆附属走向独立活动产品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传播重心从专业领域转向大众视野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548640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89888"/>
            <a:ext cx="548640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384F"/>
                </a:solidFill>
                <a:latin typeface="Source Han Serif SC"/>
              </a:defRPr>
            </a:pPr>
            <a:r>
              <a:t>现有平台五大不足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E8384F"/>
                </a:solidFill>
                <a:latin typeface="Source Han Sans SC"/>
              </a:rPr>
              <a:t>推荐能力弱 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热门排序为主，无个性化推荐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384F"/>
                </a:solidFill>
                <a:latin typeface="Source Han Sans SC"/>
              </a:rPr>
              <a:t>交互方式单一 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图文展示为主，缺少语音对话交互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384F"/>
                </a:solidFill>
                <a:latin typeface="Source Han Sans SC"/>
              </a:rPr>
              <a:t>场景感知缺失 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不能捕捉时间地点文化情境信号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384F"/>
                </a:solidFill>
                <a:latin typeface="Source Han Sans SC"/>
              </a:rPr>
              <a:t>冷启动严重 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用户行为稀疏，新用户流失率高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384F"/>
                </a:solidFill>
                <a:latin typeface="Source Han Sans SC"/>
              </a:rPr>
              <a:t>推荐不可解释 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不给出推荐理由，影响信任度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研究意义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4/22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303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理论意义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将CRS对话推荐思想引入非遗文化传播场景，探索SAUR交互模式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提出以CRS为引导、知识图谱为增强、AI数字人为载体的智能化服务框架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构建三维置信度评估模型，实现冷启动到精准推荐的渐进收敛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为非遗推荐领域提供可解释的推荐机制设计参考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548640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07008"/>
            <a:ext cx="548640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9A96E"/>
                </a:solidFill>
                <a:latin typeface="Source Han Serif SC"/>
              </a:defRPr>
            </a:pPr>
            <a:r>
              <a:t>实践意义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C9A96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开发完整的非遗文化传播微信小程序，覆盖浏览、问答、推荐、活动、社区全链路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C9A96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AI数字人黑塔实现多轮问答、语音播报、CRS状态显示、延伸推荐、行动清单生成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C9A96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本地知识库优先+大模型回退策略，兼顾知识准确性与语义理解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C9A96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为非遗数字化传播与个性化服务提供可落地的实践参考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国内外研究现状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推荐系统、CRS、大语言模型融合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5/22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66160" cy="47548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356616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384F"/>
                </a:solidFill>
                <a:latin typeface="Source Han Serif SC"/>
              </a:defRPr>
            </a:pPr>
            <a:r>
              <a:t>推荐系统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协同过滤：依赖历史行为，冷启动突出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内容推荐：特征匹配，多样性不足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混合推荐：融合多源信号，适合稀疏场景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66160" cy="47548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89888"/>
            <a:ext cx="3566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ource Han Serif SC"/>
              </a:defRPr>
            </a:pPr>
            <a:r>
              <a:t>对话推荐CRS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Jannach等：CRS通过多轮交互获取反馈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赵梦媛等：传统推荐三大缺陷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Wang等：知识增强提示学习统一框架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47548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89888"/>
            <a:ext cx="356616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ource Han Serif SC"/>
              </a:defRPr>
            </a:pPr>
            <a:r>
              <a:t>LLM+推荐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谢广明等：判别式与生成式范式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Wu等：LLM for Recommendation综述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趋势：走向LLM驱动的交互式推荐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AI数字人与研究不足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6/22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20116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30352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ource Han Serif SC"/>
              </a:defRPr>
            </a:pPr>
            <a:r>
              <a:t>AI数字人与文化导览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A78BFA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辽小博：知识图谱+大模型融合微调的AI智慧导览系统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A78BFA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InHeritage：游戏化+AR的文化遗产传播应用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A78BFA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趋势：从静态展示走向AI驱动的智能导览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5486400" cy="20116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07008"/>
            <a:ext cx="54864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ource Han Serif SC"/>
              </a:defRPr>
            </a:pPr>
            <a:r>
              <a:t>知识图谱增强推荐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F59E0B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Guo等：知识图谱通过实体关系扩展推荐候选集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59E0B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王敏等：KG+LLM增强推荐系统研究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59E0B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汪天雄等：非遗数字化发展中知识图谱视角的前景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11155680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93008"/>
            <a:ext cx="1115568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384F"/>
                </a:solidFill>
                <a:latin typeface="Source Han Serif SC"/>
              </a:defRPr>
            </a:pPr>
            <a:r>
              <a:t>现有研究不足与本课题定位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1.  现有非遗平台缺少CRS对话推荐能力，无法在交互中主动发现用户偏好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2.  AI导览系统多侧重知识问答，缺少推荐引导与偏好采集的闭环设计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3.  知识图谱在非遗推荐中的应用尚处起步阶段，推荐解释性不足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4.  缺少面向非遗场景的完整系统实践，CRS+AI数字人+知识图谱协同方案尚未见报道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840480"/>
            <a:ext cx="2743200" cy="219456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本课题定位</a:t>
            </a:r>
            <a:br/>
            <a:br/>
            <a:r>
              <a:t>CRS为引导</a:t>
            </a:r>
            <a:br/>
            <a:r>
              <a:t>图谱为增强</a:t>
            </a:r>
            <a:br/>
            <a:r>
              <a:t>数字人为载体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相关技术与理论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7/22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214884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214884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384F"/>
                </a:solidFill>
                <a:latin typeface="Consolas"/>
              </a:defRPr>
            </a:pPr>
            <a:r>
              <a:t>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0"/>
                </a:solidFill>
                <a:latin typeface="Source Han Serif SC"/>
              </a:defRPr>
            </a:pPr>
            <a:r>
              <a:t>微信小程序</a:t>
            </a:r>
            <a:br/>
            <a:r>
              <a:t>WXML/WXSS/JS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16002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原生开发</a:t>
            </a:r>
            <a:br/>
            <a:r>
              <a:t>微信能力直调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79" y="1188720"/>
            <a:ext cx="214884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79" y="1207008"/>
            <a:ext cx="214884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39" y="14630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onsolas"/>
              </a:defRPr>
            </a:pPr>
            <a:r>
              <a:t>后端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182880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0"/>
                </a:solidFill>
                <a:latin typeface="Source Han Serif SC"/>
              </a:defRPr>
            </a:pPr>
            <a:r>
              <a:t>FastAPI</a:t>
            </a:r>
            <a:br/>
            <a:r>
              <a:t>SQLAlchemy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799" y="2926080"/>
            <a:ext cx="16002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39" y="310896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异步高性能</a:t>
            </a:r>
            <a:br/>
            <a:r>
              <a:t>ORM多库切换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188720"/>
            <a:ext cx="214884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207008"/>
            <a:ext cx="214884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14630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onsolas"/>
              </a:defRPr>
            </a:pPr>
            <a:r>
              <a:t>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182880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0"/>
                </a:solidFill>
                <a:latin typeface="Source Han Serif SC"/>
              </a:defRPr>
            </a:pPr>
            <a:r>
              <a:t>SQLite</a:t>
            </a:r>
            <a:br/>
            <a:r>
              <a:t>本地存储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926080"/>
            <a:ext cx="16002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310896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轻量关系型</a:t>
            </a:r>
            <a:br/>
            <a:r>
              <a:t>小规模部署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1188720"/>
            <a:ext cx="214884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1207008"/>
            <a:ext cx="214884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14630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E"/>
                </a:solidFill>
                <a:latin typeface="Consolas"/>
              </a:defRPr>
            </a:pPr>
            <a: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182880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0"/>
                </a:solidFill>
                <a:latin typeface="Source Han Serif SC"/>
              </a:defRPr>
            </a:pPr>
            <a:r>
              <a:t>豆包大模型</a:t>
            </a:r>
            <a:br/>
            <a:r>
              <a:t>本地知识库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39" y="2926080"/>
            <a:ext cx="16002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10896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三级回退策略</a:t>
            </a:r>
            <a:br/>
            <a:r>
              <a:t>TTS双引擎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1188720"/>
            <a:ext cx="214884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1207008"/>
            <a:ext cx="214884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14630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onsolas"/>
              </a:defRPr>
            </a:pPr>
            <a:r>
              <a:t>推荐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182880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0"/>
                </a:solidFill>
                <a:latin typeface="Source Han Serif SC"/>
              </a:defRPr>
            </a:pPr>
            <a:r>
              <a:t>CRS对话推荐</a:t>
            </a:r>
            <a:br/>
            <a:r>
              <a:t>知识图谱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2926080"/>
            <a:ext cx="16002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310896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ASK-REC状态机</a:t>
            </a:r>
            <a:br/>
            <a:r>
              <a:t>规则加权混合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系统分析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三类角色与六大功能模块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8/22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66160" cy="146304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356616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84F"/>
                </a:solidFill>
                <a:latin typeface="Source Han Serif SC"/>
              </a:defRPr>
            </a:pPr>
            <a:r>
              <a:t>普通用户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浏览内容、AI对话</a:t>
            </a:r>
            <a:br/>
            <a:r>
              <a:t>个性化推荐、活动报名</a:t>
            </a:r>
            <a:br/>
            <a:r>
              <a:t>社区讨论、偏好管理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66160" cy="146304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89888"/>
            <a:ext cx="3566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内容管理员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内容审核发布</a:t>
            </a:r>
            <a:br/>
            <a:r>
              <a:t>质量评定、数据收集</a:t>
            </a:r>
            <a:br/>
            <a:r>
              <a:t>基本用户管理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146304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89888"/>
            <a:ext cx="356616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ource Han Serif SC"/>
              </a:defRPr>
            </a:pPr>
            <a:r>
              <a:t>系统管理员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745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系统运维配置</a:t>
            </a:r>
            <a:br/>
            <a:r>
              <a:t>运行监控</a:t>
            </a:r>
            <a:br/>
            <a:r>
              <a:t>权限控制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3566160" cy="13716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18688"/>
            <a:ext cx="36576" cy="1335024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384F"/>
                </a:solidFill>
                <a:latin typeface="Source Han Serif SC"/>
              </a:defRPr>
            </a:pPr>
            <a:r>
              <a:t>非遗内容展示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200400"/>
            <a:ext cx="3566160" cy="13716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218688"/>
            <a:ext cx="36576" cy="13350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ource Han Serif SC"/>
              </a:defRPr>
            </a:pPr>
            <a:r>
              <a:t>个性化推荐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200400"/>
            <a:ext cx="3566160" cy="13716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218688"/>
            <a:ext cx="36576" cy="133502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ource Han Serif SC"/>
              </a:defRPr>
            </a:pPr>
            <a:r>
              <a:t>AI数字人对话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46320"/>
            <a:ext cx="3566160" cy="13716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64608"/>
            <a:ext cx="36576" cy="133502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983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ource Han Serif SC"/>
              </a:defRPr>
            </a:pPr>
            <a:r>
              <a:t>活动报名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846320"/>
            <a:ext cx="3566160" cy="13716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864608"/>
            <a:ext cx="36576" cy="133502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4983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ource Han Serif SC"/>
              </a:defRPr>
            </a:pPr>
            <a:r>
              <a:t>社区互动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846320"/>
            <a:ext cx="3566160" cy="13716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864608"/>
            <a:ext cx="36576" cy="13350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4983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ource Han Serif SC"/>
              </a:defRPr>
            </a:pPr>
            <a:r>
              <a:t>用户中心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可行性分析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9/22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48640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384F"/>
                </a:solidFill>
                <a:latin typeface="Source Han Serif SC"/>
              </a:defRPr>
            </a:pPr>
            <a:r>
              <a:t>技术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✓ 微信小程序成熟框架</a:t>
            </a:r>
            <a:br/>
            <a:r>
              <a:t>✓ FastAPI+SQLAlchemy ORM</a:t>
            </a:r>
            <a:br/>
            <a:r>
              <a:t>✓ 知识库-搜索-大模型三级回退</a:t>
            </a:r>
            <a:br/>
            <a:r>
              <a:t>✓ 规则加权混合推荐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07008"/>
            <a:ext cx="54864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经济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✓ SQLite零成本</a:t>
            </a:r>
            <a:br/>
            <a:r>
              <a:t>✓ 云服务器月费百元内</a:t>
            </a:r>
            <a:br/>
            <a:r>
              <a:t>✓ 豆包大模型免费额度</a:t>
            </a:r>
            <a:br/>
            <a:r>
              <a:t>✓ 小程序注册发布平价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58768"/>
            <a:ext cx="548640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Source Han Serif SC"/>
              </a:defRPr>
            </a:pPr>
            <a:r>
              <a:t>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✓ 小程序免安装扫码即用</a:t>
            </a:r>
            <a:br/>
            <a:r>
              <a:t>✓ AI数字人零学习成本</a:t>
            </a:r>
            <a:br/>
            <a:r>
              <a:t>✓ 管理端Web界面直观操作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58768"/>
            <a:ext cx="548640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023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9A96E"/>
                </a:solidFill>
                <a:latin typeface="Source Han Serif SC"/>
              </a:defRPr>
            </a:pPr>
            <a:r>
              <a:t>社会法律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✓ 本地知识库降低AI幻觉</a:t>
            </a:r>
            <a:br/>
            <a:r>
              <a:t>✓ 符合个人信息保护法</a:t>
            </a:r>
            <a:br/>
            <a:r>
              <a:t>✓ 传播非遗有积极社会意义</a:t>
            </a:r>
            <a:br/>
            <a:r>
              <a:t>✓ 符合非物质文化遗产法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系统整体架构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10/22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188720"/>
            <a:ext cx="9601200" cy="1097280"/>
          </a:xfrm>
          <a:prstGeom prst="round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1207008"/>
            <a:ext cx="960120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298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84F"/>
                </a:solidFill>
                <a:latin typeface="Source Han Serif SC"/>
              </a:defRPr>
            </a:pPr>
            <a:r>
              <a:t>前端交互层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Source Han Sans SC"/>
              </a:defRPr>
            </a:pPr>
            <a:r>
              <a:t>微信小程序用户端  |  Web管理端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514600"/>
            <a:ext cx="9601200" cy="1097280"/>
          </a:xfrm>
          <a:prstGeom prst="round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0" y="2532888"/>
            <a:ext cx="9601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624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接口服务层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Source Han Sans SC"/>
              </a:defRPr>
            </a:pPr>
            <a:r>
              <a:t>AI问答 | CRS状态 | 用户画像 | 内容活动 | 讨论区 | 登录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840480"/>
            <a:ext cx="9601200" cy="1097280"/>
          </a:xfrm>
          <a:prstGeom prst="roundRect">
            <a:avLst/>
          </a:prstGeom>
          <a:solidFill>
            <a:srgbClr val="E8384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3858768"/>
            <a:ext cx="960120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950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Source Han Serif SC"/>
              </a:defRPr>
            </a:pPr>
            <a:r>
              <a:t>核心能力层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ource Han Sans SC"/>
              </a:defRPr>
            </a:pPr>
            <a:r>
              <a:t>AI服务 | 推荐服务 | 本地知识检索 | 知识图谱增强 | 联网补充 | TTS语音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5166359"/>
            <a:ext cx="9601200" cy="1097280"/>
          </a:xfrm>
          <a:prstGeom prst="roundRect">
            <a:avLst/>
          </a:prstGeom>
          <a:solidFill>
            <a:srgbClr val="0F0F0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5184647"/>
            <a:ext cx="960120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5276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Source Han Serif SC"/>
              </a:defRPr>
            </a:pPr>
            <a:r>
              <a:t>数据与外部服务层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6235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SQLite | 本地知识 | 推荐日志 | CRS会话 | 豆包API | 联网搜索 | 微信登录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371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384F"/>
                </a:solidFill>
                <a:latin typeface="Consolas"/>
              </a:defRPr>
            </a:pPr>
            <a:r>
              <a:t>设计原则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691640"/>
            <a:ext cx="1005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ource Han Sans SC"/>
              </a:defRPr>
            </a:pPr>
            <a:r>
              <a:t>前后端分离</a:t>
            </a:r>
            <a:br/>
            <a:r>
              <a:t>主线趋同</a:t>
            </a:r>
            <a:br/>
            <a:r>
              <a:t>轻量优先</a:t>
            </a:r>
            <a:br/>
            <a:r>
              <a:t>可扩展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CRS对话推荐机制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三维置信度评估 + ASK-REC状态机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11/22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530352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384F"/>
                </a:solidFill>
                <a:latin typeface="Source Han Serif SC"/>
              </a:defRPr>
            </a:pPr>
            <a:r>
              <a:t>三维置信度评估模型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4114800" cy="502920"/>
          </a:xfrm>
          <a:prstGeom prst="roundRect">
            <a:avLst/>
          </a:prstGeom>
          <a:solidFill>
            <a:srgbClr val="0F0F0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96E"/>
                </a:solidFill>
                <a:latin typeface="Consolas"/>
              </a:defRPr>
            </a:pPr>
            <a:r>
              <a:t>C = 0.40×Se + 0.35×Si + 0.25×Sd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E8384F"/>
                </a:solidFill>
                <a:latin typeface="Source Han Sans SC"/>
              </a:rPr>
              <a:t>Se 显式偏好 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用户偏好设置、ASK选项回答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E8384F"/>
                </a:solidFill>
                <a:latin typeface="Source Han Sans SC"/>
              </a:rPr>
              <a:t>Si 隐式行为 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曝光、点击、浏览、活动报名、讨论互动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E8384F"/>
                </a:solidFill>
                <a:latin typeface="Source Han Sans SC"/>
              </a:rPr>
              <a:t>Sd 对话语义 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AI提问中的非遗关键词、地区特征、场景偏好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548640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89888"/>
            <a:ext cx="54864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ASK-REC 状态机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0312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21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cold_start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0"/>
                </a:solidFill>
                <a:latin typeface="Consolas"/>
              </a:defRPr>
            </a:pPr>
            <a:r>
              <a:t>C &lt;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优先ASK采集偏好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291839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3101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mixed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2918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0"/>
                </a:solidFill>
                <a:latin typeface="Consolas"/>
              </a:defRPr>
            </a:pPr>
            <a:r>
              <a:t>28 ≤ C &lt; 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边推荐边追问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480560"/>
            <a:ext cx="201168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precision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0"/>
                </a:solidFill>
                <a:latin typeface="Consolas"/>
              </a:defRPr>
            </a:pPr>
            <a:r>
              <a:t>C ≥ 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92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精准推荐为主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特殊策略：意图驱动推荐 | 恢复式提问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AI数字人“黑塔”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12/22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651760" cy="16459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265176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384F"/>
                </a:solidFill>
                <a:latin typeface="Source Han Serif SC"/>
              </a:defRPr>
            </a:pPr>
            <a:r>
              <a:t>知识传授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非遗问题解释</a:t>
            </a:r>
            <a:br/>
            <a:r>
              <a:t>导览入口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188720"/>
            <a:ext cx="2651760" cy="16459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207008"/>
            <a:ext cx="26517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ource Han Serif SC"/>
              </a:defRPr>
            </a:pPr>
            <a:r>
              <a:t>推荐引导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提问引向推荐</a:t>
            </a:r>
            <a:br/>
            <a:r>
              <a:t>不停留在问答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2651760" cy="16459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07008"/>
            <a:ext cx="265176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ource Han Serif SC"/>
              </a:defRPr>
            </a:pPr>
            <a:r>
              <a:t>采集偏好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37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ASK模板收集</a:t>
            </a:r>
            <a:br/>
            <a:r>
              <a:t>类别/地区/体验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188720"/>
            <a:ext cx="2651760" cy="16459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207008"/>
            <a:ext cx="265176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ource Han Serif SC"/>
              </a:defRPr>
            </a:pPr>
            <a:r>
              <a:t>闭环触发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737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行为反馈画像</a:t>
            </a:r>
            <a:br/>
            <a:r>
              <a:t>CRS状态深化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11155680" cy="128016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127248"/>
            <a:ext cx="111556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ource Han Serif SC"/>
              </a:defRPr>
            </a:pPr>
            <a:r>
              <a:t>AI回答链路（本地知识优先）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接收问题 → 检索本地知识库 → 读取CRS会话 → 生成推荐载荷 → ASK-REC决策 → 调用豆包API → 返回回答+推荐卡+ASK选项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11155680" cy="16459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681728"/>
            <a:ext cx="1115568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ource Han Serif SC"/>
              </a:defRPr>
            </a:pPr>
            <a:r>
              <a:t>三层提示词约束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78BFA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第一层  全局角色提示：确定黑塔身份、语气、服务范围和知识边界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78BFA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第二层  任务型提示：知识命中时润色简化，未命中时限定输出范围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78BFA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第三层  CRS感知提示：根据cold_start/mixed/precision动态调整语气深度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知识图谱与内容治理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13/22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303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知识图谱设计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定位：推荐和AI对话的加强器，非主排序器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扩大推荐候选：相近实体、类别关系、路径关系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加强推荐解释：路径关系转为自然语言推荐理由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以用户已知实体为起点，向丰富方向延伸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CRS联动：识别实体→映射画像→附加图谱理由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一石二鸟：增强解释 + 参与兴趣建模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548640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07008"/>
            <a:ext cx="548640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Source Han Serif SC"/>
              </a:defRPr>
            </a:pPr>
            <a:r>
              <a:t>内容治理体系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质量评分（三维度量化）：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  内容完整度：正文字数、封面图、摘要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  信息丰富度：章节归属、标签覆盖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  原创质量：来源可信度、内容哈希去重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审核发布：质量分≥阈值自动进推荐池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白名单回补：定期从达标内容重新选拔精选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首页与个性化推荐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AI导览横幅 + 精选推荐 + 快速入口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14/22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6616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356616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84F"/>
                </a:solidFill>
                <a:latin typeface="Source Han Serif SC"/>
              </a:defRPr>
            </a:pPr>
            <a:r>
              <a:t>AI导览横幅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CRS模式进度胶囊</a:t>
            </a:r>
            <a:br/>
            <a:r>
              <a:t>黑塔数字人组件</a:t>
            </a:r>
            <a:br/>
            <a:r>
              <a:t>表情随CRS模式变化</a:t>
            </a:r>
            <a:br/>
            <a:r>
              <a:t>立即开始按钮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6616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89888"/>
            <a:ext cx="3566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精选推荐区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第一条推荐大卡片</a:t>
            </a:r>
            <a:br/>
            <a:r>
              <a:t>今日推荐：内容/活动/讨论</a:t>
            </a:r>
            <a:br/>
            <a:r>
              <a:t>推荐理由标签+新鲜度标签</a:t>
            </a:r>
            <a:br/>
            <a:r>
              <a:t>点击行为即时回流画像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89888"/>
            <a:ext cx="356616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ource Han Serif SC"/>
              </a:defRPr>
            </a:pPr>
            <a:r>
              <a:t>快速入口+TabBar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非遗发展史/非遗地点快捷入口</a:t>
            </a:r>
            <a:br/>
            <a:r>
              <a:t>自定义TabBar</a:t>
            </a:r>
            <a:br/>
            <a:r>
              <a:t>主页/文化/活动/讨论/我的</a:t>
            </a:r>
            <a:br/>
            <a:r>
              <a:t>胶囊圆角设计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非遗内容与活动报名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瀑布流布局 + 在线报名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15/22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530352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84F"/>
                </a:solidFill>
                <a:latin typeface="Source Han Serif SC"/>
              </a:defRPr>
            </a:pPr>
            <a:r>
              <a:t>非遗内容模块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瀑布流双列布局</a:t>
            </a:r>
            <a:br/>
            <a:r>
              <a:t>策展精选显眼位置</a:t>
            </a:r>
            <a:br/>
            <a:r>
              <a:t>按子章节和类型打标签</a:t>
            </a:r>
            <a:br/>
            <a:r>
              <a:t>个性化内容推荐混合展示</a:t>
            </a:r>
            <a:br/>
            <a:r>
              <a:t>内容详情：封面+三分钟看点+延伸讲解</a:t>
            </a:r>
            <a:br/>
            <a:r>
              <a:t>AI浮窗入口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548640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89888"/>
            <a:ext cx="548640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ource Han Serif SC"/>
              </a:defRPr>
            </a:pPr>
            <a:r>
              <a:t>活动报名模块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活动列表：按月份筛选</a:t>
            </a:r>
            <a:br/>
            <a:r>
              <a:t>前两条标记本月主推</a:t>
            </a:r>
            <a:br/>
            <a:r>
              <a:t>个性化活动推荐混合展示</a:t>
            </a:r>
            <a:br/>
            <a:r>
              <a:t>活动详情：封面/时间地点/组织者</a:t>
            </a:r>
            <a:br/>
            <a:r>
              <a:t>在线报名/取消报名+AI浮窗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社区讨论与用户中心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话题互动 + 偏好管理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16/22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5303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社区讨论模块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讨论列表：关键词搜索+标签筛选</a:t>
            </a:r>
            <a:br/>
            <a:r>
              <a:t>排序切换（热门/最新）、只看收藏</a:t>
            </a:r>
            <a:br/>
            <a:r>
              <a:t>热门话题TOP3展示</a:t>
            </a:r>
            <a:br/>
            <a:r>
              <a:t>发帖三种模板：提问型/体验分享型/活动反馈型</a:t>
            </a:r>
            <a:br/>
            <a:r>
              <a:t>话题详情：帖子正文+评论列表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548640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89888"/>
            <a:ext cx="548640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Source Han Serif SC"/>
              </a:defRPr>
            </a:pPr>
            <a:r>
              <a:t>用户中心模块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用户画像卡片：偏好关键词/活跃场景/关注地区</a:t>
            </a:r>
            <a:br/>
            <a:r>
              <a:t>统计卡片：发帖数/活动记录/已选偏好</a:t>
            </a:r>
            <a:br/>
            <a:r>
              <a:t>偏好设置：非遗类别/场景类型/地区</a:t>
            </a:r>
            <a:br/>
            <a:r>
              <a:t>保存后作为显式信号纳入画像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AI数字人“黑塔”核心交互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cold_start → mixed → precision 三阶段渐进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17/22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6616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3566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554480"/>
            <a:ext cx="265176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cold_start</a:t>
            </a:r>
            <a:br/>
            <a:r>
              <a:t>冷启动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C &lt; 28</a:t>
            </a:r>
            <a:br/>
            <a:r>
              <a:t>主动提问为主</a:t>
            </a:r>
            <a:br/>
            <a:r>
              <a:t>ASK卡片收集偏好</a:t>
            </a:r>
            <a:br/>
            <a:r>
              <a:t>类目→地区→场景→程度</a:t>
            </a:r>
            <a:br/>
            <a:r>
              <a:t>不直接给出推荐结果</a:t>
            </a:r>
            <a:br/>
            <a:r>
              <a:t>数字人好奇张望表情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89888"/>
            <a:ext cx="356616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0" y="1554480"/>
            <a:ext cx="265176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mixed</a:t>
            </a:r>
            <a:br/>
            <a:r>
              <a:t>混合模式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28 ≤ C &lt; 62</a:t>
            </a:r>
            <a:br/>
            <a:r>
              <a:t>边推荐边追问</a:t>
            </a:r>
            <a:br/>
            <a:r>
              <a:t>1-2张AI推荐卡+B组追问</a:t>
            </a:r>
            <a:br/>
            <a:r>
              <a:t>上方推荐+下方ASK选项</a:t>
            </a:r>
            <a:br/>
            <a:r>
              <a:t>推荐理由贴合当前选择</a:t>
            </a:r>
            <a:br/>
            <a:r>
              <a:t>数字人托腮思考表情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89888"/>
            <a:ext cx="356616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0" y="1554480"/>
            <a:ext cx="265176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precision</a:t>
            </a:r>
            <a:br/>
            <a:r>
              <a:t>精准模式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774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C ≥ 62</a:t>
            </a:r>
            <a:br/>
            <a:r>
              <a:t>停止追问直接输出</a:t>
            </a:r>
            <a:br/>
            <a:r>
              <a:t>高度匹配推荐结果</a:t>
            </a:r>
            <a:br/>
            <a:r>
              <a:t>精准匹配偏好表达</a:t>
            </a:r>
            <a:br/>
            <a:r>
              <a:t>推荐卡占主要区域</a:t>
            </a:r>
            <a:br/>
            <a:r>
              <a:t>数字人自信微笑表情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AI对话功能与信息层次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ource Han Sans SC"/>
              </a:defRPr>
            </a:pPr>
            <a:r>
              <a:t>语音播报 + 延伸推荐 + 行动清单 + 三层信息结构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18/22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651760" cy="18288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65176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384F"/>
                </a:solidFill>
                <a:latin typeface="Source Han Serif SC"/>
              </a:defRPr>
            </a:pPr>
            <a:r>
              <a:t>语音播报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豆包TTS优先</a:t>
            </a:r>
            <a:br/>
            <a:r>
              <a:t>Edge-TTS降级</a:t>
            </a:r>
            <a:br/>
            <a:r>
              <a:t>双引擎架构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651760" cy="18288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89888"/>
            <a:ext cx="26517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ource Han Serif SC"/>
              </a:defRPr>
            </a:pPr>
            <a:r>
              <a:t>延伸推荐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7451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回答下方展示</a:t>
            </a:r>
            <a:br/>
            <a:r>
              <a:t>内容/活动/讨论</a:t>
            </a:r>
            <a:br/>
            <a:r>
              <a:t>推荐卡片即时刷新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651760" cy="18288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89888"/>
            <a:ext cx="265176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ource Han Serif SC"/>
              </a:defRPr>
            </a:pPr>
            <a:r>
              <a:t>行动清单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7451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浏览/报名/讨论</a:t>
            </a:r>
            <a:br/>
            <a:r>
              <a:t>下一步行动建议</a:t>
            </a:r>
            <a:br/>
            <a:r>
              <a:t>闭环触发机制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371600"/>
            <a:ext cx="2651760" cy="18288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389888"/>
            <a:ext cx="265176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E"/>
                </a:solidFill>
                <a:latin typeface="Source Han Serif SC"/>
              </a:defRPr>
            </a:pPr>
            <a:r>
              <a:t>AI浮窗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7451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Source Han Sans SC"/>
              </a:defRPr>
            </a:pPr>
            <a:r>
              <a:t>内容页/活动页嵌入</a:t>
            </a:r>
            <a:br/>
            <a:r>
              <a:t>场景化问答</a:t>
            </a:r>
            <a:br/>
            <a:r>
              <a:t>随时发起对话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474720"/>
            <a:ext cx="11155680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93008"/>
            <a:ext cx="111556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Source Han Serif SC"/>
              </a:defRPr>
            </a:pPr>
            <a:r>
              <a:t>AI对话页三层信息结构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C9A96E"/>
                </a:solidFill>
                <a:latin typeface="Source Han Sans SC"/>
              </a:rPr>
              <a:t>第一层  任务主线层 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黑塔数字人形象 | 对话消息区 | 输入框 | 当前模式提示 | ASK提问卡片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C9A96E"/>
                </a:solidFill>
                <a:latin typeface="Source Han Sans SC"/>
              </a:rPr>
              <a:t>第二层  推荐结果层 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AI推荐卡 | 推荐理由 | 下一步建议（浏览/报名/讨论）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C9A96E"/>
                </a:solidFill>
                <a:latin typeface="Source Han Sans SC"/>
              </a:rPr>
              <a:t>第三层  解释层 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置信度详细部分 | 策略解释 | 图谱依据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Web管理端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19/22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2743200" cy="219456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274320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384F"/>
                </a:solidFill>
                <a:latin typeface="Source Han Serif SC"/>
              </a:defRPr>
            </a:pPr>
            <a:r>
              <a:t>内容管理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743200" cy="219456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07008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ource Han Serif SC"/>
              </a:defRPr>
            </a:pPr>
            <a:r>
              <a:t>质量检查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743200" cy="219456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07008"/>
            <a:ext cx="274320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ource Han Serif SC"/>
              </a:defRPr>
            </a:pPr>
            <a:r>
              <a:t>活动管理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88720"/>
            <a:ext cx="2743200" cy="219456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207008"/>
            <a:ext cx="274320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ource Han Serif SC"/>
              </a:defRPr>
            </a:pPr>
            <a:r>
              <a:t>帖子管理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49039"/>
            <a:ext cx="2743200" cy="219456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67327"/>
            <a:ext cx="274320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3191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ource Han Serif SC"/>
              </a:defRPr>
            </a:pPr>
            <a:r>
              <a:t>用户管理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749039"/>
            <a:ext cx="2743200" cy="219456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3767327"/>
            <a:ext cx="27432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93191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ource Han Serif SC"/>
              </a:defRPr>
            </a:pPr>
            <a:r>
              <a:t>统计导出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49039"/>
            <a:ext cx="2743200" cy="219456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67327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3191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ource Han Serif SC"/>
              </a:defRPr>
            </a:pPr>
            <a:r>
              <a:t>知识库管理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系统测试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20/22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56616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356616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84F"/>
                </a:solidFill>
                <a:latin typeface="Source Han Serif SC"/>
              </a:defRPr>
            </a:pPr>
            <a:r>
              <a:t>功能测试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黑盒测试：10条用例，通过10条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覆盖8模块：认证/内容/活动/讨论/推荐/AI/图谱/管理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白盒测试：7条用例，通过7条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CRS决策引擎/ASK模板/知识图谱/数据模型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56616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07008"/>
            <a:ext cx="3566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性能测试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API平均响应时间：43.16ms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最大响应时间：51.33ms（均&lt;100ms）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并发10用户50请求：成功率100%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吞吐量225.5请求/秒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AI对话平均响应：7.9秒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07008"/>
            <a:ext cx="356616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ource Han Serif SC"/>
              </a:defRPr>
            </a:pPr>
            <a:r>
              <a:t>兼容性测试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浏览器：Chrome/Firefox/Safari/Edge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微信基础库：≥2.20.0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设备：iOS + Android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数据库：SQLite/MySQL/PostgreSQL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实验与分析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21/22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30352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384F"/>
                </a:solidFill>
                <a:latin typeface="Source Han Serif SC"/>
              </a:defRPr>
            </a:pPr>
            <a:r>
              <a:t>AI对话质量评估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2743200" cy="41148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知识库命中率 90.0%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20个测试问题，15个预期命中全部命中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5个冷门问题中3个未命中→回退豆包/联网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命中项置信度集中在0.80-0.85区间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P50=2.6秒，P90=4.3秒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流式输出3秒内可见首个回答片段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KB命中+润色占比最大（链路有效）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200">
                <a:solidFill>
                  <a:srgbClr val="F0F0F0"/>
                </a:solidFill>
                <a:latin typeface="Source Han Sans SC"/>
              </a:rPr>
              <a:t>豆包直答+组合占比较大（大模型体现）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188720"/>
            <a:ext cx="548640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07008"/>
            <a:ext cx="54864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推荐评价指标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20116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29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Precision@5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920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Source Han Sans SC"/>
              </a:defRPr>
            </a:pPr>
            <a:r>
              <a:t>推荐列表前5项中与用户偏好相关的比例</a:t>
            </a:r>
            <a:br/>
            <a:r>
              <a:t>→ 反映推荐准确性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26080"/>
            <a:ext cx="20116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35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Diversity@5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926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Source Han Sans SC"/>
              </a:defRPr>
            </a:pPr>
            <a:r>
              <a:t>推荐列表覆盖的非遗类别数/列表长度</a:t>
            </a:r>
            <a:br/>
            <a:r>
              <a:t>→ 反映推荐多样性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20116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410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931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Source Han Sans SC"/>
              </a:defRPr>
            </a:pPr>
            <a:r>
              <a:t>推荐结果覆盖内容占全部已发布内容的比例</a:t>
            </a:r>
            <a:br/>
            <a:r>
              <a:t>→ 反映推荐覆盖广度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37760"/>
            <a:ext cx="20116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946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NDCG@5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9377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Source Han Sans SC"/>
              </a:defRPr>
            </a:pPr>
            <a:r>
              <a:t>考虑位置权重的排序质量</a:t>
            </a:r>
            <a:br/>
            <a:r>
              <a:t>→ 反映推荐排序质量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57200" cy="457200"/>
          </a:xfrm>
          <a:prstGeom prst="round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0F0"/>
                </a:solidFill>
                <a:latin typeface="Source Han Serif SC"/>
              </a:defRPr>
            </a:pPr>
            <a:r>
              <a:t>结论与展望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972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22/22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6858000" cy="27432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384F"/>
                </a:solidFill>
                <a:latin typeface="Source Han Serif SC"/>
              </a:defRPr>
            </a:pPr>
            <a:r>
              <a:t>研究结论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构建了基于CRS推荐与AI数字人的非遗文化传播微信小程序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AI数字人黑塔通过ASK追问逐步构建用户偏好画像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从冷启动到精准推荐只需3-4轮交互即可收敛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本地知识优先+大模型回退策略兼顾知识准确性与语义理解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ASK-REC决策引擎执行三阶段置信度收敛机制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知识图谱实现实体偏好映射和推荐解释生成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E8384F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系统性能满足中小规模使用场景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188720"/>
            <a:ext cx="3931920" cy="5029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207008"/>
            <a:ext cx="393192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9A96E"/>
                </a:solidFill>
                <a:latin typeface="Source Han Serif SC"/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8288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C9A96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加入更细致的知识图谱推理能力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C9A96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同线下非遗场馆深度对接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C9A96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支持多模态交互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C9A96E"/>
                </a:solidFill>
                <a:latin typeface="Source Han Sans SC"/>
              </a:rPr>
              <a:t>▸ </a:t>
            </a:r>
            <a:r>
              <a:rPr sz="1300">
                <a:solidFill>
                  <a:srgbClr val="F0F0F0"/>
                </a:solidFill>
                <a:latin typeface="Source Han Sans SC"/>
              </a:rPr>
              <a:t>大语言模型技术发展推动对话更自然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13716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850392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0F0F0"/>
                </a:solidFill>
                <a:latin typeface="Source Han Serif SC"/>
              </a:defRPr>
            </a:pPr>
            <a:r>
              <a:t>感谢各位老师的指导与评审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291840"/>
            <a:ext cx="8503920" cy="1371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A96E"/>
                </a:solidFill>
                <a:latin typeface="Source Han Serif SC"/>
              </a:defRPr>
            </a:pPr>
            <a:r>
              <a:t>恳请各位老师批评指正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0"/>
                </a:solidFill>
                <a:latin typeface="Source Han Sans SC"/>
              </a:defRPr>
            </a:pPr>
            <a:r>
              <a:t>答辩人：王子轩    指导教师：徐龙琴 教授  高静 高级工程师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120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仲恺农业工程学院  信息科学与技术学院  2026.05.09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