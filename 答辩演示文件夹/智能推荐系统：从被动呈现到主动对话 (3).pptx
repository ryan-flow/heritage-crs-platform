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分享一项关于智能推荐系统的研究，主题是“从被动呈现到主动对话”。我们将探讨如何利用对话式推荐系统（CRS）这一新技术范式，来创新非物质文化遗产的数字化传播方式。这项研究旨在解决传统推荐系统在文化领域面临的挑战，并为用户提供更个性化、更具沉浸感的文化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五个部分。首先，我们将从引言开始，探讨推荐系统在当今信息过载时代的价值与挑战。接着，将重点介绍对话式推荐系统（CRS）这一新范式。第三部分会深入解析我们设计的CRS系统的核心技术。第四部分将展示系统的具体实现和功能。最后，对整个研究进行总结并展望未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我们来看第一部分，引言。在这个信息过载的时代，推荐系统扮演着至关重要的角色，它就像一个指南针，帮助我们在海量信息中找到方向。它不仅提升了用户体验，也创造了巨大的商业价值。然而，传统的推荐系统也面临着诸多挑战，比如数据稀疏、冷启动、缺乏可解释性等问题，这些问题在非遗文化这类新兴领域尤为突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研究背景聚焦于非遗文化的数字化转型。当前，非遗传播呈现出短视频化、资源数字化和主体社区化三大趋势，发展迅速。然而，一个核心痛点是，现有的数字平台大多只是单向地展示信息，缺乏与用户的个性化互动，这正是我们研究希望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进入第二部分，介绍我们提出的解决方案——对话式推荐系统，即CRS。CRS的核心思想是变被动为主动，通过与用户对话来探索他们的潜在兴趣。这种方式能够有效解决传统推荐系统的冷启动、数据稀疏等痛点，让推荐过程更具交互性和个性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CRS在非遗文化传播中有什么独特的价值呢？非遗内容往往比较深奥，用户兴趣也比较隐藏。CRS正好可以发挥其优势，通过引导式的对话，帮助用户从零开始了解非遗；通过个性化的推荐，满足不同用户的探索需求；最终通过互动，提升用户的参与感和沉浸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三部分，深入解析CRS系统的核心技术。首先是系统的整体架构。我们采用了经典的前后端分离架构，前端是用户熟悉的微信小程序，后端由FastAPI提供支持。核心能力层整合了AI、推荐和知识图谱等关键服务，共同构成了一个高效的推荐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关键技术是我们设计的三维置信度模型。它综合考虑了用户的显式反馈、隐式行为和对话内容，来判断系统对用户的了解程度。基于这个模型，我们构建了一个ASK-REC状态机，它像一个导航仪，决定了系统在不同阶段是应该提问还是直接推荐，从而实现了对话流程的智能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推荐引擎方面，我们设计了一个轻量级的混合推荐框架。它能够融合来自不同渠道的多源信号来构建用户画像，并同时对内容、活动和讨论话题三类对象进行排序。这种设计不仅适应了非遗领域数据稀疏的现状，还为用户提供了从了解到参与再到交流的完整体验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推荐更智能、更可信，我们引入了知识图谱。它主要有两个作用：一是通过关联实体来扩充推荐候选，增加推荐的多样性；二是将知识图谱中的关系转化为自然语言，作为推荐理由，大大增强了推荐的可解释性，让用户明白为什么会得到某个推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第四部分，我们来看看系统的实际实现。我们设计了一个名为“黑塔”的AI数字人作为交互入口。它不仅是一个聊天机器人，更是一位专业的非遗导览官。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我们对它的角色进行了清晰的定位：它既是知识的传授者，也是个性化内容的推荐引导者，同时在对话中默默采集用户偏好，并最终触发非遗文化传播的闭环。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为了保证回答的准确性和安全性，我们采用了“本地知识优先”的三级回退回答策略，先从我们的非遗知识库中检索，不足时再结合联网搜索和大模型生成。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对话页的设计上，我们构建了清晰的三层信息架构：任务主线层负责核心交互，推荐结果层提供内容价值，解释层则展示系统的思考过程，确保系统不仅好用，而且“透明”可解释。大家可以看到右边的截图，这就是用户与“黑塔”实际交互的界面，兼顾了美观与实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核心的对话功能，我们的小程序还包含了一系列完整的功能模块。比如，个性化的首页推荐、引导用户参与的活动和社区模块，以及让用户自主管理偏好的用户中心。这些功能共同构成了一个完整的用户服务闭环，提升了用户的整体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详细解析CRS算法的核心机制。首先是三维置信度模型，它通过综合用户的显式偏好、隐式行为和对话内容，来量化评估系统对用户的了解程度。基于这个置信度，我们设计了ASK-REC状态机，它像一个智能导航仪，根据对用户的了解程度，动态决定是应该继续提问来探索兴趣，还是直接给出精准的推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本次研究的成果。我们成功地将CRS技术应用于非遗文化传播领域，提出了新的应用范式。我们构建的多信号融合推荐模型有效解决了数据稀疏问题。我们设计的“约束生成式”AI导览技术路线，保证了信息的准确性。最终，我们形成了一个一体化的服务闭环，有效提升了非遗传播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认为还有很多可以探索的方向。例如，引入多模态信息，让对话更生动；利用强化学习让系统自主优化对话策略；构建更深度的知识图谱以支持更复杂的推理；以及将系统部署到更多平台，服务更广泛的用户。这些都将是我们下一步的研究重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4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jpe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48.jpe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6.svg" Type="http://schemas.openxmlformats.org/officeDocument/2006/relationships/image"/><Relationship Id="rId11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8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从被动呈现到主动对话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CRS 的非遗文化传播实践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715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汇报人：王子轩 · 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true" i="false" strike="noStrike" u="none" sz="24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54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810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引言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信息过载时代的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“指南针”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972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97200" y="254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97200" y="3810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对话式推荐系统(CRS)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推荐技术的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新范式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324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32400" y="254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32400" y="3810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CRS的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实现机制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4676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67600" y="254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467600" y="3810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系统实现与展示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AI数字人“黑塔”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的实践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7028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702800" y="254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702800" y="3810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研究成果与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未来方向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711200"/>
            <a:ext cx="203200" cy="203200"/>
          </a:xfrm>
          <a:prstGeom prst="ellipse">
            <a:avLst/>
          </a:prstGeom>
          <a:solidFill>
            <a:srgbClr val="8DB3B5">
              <a:alpha val="80000"/>
            </a:srgbClr>
          </a:solidFill>
          <a:ln cmpd="sng" cap="flat">
            <a:solidFill>
              <a:srgbClr val="6A999C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01 引言：信息过载时代的“指南针”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推荐系统的时代价值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在信息爆炸的今天，推荐系统如同一位智能的“指南针”，在信息的海洋中为用户精准导航，连接人与信息的桥梁。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83000"/>
            <a:ext cx="2222500" cy="2159000"/>
          </a:xfrm>
          <a:prstGeom prst="roundRect">
            <a:avLst>
              <a:gd name="adj" fmla="val 4705"/>
            </a:avLst>
          </a:prstGeom>
          <a:solidFill>
            <a:srgbClr val="FAF8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38735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848100"/>
            <a:ext cx="165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68400" y="4445000"/>
            <a:ext cx="190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解决海量信息过载难题，大幅提升用户获取有效信息的效率，优化使用体验。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92500" y="3683000"/>
            <a:ext cx="2222500" cy="2159000"/>
          </a:xfrm>
          <a:prstGeom prst="roundRect">
            <a:avLst>
              <a:gd name="adj" fmla="val 4705"/>
            </a:avLst>
          </a:prstGeom>
          <a:solidFill>
            <a:srgbClr val="FAF8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44900" y="3873500"/>
            <a:ext cx="279400" cy="279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000500" y="3848100"/>
            <a:ext cx="165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商业影响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44900" y="4445000"/>
            <a:ext cx="1905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电商、内容平台等领域的核心增长引擎。大型电商平台超</a:t>
            </a:r>
            <a:r>
              <a:rPr lang="en-US" b="true" i="false" strike="noStrike" u="none" sz="1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30%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销售额由推荐系统贡献，显著提升用户粘性与转化。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922000" y="1397000"/>
            <a:ext cx="762000" cy="254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传统推荐系统面临的挑战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413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477000" y="2794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58000" y="27686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数据稀疏性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小基数、行为数据少的场景（如非遗）效果受限。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953500" y="2794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334500" y="27686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冷启动问题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缺乏足够信息，无法对新用户或新物品有效推荐。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858000" y="39116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可解释性缺失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推荐过程如同“黑盒”，难以获得用户信任。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953500" y="39370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334500" y="3911600"/>
            <a:ext cx="1968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忽略上下文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未能充分考量时间、地点、场景等动态变化。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477000" y="50800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858000" y="5054600"/>
            <a:ext cx="4445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假设用户明确偏好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难以适配用户偏好模糊、处于探索阶段的场景。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176000" y="1778000"/>
            <a:ext cx="762000" cy="762000"/>
          </a:xfrm>
          <a:prstGeom prst="ellipse">
            <a:avLst/>
          </a:prstGeom>
          <a:solidFill>
            <a:srgbClr val="D1FAE5">
              <a:alpha val="60000"/>
            </a:srgbClr>
          </a:solidFill>
          <a:ln cmpd="sng" cap="flat">
            <a:solidFill>
              <a:srgbClr val="A5E1C2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1303000" y="5715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08000" y="6096000"/>
            <a:ext cx="381000" cy="381000"/>
          </a:xfrm>
          <a:prstGeom prst="roundRect">
            <a:avLst>
              <a:gd name="adj" fmla="val 33333"/>
            </a:avLst>
          </a:prstGeom>
          <a:solidFill>
            <a:srgbClr val="8DB3B5">
              <a:alpha val="30000"/>
            </a:srgbClr>
          </a:solidFill>
          <a:ln cmpd="sng" cap="flat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1684000" y="5740400"/>
            <a:ext cx="101600" cy="101600"/>
          </a:xfrm>
          <a:prstGeom prst="ellipse">
            <a:avLst/>
          </a:prstGeom>
          <a:solidFill>
            <a:srgbClr val="C0A062">
              <a:alpha val="100000"/>
            </a:srgbClr>
          </a:solidFill>
          <a:ln cmpd="sng" cap="flat">
            <a:solidFill>
              <a:srgbClr val="A7854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60000"/>
            </a:srgbClr>
          </a:solidFill>
          <a:ln cmpd="sng" cap="flat">
            <a:solidFill>
              <a:srgbClr val="6A999C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引言：非遗文化传播的数字化转型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0066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传播形式短视频化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以抖音为代表的短视频平台成为非遗传播主阵地。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截至2025年12月，抖音国家级非遗相关视频累计获赞超</a:t>
            </a:r>
            <a:r>
              <a:rPr lang="en-US" b="true" i="false" strike="noStrike" u="none" sz="13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138亿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次。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334000" y="20066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文化资源数字化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将非遗资源转化为数字形式，成为动画、游戏、设计等领域的创意源泉，让古老技艺焕发新生。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57200" cy="457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017000" y="20066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传播主体社区化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2794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传播主体从单一传承人扩展到广大爱好者社群，形成兴趣驱动、活跃互动的线上非遗社区。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826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323232">
              <a:alpha val="100000"/>
            </a:srgbClr>
          </a:solidFill>
          <a:ln w="12700" cmpd="sng" cap="flat">
            <a:solidFill>
              <a:srgbClr val="C0A062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5270500"/>
            <a:ext cx="609600" cy="609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2159000" y="50800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现有平台的困境：单向展示与交互缺失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目前大多数非遗数字平台仍停留于“博物馆式”的单向信息展示阶段，缺乏个性化推荐服务和深度的智能交互手段，难以满足用户对非遗技艺进行深度探索、沉浸式体验及个性化学习的进阶需求。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1557000" y="2032000"/>
            <a:ext cx="381000" cy="1524000"/>
          </a:xfrm>
          <a:prstGeom prst="roundRect">
            <a:avLst>
              <a:gd name="adj" fmla="val 33333"/>
            </a:avLst>
          </a:prstGeom>
          <a:solidFill>
            <a:srgbClr val="8DB3B5">
              <a:alpha val="50000"/>
            </a:srgbClr>
          </a:solidFill>
          <a:ln cmpd="sng" cap="flat">
            <a:solidFill>
              <a:srgbClr val="6A999C">
                <a:alpha val="5000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658600" y="3810000"/>
            <a:ext cx="50800" cy="762000"/>
          </a:xfrm>
          <a:prstGeom prst="roundRect">
            <a:avLst>
              <a:gd name="adj" fmla="val 0"/>
            </a:avLst>
          </a:prstGeom>
          <a:solidFill>
            <a:srgbClr val="C0A062">
              <a:alpha val="80000"/>
            </a:srgbClr>
          </a:solidFill>
          <a:ln cmpd="sng" cap="flat">
            <a:solidFill>
              <a:srgbClr val="A78544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350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80000"/>
            </a:srgbClr>
          </a:solidFill>
          <a:ln cmpd="sng" cap="flat">
            <a:solidFill>
              <a:srgbClr val="A78544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02 对话式推荐系统（CRS）：推荐技术的新范式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什么是对话式推荐系统 (CRS)？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对话式推荐系统 (Conversational Recommendation System, CRS) 是推荐系统与对话系统的交叉领域。它摒弃了传统推荐“一次性输出”的模式，转而通过与用户进行多轮自然语言对话，主动、动态地探索和澄清用户的潜在偏好。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191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C0A06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4343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核心思想：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将推荐过程从“用户找内容”转变为“系统引导用户发现内容”。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207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C0A062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53594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🗣️ 交互范式：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以“系统提问-用户回答” (SAUR) 为核心，通过对话逐步消除信息不对称。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0" y="4826000"/>
            <a:ext cx="1524000" cy="1524000"/>
          </a:xfrm>
          <a:prstGeom prst="ellipse">
            <a:avLst/>
          </a:prstGeom>
          <a:solidFill>
            <a:srgbClr val="10B981">
              <a:alpha val="8000"/>
            </a:srgbClr>
          </a:solidFill>
          <a:ln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922000" y="1524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mpd="sng" cap="flat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CRS 如何解决传统推荐的痛点？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794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604000" y="2946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解决冷启动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429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通过主动提问，无需历史数据即可快速获取并锁定用户的初始兴趣。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0" y="2794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017000" y="29464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398000" y="2921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应对数据稀疏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17000" y="3429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对话交互是高质量的显式反馈，有效弥补了隐式行为数据的稀疏问题。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572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04000" y="47244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4699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增强可解释性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5207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将推荐理由自然融入对话过程，提升用户对推荐结果的信任度与接受度。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890000" y="4572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17000" y="47244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9398000" y="4699000"/>
            <a:ext cx="165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感知动态偏好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17000" y="5207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在实时的多轮交互中捕捉用户即时的兴趣变化，实现偏好的动态追踪。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176000" y="508000"/>
            <a:ext cx="762000" cy="762000"/>
          </a:xfrm>
          <a:prstGeom prst="ellipse">
            <a:avLst/>
          </a:prstGeom>
          <a:solidFill>
            <a:srgbClr val="8DB3B5">
              <a:alpha val="15000"/>
            </a:srgbClr>
          </a:solidFill>
          <a:ln cmpd="sng" cap="flat">
            <a:solidFill>
              <a:srgbClr val="6A999C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622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mpd="sng" cap="flat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1303000" y="5842000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8DB3B5">
              <a:alpha val="10000"/>
            </a:srgbClr>
          </a:solidFill>
          <a:ln cmpd="sng" cap="flat">
            <a:solidFill>
              <a:srgbClr val="6A999C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698500"/>
            <a:ext cx="203200" cy="203200"/>
          </a:xfrm>
          <a:prstGeom prst="ellipse">
            <a:avLst/>
          </a:prstGeom>
          <a:solidFill>
            <a:srgbClr val="8DB3B5">
              <a:alpha val="80000"/>
            </a:srgbClr>
          </a:solidFill>
          <a:ln cmpd="sng" cap="flat">
            <a:solidFill>
              <a:srgbClr val="6A999C">
                <a:alpha val="8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CRS在非遗文化传播中的应用价值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非遗内容具有文化语义丰富、用户认知门槛高、兴趣偏好隐含等特点，而CRS凭借其交互性与智能性，恰好能有效解决这些痛点，成为连接非遗与大众的桥梁。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3048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778000" y="30734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引导式学习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对于不了解非遗的用户，CRS可以像一位专业的导览员，通过层层递进的提问，引导用户从感兴趣的维度——如地域特色、制作工艺、历史典故切入，将晦涩的非遗知识拆解为通俗有趣的探索路径。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49800" y="30480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461000" y="30734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个性化探索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93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系统可基于用户的回答，精准推荐相关非遗项目、技艺细节、传承人的真实故事，甚至匹配附近的线下体验馆或工坊，真正实现“千人千面”的非遗文化导览体验。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3048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144000" y="30734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提升参与感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937000"/>
            <a:ext cx="2794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打破单向的信息灌输模式，对话式交互让用户从被动的“看客”转变为主动的探索者与参与者，在一问一答中加深对非遗文化的理解，极大地提升了用户的沉浸感和情感连接。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28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A062">
              <a:alpha val="40000"/>
            </a:srgbClr>
          </a:solidFill>
          <a:ln cmpd="sng" cap="flat">
            <a:solidFill>
              <a:srgbClr val="A7854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303000" y="1016000"/>
            <a:ext cx="1016000" cy="1016000"/>
          </a:xfrm>
          <a:prstGeom prst="ellipse">
            <a:avLst/>
          </a:prstGeom>
          <a:solidFill>
            <a:srgbClr val="8DB3B5">
              <a:alpha val="30000"/>
            </a:srgbClr>
          </a:solidFill>
          <a:ln cmpd="sng" cap="flat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557000" y="2413000"/>
            <a:ext cx="50800" cy="762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cmpd="sng" cap="flat">
            <a:solidFill>
              <a:srgbClr val="A7854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核心技术解析：系统整体架构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33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系统采用前后端分离架构，以微信小程序为前端，FastAPI为后端，核心能力层集成了AI服务、推荐服务、知识图谱等模块，形成一个从交互到推荐再到反馈的完整闭环。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940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 | Frontend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微信小程序端（AI对话页、内容浏览页、个人中心等），提供流畅用户体验。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735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735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005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接口服务层 | Interface Layer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基于FastAPI构建，提供高性能、标准化的RESTful API接口，负责前后端通信与鉴权。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9530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9530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5080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核心能力层 | Core Capabilities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集成AI大模型推理、个性化推荐算法及行业知识图谱，是系统的“大脑”。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0" r="0" t="1202" b="1202"/>
          <a:stretch>
            <a:fillRect/>
          </a:stretch>
        </p:blipFill>
        <p:spPr>
          <a:xfrm rot="0" flipH="false" flipV="false">
            <a:off x="6477000" y="2032000"/>
            <a:ext cx="4953000" cy="3937000"/>
          </a:xfrm>
          <a:prstGeom prst="roundRect">
            <a:avLst>
              <a:gd name="adj" fmla="val 3870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477000" y="6096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图：系统分层架构与技术栈概览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922000" y="508000"/>
            <a:ext cx="762000" cy="762000"/>
          </a:xfrm>
          <a:prstGeom prst="ellipse">
            <a:avLst/>
          </a:prstGeom>
          <a:solidFill>
            <a:srgbClr val="8DB3B5">
              <a:alpha val="30000"/>
            </a:srgbClr>
          </a:solidFill>
          <a:ln cmpd="sng" cap="flat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969000"/>
            <a:ext cx="508000" cy="508000"/>
          </a:xfrm>
          <a:prstGeom prst="roundRect">
            <a:avLst>
              <a:gd name="adj" fmla="val 0"/>
            </a:avLst>
          </a:prstGeom>
          <a:solidFill>
            <a:srgbClr val="C0A062">
              <a:alpha val="20000"/>
            </a:srgbClr>
          </a:solidFill>
          <a:ln cmpd="sng" cap="flat">
            <a:solidFill>
              <a:srgbClr val="A7854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核心技术解析：三维置信度模型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0E0E0">
                <a:alpha val="5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803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三维置信度模型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667000"/>
            <a:ext cx="4572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为平衡提问与推荐时机，综合评估对用户偏好的理解程度：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C = 0.40×Se + 0.35×Si + 0.25×Sd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Se：显式偏好 (主动设置标签)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Si：隐式行为 (浏览/点击/停留)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Sd：对话线索 (历史对话上下文)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0E0E0">
                <a:alpha val="5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0" r="0" t="22306" b="22306"/>
          <a:stretch>
            <a:fillRect/>
          </a:stretch>
        </p:blipFill>
        <p:spPr>
          <a:xfrm rot="0" flipH="false" flipV="false">
            <a:off x="7556500" y="2032000"/>
            <a:ext cx="2540000" cy="2540000"/>
          </a:xfrm>
          <a:prstGeom prst="rect">
            <a:avLst/>
          </a:prstGeom>
          <a:noFill/>
          <a:ln w="12700" cmpd="sng" cap="flat">
            <a:solidFill>
              <a:srgbClr val="C0A062">
                <a:alpha val="60000"/>
              </a:srgbClr>
            </a:solidFill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540500" y="48260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决策流程可视化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基于实时置信度动态切换状态，确保交互策略最优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0" y="635000"/>
            <a:ext cx="762000" cy="76200"/>
          </a:xfrm>
          <a:prstGeom prst="roundRect">
            <a:avLst>
              <a:gd name="adj" fmla="val 0"/>
            </a:avLst>
          </a:prstGeom>
          <a:solidFill>
            <a:srgbClr val="8DB3B5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096000"/>
            <a:ext cx="76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79500" y="2413000"/>
            <a:ext cx="4572000" cy="25400"/>
          </a:xfrm>
          <a:prstGeom prst="roundRect">
            <a:avLst>
              <a:gd name="adj" fmla="val 0"/>
            </a:avLst>
          </a:prstGeom>
          <a:solidFill>
            <a:srgbClr val="8DB3B5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4572000"/>
            <a:ext cx="4572000" cy="25400"/>
          </a:xfrm>
          <a:prstGeom prst="roundRect">
            <a:avLst>
              <a:gd name="adj" fmla="val 0"/>
            </a:avLst>
          </a:prstGeom>
          <a:solidFill>
            <a:srgbClr val="8DB3B5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核心技术解析：</a:t>
            </a: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轻量混合推荐引擎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58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系统采用“多源信号融合+规则加权排序”的轻量级推荐框架，能够有效应对非遗领域数据稀疏的特点，精准匹配用户与内容。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565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用户画像构建 · Multi-Signal Fusion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融合显式偏好、隐式行为、对话线索及知识图谱关联，构建多维度、动态更新的用户画像。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8100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39624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三路推荐对象 · 完整行动路径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同时对</a:t>
            </a:r>
            <a:r>
              <a:rPr lang="en-US" b="true" i="false" strike="noStrike" u="none" sz="1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内容、活动、讨论话题</a:t>
            </a: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三类对象进行评分排序，为用户提供“了解 → 参与 → 交流”的闭环体验。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207000"/>
            <a:ext cx="55880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4864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5359400"/>
            <a:ext cx="4318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统一排序公式 · 动态加权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Score =</a:t>
            </a:r>
            <a:r>
              <a:rPr lang="en-US" b="tru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w1·Match</a:t>
            </a: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en-US" b="tru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w2·Scene</a:t>
            </a: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r>
              <a:rPr lang="en-US" b="tru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w3·Freshness</a:t>
            </a: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en-US" b="tru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w4·Penalty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(Match:语义匹配 | Scene:场景增益 | Freshness:内容新鲜度 | Penalty:已读惩罚)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0" r="0" t="20975" b="20975"/>
          <a:stretch>
            <a:fillRect/>
          </a:stretch>
        </p:blipFill>
        <p:spPr>
          <a:xfrm rot="0" flipH="false" flipV="false">
            <a:off x="6731000" y="2159000"/>
            <a:ext cx="4699000" cy="4064000"/>
          </a:xfrm>
          <a:prstGeom prst="rect">
            <a:avLst/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635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图：混合推荐算法逻辑流程示意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922000" y="-254000"/>
            <a:ext cx="1524000" cy="1524000"/>
          </a:xfrm>
          <a:prstGeom prst="ellipse">
            <a:avLst/>
          </a:prstGeom>
          <a:solidFill>
            <a:srgbClr val="8DB3B5">
              <a:alpha val="15000"/>
            </a:srgbClr>
          </a:solidFill>
          <a:ln cmpd="sng" cap="flat">
            <a:solidFill>
              <a:srgbClr val="6A999C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6477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mpd="sng" cap="flat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核心技术解析：知识图谱增强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知识图谱在系统中扮演着“增强器”的角色，让推荐更“有理有据”。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2413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387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候选扩充 · Candidate Expansion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922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当用户提到某个非遗实体（如“昆曲”），系统会通过知识图谱查找相关实体（如“京剧”、“越剧”），扩展推荐候选集，打破信息茧房，显著增加推荐内容的多样性与覆盖面。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44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92200" y="4699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651000" y="4673600"/>
            <a:ext cx="419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解释增强 · Explainability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92200" y="5397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将知识图谱中的结构化路径（如“昆曲 → 属于 → 戏曲”）转化为自然语言推荐理由，清晰回答“为什么推荐”，显著提升用户对推荐结果的信任感与接受度。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30805" b="30805"/>
          <a:stretch>
            <a:fillRect/>
          </a:stretch>
        </p:blipFill>
        <p:spPr>
          <a:xfrm rot="0" flipH="false" flipV="false">
            <a:off x="6477000" y="2159000"/>
            <a:ext cx="4953000" cy="4318000"/>
          </a:xfrm>
          <a:prstGeom prst="rect">
            <a:avLst/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10922000" y="381000"/>
            <a:ext cx="762000" cy="762000"/>
          </a:xfrm>
          <a:prstGeom prst="ellipse">
            <a:avLst/>
          </a:prstGeom>
          <a:solidFill>
            <a:srgbClr val="8DB3B5">
              <a:alpha val="20000"/>
            </a:srgbClr>
          </a:solidFill>
          <a:ln cmpd="sng" cap="flat">
            <a:solidFill>
              <a:srgbClr val="6A999C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622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cmpd="sng" cap="flat">
            <a:solidFill>
              <a:srgbClr val="A7854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系统实现：</a:t>
            </a: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AI数字人“黑塔”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“黑塔”不仅是一个聊天机器人，更是系统的核心交互入口与专门为非遗传播设计的AI数字人导览官，旨在打破信息壁垒，提供沉浸式文化体验。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0100" y="2540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794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730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角色定位 Role Positioning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知识传授者 · 推荐引导者 · 偏好采集者 · 闭环触发者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91795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23900" y="391795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4318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4254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AI回答链路 Response Strategy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采用“本地知识优先”三级回退策略：本地知识库 → 联网搜索 → 大模型生成，保障内容准确与安全。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33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55880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54864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对话页设计 UI/UX Design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层次分明：任务主线层(对话)、推荐结果层、解释层(调试)，兼顾体验与可解释性。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413000"/>
            <a:ext cx="4953000" cy="4127500"/>
          </a:xfrm>
          <a:prstGeom prst="roundRect">
            <a:avLst>
              <a:gd name="adj" fmla="val 3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36598" b="36598"/>
          <a:stretch>
            <a:fillRect/>
          </a:stretch>
        </p:blipFill>
        <p:spPr>
          <a:xfrm rot="0" flipH="false" flipV="false">
            <a:off x="6667500" y="2603500"/>
            <a:ext cx="4572000" cy="3746500"/>
          </a:xfrm>
          <a:prstGeom prst="roundRect">
            <a:avLst>
              <a:gd name="adj" fmla="val 271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965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0" y="5588000"/>
            <a:ext cx="762000" cy="76200"/>
          </a:xfrm>
          <a:prstGeom prst="roundRect">
            <a:avLst>
              <a:gd name="adj" fmla="val 266666"/>
            </a:avLst>
          </a:prstGeom>
          <a:solidFill>
            <a:srgbClr val="C0A062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" y="2413000"/>
            <a:ext cx="25400" cy="381000"/>
          </a:xfrm>
          <a:prstGeom prst="roundRect">
            <a:avLst>
              <a:gd name="adj" fmla="val 0"/>
            </a:avLst>
          </a:prstGeom>
          <a:solidFill>
            <a:srgbClr val="8DB3B5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04 系统实现：</a:t>
            </a: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核心功能模块展示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18453" b="18453"/>
          <a:stretch>
            <a:fillRect/>
          </a:stretch>
        </p:blipFill>
        <p:spPr>
          <a:xfrm rot="0" flipH="false" flipV="false">
            <a:off x="762000" y="1778000"/>
            <a:ext cx="3048000" cy="4318000"/>
          </a:xfrm>
          <a:prstGeom prst="rect">
            <a:avLst/>
          </a:prstGeom>
          <a:noFill/>
          <a:ln w="508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4318000" y="1778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52070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首页与个性化推荐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2794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首页根据用户画像展示精选推荐和今日推荐内容，精准匹配用户的兴趣与需求。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0" y="1778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9017000" y="2032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AI对话与CRS流程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382000" y="2794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用户与“黑塔”智能对话，系统动态调整CRS状态，从冷启动逐步生成个性化推荐卡片。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4191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572000" y="444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207000" y="4445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活动参与与社区互动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520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推荐不仅限于线上内容，更涵盖线下活动和社区讨论，形成线上线下联动的完整服务闭环。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4191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82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017000" y="44450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用户中心与偏好管理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5207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用户可主动设置和管理兴趣偏好，为推荐系统提供直接的反馈机制，不断优化体验。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414000" y="635000"/>
            <a:ext cx="762000" cy="76200"/>
          </a:xfrm>
          <a:prstGeom prst="roundRect">
            <a:avLst>
              <a:gd name="adj" fmla="val 33333"/>
            </a:avLst>
          </a:prstGeom>
          <a:solidFill>
            <a:srgbClr val="8DB3B5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" y="5842000"/>
            <a:ext cx="76200" cy="508000"/>
          </a:xfrm>
          <a:prstGeom prst="roundRect">
            <a:avLst>
              <a:gd name="adj" fmla="val 33333"/>
            </a:avLst>
          </a:prstGeom>
          <a:solidFill>
            <a:srgbClr val="C0A06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508000" cy="76200"/>
          </a:xfrm>
          <a:prstGeom prst="roundRect">
            <a:avLst>
              <a:gd name="adj" fmla="val 0"/>
            </a:avLst>
          </a:prstGeom>
          <a:solidFill>
            <a:srgbClr val="8DB3B5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核心技术解析：CRS算法详解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2F7F7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核心机制一：三维置信度模型 (3D Confidence Model)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综合置信度（C）由三个维度的得分加权计算得出，是量化系统对用户兴趣理解程度的核心指标，也是后续推荐策略的决策依据。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139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显式偏好 (Se)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用户主动设置的偏好标签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或对提问的明确回答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67000" y="3683000"/>
            <a:ext cx="139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隐式行为 (Si)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浏览、点击、报名等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全链路行为反馈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3683000"/>
            <a:ext cx="139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对话线索 (Sd)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从自然语言对话中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提取的潜在兴趣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080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C0A062">
              <a:alpha val="10000"/>
            </a:srgbClr>
          </a:solidFill>
          <a:ln w="12700" cmpd="sng" cap="flat">
            <a:solidFill>
              <a:srgbClr val="C0A062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52705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86E14"/>
                </a:solidFill>
                <a:latin typeface="Noto Sans SC"/>
                <a:ea typeface="Noto Sans SC"/>
                <a:cs typeface="Noto Sans SC"/>
                <a:sym typeface="Noto Sans SC"/>
              </a:rPr>
              <a:t>C = 0.40 × Se + 0.35 × Si + 0.25 × Sd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2F7F7">
              <a:alpha val="98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核心机制二：ASK-REC 状态机 (State Machine)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2667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基于实时计算的综合置信度(C)，系统在“主动询问”与“直接推荐”间智能切换，以平衡探索与利用。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556000"/>
            <a:ext cx="1460500" cy="1270000"/>
          </a:xfrm>
          <a:prstGeom prst="roundRect">
            <a:avLst>
              <a:gd name="adj" fmla="val 6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3683000"/>
            <a:ext cx="1333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冷启动模式 (C低)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优先执行 ASK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快速获取高价值信息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02600" y="3556000"/>
            <a:ext cx="1460500" cy="1270000"/>
          </a:xfrm>
          <a:prstGeom prst="roundRect">
            <a:avLst>
              <a:gd name="adj" fmla="val 6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66100" y="3683000"/>
            <a:ext cx="1333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混合模式 (C中)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ASK 与 REC 并行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边推荐边动态优化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15500" y="3556000"/>
            <a:ext cx="1460500" cy="1270000"/>
          </a:xfrm>
          <a:prstGeom prst="roundRect">
            <a:avLst>
              <a:gd name="adj" fmla="val 60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779000" y="3683000"/>
            <a:ext cx="1333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精准模式 (C高)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优先执行 REC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输出高匹配个性化推荐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5080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200">
                <a:solidFill>
                  <a:srgbClr val="8C8C8C"/>
                </a:solidFill>
                <a:latin typeface="Noto Sans SC"/>
                <a:ea typeface="Noto Sans SC"/>
                <a:cs typeface="Noto Sans SC"/>
                <a:sym typeface="Noto Sans SC"/>
              </a:rPr>
              <a:t>“像一个智能的导游，先了解你想去哪，再带你去看最美的风景”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668000" y="6223000"/>
            <a:ext cx="762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" y="571500"/>
            <a:ext cx="508000" cy="508000"/>
          </a:xfrm>
          <a:prstGeom prst="ellipse">
            <a:avLst/>
          </a:prstGeom>
          <a:solidFill>
            <a:srgbClr val="8DB3B5">
              <a:alpha val="40000"/>
            </a:srgbClr>
          </a:solidFill>
          <a:ln cmpd="sng" cap="flat">
            <a:solidFill>
              <a:srgbClr val="6A999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结论与展望：研究成果总结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101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1968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提出了CRS在文化传承领域的应用范式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通过AI数字人实现了“系统提问-用户回答”的交互模式，创新非遗传播的互动体验。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968500"/>
            <a:ext cx="101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0" y="1968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构建了稀疏数据背景下的多信号融合推荐模型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整合多维度用户行为信号，有效缓解了非遗领域常见的数据稀疏和系统冷启动难题。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508500"/>
            <a:ext cx="101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159000" y="4508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设计了“约束生成式”AI导览技术路线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采用“本地权威知识优先”策略，在保证内容准确性的同时兼顾AI生成技术的灵活性。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508500"/>
            <a:ext cx="101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0" y="4508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形成了“内容-活动-社区”一体化的服务闭环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串联内容消费、互动活动与社区交流场景，显著提升了用户的参与度和非遗文化的传播效率。</a:t>
            </a:r>
          </a:p>
        </p:txBody>
      </p:sp>
      <p:sp>
        <p:nvSpPr>
          <p:cNvPr name="AutoShape 17" id="17"/>
          <p:cNvSpPr/>
          <p:nvPr/>
        </p:nvSpPr>
        <p:spPr>
          <a:xfrm rot="899999" flipH="false" flipV="false">
            <a:off x="11303000" y="2540000"/>
            <a:ext cx="762000" cy="2286000"/>
          </a:xfrm>
          <a:prstGeom prst="ellipse">
            <a:avLst/>
          </a:prstGeom>
          <a:solidFill>
            <a:srgbClr val="A0D2C8">
              <a:alpha val="25000"/>
            </a:srgbClr>
          </a:solidFill>
          <a:ln cmpd="sng" cap="flat">
            <a:solidFill>
              <a:srgbClr val="7AB8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899999" flipH="false" flipV="false">
            <a:off x="11557000" y="431800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mpd="sng" cap="flat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6350000"/>
            <a:ext cx="76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mpd="sng" cap="flat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92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60000"/>
            </a:srgbClr>
          </a:solidFill>
          <a:ln cmpd="sng" cap="flat">
            <a:solidFill>
              <a:srgbClr val="6A999C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381000" y="-381000"/>
            <a:ext cx="1524000" cy="1524000"/>
          </a:xfrm>
          <a:prstGeom prst="ellipse">
            <a:avLst/>
          </a:prstGeom>
          <a:solidFill>
            <a:srgbClr val="8DB3B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true" i="false" strike="noStrike" u="none" sz="32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结论与展望：未来展望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95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203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多模态对话推荐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融合语音、图像、视频等多模态信息，打破纯文本交互的限制，让非遗对话与内容推荐过程更加丰富、生动和直观。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95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03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端到端对话策略学习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引入强化学习等前沿技术，使系统能基于交互反馈自动优化对话策略，更高效地探索用户潜在兴趣，提升推荐的准确率。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66800" y="4635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032000" y="457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更深度的知识图谱融合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持续丰富非遗领域的知识图谱，建立更复杂的关联网络，支持深层逻辑推理，为用户提供更精准、且具解释性的内容推荐。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27800" y="46355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493000" y="4572000"/>
            <a:ext cx="3683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C2C2C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跨平台与场景化部署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打破单一载体限制，将系统能力扩展到移动端APP、网页、小程序等平台，让非遗文化智能服务触达更广泛的受众群体。</a:t>
            </a:r>
          </a:p>
        </p:txBody>
      </p:sp>
      <p:sp>
        <p:nvSpPr>
          <p:cNvPr name="AutoShape 17" id="17"/>
          <p:cNvSpPr/>
          <p:nvPr/>
        </p:nvSpPr>
        <p:spPr>
          <a:xfrm rot="899999" flipH="false" flipV="false">
            <a:off x="11176000" y="1524000"/>
            <a:ext cx="1016000" cy="1016000"/>
          </a:xfrm>
          <a:prstGeom prst="ellipse">
            <a:avLst/>
          </a:prstGeom>
          <a:solidFill>
            <a:srgbClr val="B0E0E6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414000" y="622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303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C0A062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 spc="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334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期待与您携手共创未来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